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55adf03-8bed-2b69-4f24-6e7fbf2bfffc}">
          <p14:sldIdLst>
            <p14:sldId id="256"/>
            <p14:sldId id="257"/>
          </p14:sldIdLst>
        </p14:section>
        <p14:section name="Problem and setup" id="{11c9692e-713b-7ec1-b349-6d12a0364244}">
          <p14:sldIdLst>
            <p14:sldId id="258"/>
            <p14:sldId id="259"/>
            <p14:sldId id="260"/>
          </p14:sldIdLst>
        </p14:section>
        <p14:section name="Checkpoint 1" id="{5c77953d-9d35-a3a9-c47a-3a7d25b5d30b}">
          <p14:sldIdLst>
            <p14:sldId id="261"/>
            <p14:sldId id="262"/>
          </p14:sldIdLst>
        </p14:section>
        <p14:section name="Checkpoint 2" id="{3c827f4b-80ec-4d8c-6d11-462aaf2b7aec}">
          <p14:sldIdLst>
            <p14:sldId id="263"/>
            <p14:sldId id="264"/>
            <p14:sldId id="265"/>
          </p14:sldIdLst>
        </p14:section>
        <p14:section name="Checkpoint 3" id="{30426ebd-2df6-2669-c80f-c7a89d6a6f20}">
          <p14:sldIdLst>
            <p14:sldId id="266"/>
          </p14:sldIdLst>
        </p14:section>
        <p14:section name="Results and analysis" id="{7d382dd6-3991-0eef-b7e1-d11cdc2ab49c}">
          <p14:sldIdLst>
            <p14:sldId id="267"/>
            <p14:sldId id="268"/>
            <p14:sldId id="269"/>
            <p14:sldId id="270"/>
            <p14:sldId id="271"/>
            <p14:sldId id="272"/>
            <p14:sldId id="273"/>
          </p14:sldIdLst>
        </p14:section>
        <p14:section name="Discussion and conclusion" id="{2227a0df-bbca-e340-3e4a-fed118b76e5c}">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181D"/>
                </a:solidFill>
                <a:latin typeface="+mj-lt"/>
              </a:defRPr>
            </a:pPr>
            <a:r>
              <a:rPr sz="1400" b="0" i="0" u="none" strike="noStrike">
                <a:solidFill>
                  <a:srgbClr val="15181D"/>
                </a:solidFill>
                <a:latin typeface="+mj-lt"/>
              </a:rPr>
              <a:t>Measured data rates (GB/s)</a:t>
            </a:r>
          </a:p>
        </c:rich>
      </c:tx>
      <c:layout/>
      <c:overlay val="0"/>
    </c:title>
    <c:autoTitleDeleted val="0"/>
    <c:plotArea>
      <c:layout/>
      <c:barChart>
        <c:barDir val="bar"/>
        <c:grouping val="clustered"/>
        <c:varyColors val="0"/>
        <c:ser>
          <c:idx val="0"/>
          <c:order val="0"/>
          <c:tx>
            <c:strRef>
              <c:f>Sheet1!$B$1</c:f>
              <c:strCache>
                <c:ptCount val="1"/>
                <c:pt idx="0">
                  <c:v>Measured data rate</c:v>
                </c:pt>
              </c:strCache>
            </c:strRef>
          </c:tx>
          <c:spPr>
            <a:solidFill>
              <a:srgbClr val="76B900"/>
            </a:solidFill>
            <a:effectLst/>
          </c:spPr>
          <c:invertIfNegative val="0"/>
          <c:dLbls>
            <c:numFmt formatCode="0.0&quot; GB/s&quot;" sourceLinked="0"/>
            <c:txPr>
              <a:bodyPr/>
              <a:lstStyle/>
              <a:p>
                <a:pPr>
                  <a:defRPr b="0" i="0" strike="noStrike" sz="1200" u="none">
                    <a:solidFill>
                      <a:srgbClr val="15181D"/>
                    </a:solidFill>
                    <a:latin typeface="+mn-lt"/>
                  </a:defRPr>
                </a:pPr>
              </a:p>
            </c:txPr>
            <c:showLegendKey val="0"/>
            <c:showVal val="1"/>
            <c:showCatName val="0"/>
            <c:showSerName val="0"/>
            <c:showPercent val="0"/>
            <c:showBubbleSize val="0"/>
            <c:showLeaderLines val="0"/>
          </c:dLbls>
          <c:dPt>
            <c:idx val="0"/>
            <c:invertIfNegative val="0"/>
            <c:bubble3D val="0"/>
            <c:spPr>
              <a:solidFill>
                <a:srgbClr val="76B900"/>
              </a:solidFill>
              <a:effectLst/>
            </c:spPr>
          </c:dPt>
          <c:dPt>
            <c:idx val="1"/>
            <c:invertIfNegative val="0"/>
            <c:bubble3D val="0"/>
            <c:spPr>
              <a:solidFill>
                <a:srgbClr val="D33A2C"/>
              </a:solidFill>
              <a:effectLst/>
            </c:spPr>
          </c:dPt>
          <c:dPt>
            <c:idx val="2"/>
            <c:invertIfNegative val="0"/>
            <c:bubble3D val="0"/>
            <c:spPr>
              <a:solidFill>
                <a:srgbClr val="E8710A"/>
              </a:solidFill>
              <a:effectLst/>
            </c:spPr>
          </c:dPt>
          <c:cat>
            <c:multiLvlStrRef>
              <c:f>Sheet1!$A$2:$A$4</c:f>
              <c:multiLvlStrCache>
                <c:ptCount val="3"/>
                <c:lvl>
                  <c:pt idx="0">
                    <c:v>GPU memory (kernel)</c:v>
                  </c:pt>
                  <c:pt idx="1">
                    <c:v>One CPU core</c:v>
                  </c:pt>
                  <c:pt idx="2">
                    <c:v>PCIe host ↔ GPU</c:v>
                  </c:pt>
                </c:lvl>
              </c:multiLvlStrCache>
            </c:multiLvlStrRef>
          </c:cat>
          <c:val>
            <c:numRef>
              <c:f>Sheet1!$B$2:$B$4</c:f>
              <c:numCache>
                <c:formatCode>General</c:formatCode>
                <c:ptCount val="3"/>
                <c:pt idx="0">
                  <c:v>258</c:v>
                </c:pt>
                <c:pt idx="1">
                  <c:v>4.8</c:v>
                </c:pt>
                <c:pt idx="2">
                  <c:v>2.6</c:v>
                </c:pt>
              </c:numCache>
            </c:numRef>
          </c:val>
        </c:ser>
        <c:dLbls>
          <c:numFmt formatCode="0.0&quot; GB/s&quot;" sourceLinked="0"/>
          <c:txPr>
            <a:bodyPr/>
            <a:lstStyle/>
            <a:p>
              <a:pPr>
                <a:defRPr b="0" i="0" strike="noStrike" sz="1200" u="none">
                  <a:solidFill>
                    <a:srgbClr val="1518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D333B"/>
                </a:solidFill>
                <a:latin typeface="+mn-lt"/>
              </a:defRPr>
            </a:pPr>
            <a:endParaRPr lang="en-US"/>
          </a:p>
        </c:txPr>
        <c:crossAx val="2094734552"/>
        <c:crosses val="autoZero"/>
        <c:auto val="1"/>
        <c:lblAlgn val="ctr"/>
        <c:noMultiLvlLbl val="1"/>
      </c:catAx>
      <c:valAx>
        <c:axId val="2094734552"/>
        <c:scaling>
          <c:orientation val="minMax"/>
          <c:max val="32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Introduce the team and the theme: Theme 7, vector addition and multiplication with CUDA threads, compared against the CPU. The grid of squares on the right is our launch: one square per thread block; the outlined squares at the end are the extra threads that the idx &lt; n guard switches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Same binary, same GPU, same data. If we time only the kernel the GPU is about 54 times faster; if we time what a user waits for, including the copies, the GPU is almost two times slower. Everything that follows explains this gap. Numbers: README Sections 9.1 and 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definition. C = A + B and C = A x B, element by element, in single precision. Because each element is independent, the problem is embarrassingly parallel. We fill A with 1 and B with 2 so that the correct answers are known exactly: 3.00 and 2.00. These three questions structure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Screenshot 01 is the first cell of our notebook: nvidia-smi shows the Tesla T4 with driver 580.82.07, nvcc is CUDA 13.0, gcc is 13.3.0. The four green cards are datasheet values which we use later in the roofline and bandwidth analysis. The GPU was idle in power state P8 before the run, which is why we added a warm-up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We did not build anything outside the notebook. Cells were run strictly in order: verify the GPU, create folders, write both programs with %%writefile, compile with -O2 and check correctness at ten million, write and run the benchmark script, then compute metrics and draw nine figures with pandas and matplotlib, and finally zip the project. The plotting cells are also exported as scripts/plot_results.py.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1, part one. The sequential algorithm is two loops. Complexity is O(N) work and O(N) span on the CPU; on the GPU the work stays O(N) but the span is O(1), because each thread does one operation. Our measured CPU times confirm linear growth: 250 times more data gave 241.9 times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1, part two. One thread computes one element. The index formula maps block and thread numbers to an element. We chose 256 threads per block: eight full warps, and four blocks fill a Turing SM's 1,024-thread limit. Because the block count is rounded up, up to 192 extra threads are launched in our sizes; the if (idx &lt; n) guard keeps them from touching memory outside the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2. Here are the two kernels: identical except for the operator. Each thread computes its index and is protected by the guard. On the right is the memory life cycle. The two orange steps cross the PCIe bus; keep them in mind, because they turn out to dominate the run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Each operation is one phase with two pairs of CUDA events: the inner pair gives the pure kernel time, the outer pair the end-to-end time including both uploads and the download. We use events because launches are asynchronous. And we do one warm-up launch first, because the T4 starts idle in P8 and the first launch also creates the CUDA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Screenshot 02 is cell 5: both programs compiled with -O2 and run at ten million elements. Both print 3.00 and 2.00. Notice the CUDA timings: the add kernel takes 0.456 ms but the whole add phase takes 45.39 ms. That hundred-fold gap is the story of the rest of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3. Five sizes from one hundred thousand to twenty-five million elements, 250 times apart. The script runs both binaries for each size, extracts the timing lines with grep and awk, and appends a row to the CSV; this table is that file, unedited. The verification run and the benchmark run at ten million agree within about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Consolidated results, from the CSV. Green column: kernel speedup, rising to about 54 and staying there. Orange column: end-to-end speedup, below one at every size. Bandwidth levels off near 258 GB/s and the PCIe share is almost exactly 99 percent everywhere. The next slides show these as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Both axes are logarithmic, so slope one means time proportional to N. The CPU line is linear. The kernel line is far below it. But the end-to-end GPU line stays above the CPU at every size and runs parallel to it, so there is no crossover point and a bigger problem would not change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The kernel speedup climbs and then flattens at about 54. That plateau is not a coincidence: when both sides are limited by memory, the speedup is just the ratio of their memory bandwidths, 258 divided by 4.8. The end-to-end curve never reaches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4 and 5. In Figure 4 every bar is almost entirely orange, which is transfer. Figure 5 shows the share is flat at about 99 percent. Because both parts scale with N, N cancels out of the ratio; only the bandwidth of PCIe versus GPU memory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7. At the largest size, 230 of the 233 milliseconds are transfer. The two kernels together are about one percent, and they take the same time as each other because both move the same twelve bytes per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6 and 3. Bandwidth jumps after one million elements and then levels off around 258 GB/s, about 80 percent of the datasheet peak, which is the realistic ceiling for a streaming kernel. In GFLOPS the kernel looks tiny compared to 8.1 TFLOPS, but that peak is unreachable for this operation; relative to its real limit, 26.7 GFLOPS, it achieves 80.6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Speedup divided by 2,560 cores gives 2.1 percent, but that measure assumes the cores are the limit. They are not: the kernel does one operation for every twelve bytes, 304 times below the T4's ridge point. The meaningful measures are bandwidth efficiency and roofline efficiency, both 80.6 percent. The sketch shows our kernel sitting just under the sloped memory roof, far from the flat compute 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The bar chart is the whole explanation: the GPU's own memory moves 258 GB/s, a CPU core about 4.8, and the PCIe link in our run only 2.6. By Amdahl's law, with the transfer as the part we cannot speed up, the best possible end-to-end speedup is 0.543, and we measured 0.537. The pinned-memory figure of about 2.4 times is an estimate from the datasheet rate,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Correct results; a kernel that runs at 80 percent of the memory bandwidth and is about 54 times faster than one core; but an end-to-end time that loses to the CPU because 99 percent of the GPU time is PCIe transfer. The lesson is about arithmetic intensity and data residency. Thank the evaluators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5181D"/>
        </a:solidFill>
      </p:bgPr>
    </p:bg>
    <p:spTree>
      <p:nvGrpSpPr>
        <p:cNvPr id="1" name=""/>
        <p:cNvGrpSpPr/>
        <p:nvPr/>
      </p:nvGrpSpPr>
      <p:grpSpPr>
        <a:xfrm>
          <a:off x="0" y="0"/>
          <a:ext cx="0" cy="0"/>
          <a:chOff x="0" y="0"/>
          <a:chExt cx="0" cy="0"/>
        </a:xfrm>
      </p:grpSpPr>
      <p:sp>
        <p:nvSpPr>
          <p:cNvPr id="2" name="Shape 0"/>
          <p:cNvSpPr/>
          <p:nvPr/>
        </p:nvSpPr>
        <p:spPr>
          <a:xfrm>
            <a:off x="9930384" y="182880"/>
            <a:ext cx="1901952" cy="594360"/>
          </a:xfrm>
          <a:prstGeom prst="rect">
            <a:avLst/>
          </a:prstGeom>
          <a:solidFill>
            <a:srgbClr val="FFFFFF"/>
          </a:solidFill>
          <a:ln/>
        </p:spPr>
      </p:sp>
      <p:pic>
        <p:nvPicPr>
          <p:cNvPr id="3" name="Image 0" descr="C:/Users/Asus/Desktop/Cloud_computing/PGC/PGC_lab/pgc_github/Experiments_pdf_screenshots_resources/lab_eval_screenshots_pdf/kletechlogo.png">    </p:cNvPr>
          <p:cNvPicPr>
            <a:picLocks noChangeAspect="1"/>
          </p:cNvPicPr>
          <p:nvPr/>
        </p:nvPicPr>
        <p:blipFill>
          <a:blip r:embed="rId1"/>
          <a:stretch>
            <a:fillRect/>
          </a:stretch>
        </p:blipFill>
        <p:spPr>
          <a:xfrm>
            <a:off x="10058400" y="274320"/>
            <a:ext cx="1645920" cy="42519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5181D"/>
        </a:solidFill>
      </p:bgPr>
    </p:bg>
    <p:spTree>
      <p:nvGrpSpPr>
        <p:cNvPr id="1" name=""/>
        <p:cNvGrpSpPr/>
        <p:nvPr/>
      </p:nvGrpSpPr>
      <p:grpSpPr>
        <a:xfrm>
          <a:off x="0" y="0"/>
          <a:ext cx="0" cy="0"/>
          <a:chOff x="0" y="0"/>
          <a:chExt cx="0" cy="0"/>
        </a:xfrm>
      </p:grpSpPr>
      <p:sp>
        <p:nvSpPr>
          <p:cNvPr id="2" name="Shape 0"/>
          <p:cNvSpPr/>
          <p:nvPr/>
        </p:nvSpPr>
        <p:spPr>
          <a:xfrm>
            <a:off x="9930384" y="182880"/>
            <a:ext cx="1901952" cy="594360"/>
          </a:xfrm>
          <a:prstGeom prst="rect">
            <a:avLst/>
          </a:prstGeom>
          <a:solidFill>
            <a:srgbClr val="FFFFFF"/>
          </a:solidFill>
          <a:ln/>
        </p:spPr>
      </p:sp>
      <p:pic>
        <p:nvPicPr>
          <p:cNvPr id="3" name="Image 0" descr="C:/Users/Asus/Desktop/Cloud_computing/PGC/PGC_lab/pgc_github/Experiments_pdf_screenshots_resources/lab_eval_screenshots_pdf/kletechlogo.png">    </p:cNvPr>
          <p:cNvPicPr>
            <a:picLocks noChangeAspect="1"/>
          </p:cNvPicPr>
          <p:nvPr/>
        </p:nvPicPr>
        <p:blipFill>
          <a:blip r:embed="rId1"/>
          <a:stretch>
            <a:fillRect/>
          </a:stretch>
        </p:blipFill>
        <p:spPr>
          <a:xfrm>
            <a:off x="10058400" y="274320"/>
            <a:ext cx="1645920" cy="425196"/>
          </a:xfrm>
          <a:prstGeom prst="rect">
            <a:avLst/>
          </a:prstGeom>
        </p:spPr>
      </p:pic>
      <p:sp>
        <p:nvSpPr>
          <p:cNvPr id="4" name="Text 1"/>
          <p:cNvSpPr/>
          <p:nvPr>
            <p:ph idx="102" type="title" hasCustomPrompt="1"/>
          </p:nvPr>
        </p:nvSpPr>
        <p:spPr>
          <a:xfrm>
            <a:off x="548640" y="548640"/>
            <a:ext cx="9144000" cy="731520"/>
          </a:xfrm>
          <a:prstGeom prst="rect">
            <a:avLst/>
          </a:prstGeom>
          <a:noFill/>
          <a:ln/>
        </p:spPr>
        <p:txBody>
          <a:bodyPr wrap="square" rtlCol="0"/>
          <a:lstStyle>
            <a:lvl1pPr algn="l" indent="0" marL="0">
              <a:buNone/>
              <a:defRPr lang="en-US" sz="3000" b="1" dirty="0">
                <a:solidFill>
                  <a:srgbClr val="FFFFFF"/>
                </a:solidFill>
                <a:latin typeface="Segoe UI Semibold" pitchFamily="34" charset="0"/>
                <a:ea typeface="Segoe UI Semibold" pitchFamily="34" charset="-122"/>
                <a:cs typeface="Segoe UI Semibold" pitchFamily="34" charset="-120"/>
              </a:defRPr>
            </a:lvl1pPr>
          </a:lstStyle>
          <a:p>
            <a:pPr algn="l" indent="0" marL="0">
              <a:buNone/>
            </a:pPr>
            <a:endParaRPr lang="en-US" sz="3000" dirty="0"/>
          </a:p>
        </p:txBody>
      </p:sp>
      <p:sp>
        <p:nvSpPr>
          <p:cNvPr id="5" name="Text 1"/>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7C8591"/>
                </a:solidFill>
              </a:rPr>
              <a:t>PGC Lab Evaluation  ·  Theme 7  ·  GPU Vector Operations using CUDA</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Asus/Desktop/Cloud_computing/PGC/PGC_lab/pgc_github/Experiments_pdf_screenshots_resources/lab_eval_screenshots_pdf/kletechlogo.png">    </p:cNvPr>
          <p:cNvPicPr>
            <a:picLocks noChangeAspect="1"/>
          </p:cNvPicPr>
          <p:nvPr/>
        </p:nvPicPr>
        <p:blipFill>
          <a:blip r:embed="rId1"/>
          <a:stretch>
            <a:fillRect/>
          </a:stretch>
        </p:blipFill>
        <p:spPr>
          <a:xfrm>
            <a:off x="10058400" y="274320"/>
            <a:ext cx="1645920" cy="425196"/>
          </a:xfrm>
          <a:prstGeom prst="rect">
            <a:avLst/>
          </a:prstGeom>
        </p:spPr>
      </p:pic>
      <p:sp>
        <p:nvSpPr>
          <p:cNvPr id="3" name="Text 0"/>
          <p:cNvSpPr/>
          <p:nvPr>
            <p:ph idx="101" type="title" hasCustomPrompt="1"/>
          </p:nvPr>
        </p:nvSpPr>
        <p:spPr>
          <a:xfrm>
            <a:off x="548640" y="548640"/>
            <a:ext cx="9235440" cy="731520"/>
          </a:xfrm>
          <a:prstGeom prst="rect">
            <a:avLst/>
          </a:prstGeom>
          <a:noFill/>
          <a:ln/>
        </p:spPr>
        <p:txBody>
          <a:bodyPr wrap="square" rtlCol="0"/>
          <a:lstStyle>
            <a:lvl1pPr algn="l" indent="0" marL="0">
              <a:buNone/>
              <a:defRPr lang="en-US" sz="2800" b="1" dirty="0">
                <a:solidFill>
                  <a:srgbClr val="15181D"/>
                </a:solidFill>
                <a:latin typeface="Segoe UI Semibold" pitchFamily="34" charset="0"/>
                <a:ea typeface="Segoe UI Semibold" pitchFamily="34" charset="-122"/>
                <a:cs typeface="Segoe UI Semibold" pitchFamily="34" charset="-120"/>
              </a:defRPr>
            </a:lvl1pPr>
          </a:lstStyle>
          <a:p>
            <a:pPr algn="l" indent="0" marL="0">
              <a:buNone/>
            </a:pPr>
            <a:endParaRPr lang="en-US" sz="28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8A94A0"/>
                </a:solidFill>
              </a:rPr>
              <a:t>PGC Lab Evaluation  ·  Theme 7  ·  GPU Vector Operations using CUDA</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17320"/>
            <a:ext cx="7315200" cy="320040"/>
          </a:xfrm>
          <a:prstGeom prst="rect">
            <a:avLst/>
          </a:prstGeom>
          <a:noFill/>
          <a:ln/>
        </p:spPr>
        <p:txBody>
          <a:bodyPr wrap="square" lIns="0" tIns="0" rIns="0" bIns="0" rtlCol="0" anchor="t"/>
          <a:lstStyle/>
          <a:p>
            <a:pPr indent="0" marL="0">
              <a:buNone/>
            </a:pPr>
            <a:r>
              <a:rPr lang="en-US" sz="1200" b="1" spc="150" kern="0" dirty="0">
                <a:solidFill>
                  <a:srgbClr val="76B900"/>
                </a:solidFill>
                <a:latin typeface="Segoe UI Semibold" pitchFamily="34" charset="0"/>
                <a:ea typeface="Segoe UI Semibold" pitchFamily="34" charset="-122"/>
                <a:cs typeface="Segoe UI Semibold" pitchFamily="34" charset="-120"/>
              </a:rPr>
              <a:t>PARALLEL COMPUTING LAB  ·  MINI-PROJECT EVALUATION  ·  THEME 7</a:t>
            </a:r>
            <a:endParaRPr lang="en-US" sz="1200" dirty="0"/>
          </a:p>
        </p:txBody>
      </p:sp>
      <p:sp>
        <p:nvSpPr>
          <p:cNvPr id="3" name="Text 1"/>
          <p:cNvSpPr txBox="1"/>
          <p:nvPr/>
        </p:nvSpPr>
        <p:spPr>
          <a:xfrm>
            <a:off x="548640" y="1828800"/>
            <a:ext cx="7040880" cy="1600200"/>
          </a:xfrm>
          <a:prstGeom prst="rect">
            <a:avLst/>
          </a:prstGeom>
          <a:noFill/>
          <a:ln/>
        </p:spPr>
        <p:txBody>
          <a:bodyPr wrap="square" lIns="0" tIns="0" rIns="0" bIns="0" rtlCol="0" anchor="t"/>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GPU Vector Operations using CUDA</a:t>
            </a:r>
            <a:endParaRPr lang="en-US" sz="4400" dirty="0"/>
          </a:p>
        </p:txBody>
      </p:sp>
      <p:sp>
        <p:nvSpPr>
          <p:cNvPr id="4" name="Text 2"/>
          <p:cNvSpPr txBox="1"/>
          <p:nvPr/>
        </p:nvSpPr>
        <p:spPr>
          <a:xfrm>
            <a:off x="548640" y="3520440"/>
            <a:ext cx="6766560" cy="868680"/>
          </a:xfrm>
          <a:prstGeom prst="rect">
            <a:avLst/>
          </a:prstGeom>
          <a:noFill/>
          <a:ln/>
        </p:spPr>
        <p:txBody>
          <a:bodyPr wrap="square" lIns="0" tIns="0" rIns="0" bIns="0" rtlCol="0" anchor="t"/>
          <a:lstStyle/>
          <a:p>
            <a:pPr indent="0" marL="0">
              <a:buNone/>
            </a:pPr>
            <a:r>
              <a:rPr lang="en-US" sz="1800" dirty="0">
                <a:solidFill>
                  <a:srgbClr val="C9D1D9"/>
                </a:solidFill>
                <a:latin typeface="Segoe UI" pitchFamily="34" charset="0"/>
                <a:ea typeface="Segoe UI" pitchFamily="34" charset="-122"/>
                <a:cs typeface="Segoe UI" pitchFamily="34" charset="-120"/>
              </a:rPr>
              <a:t>CPU vs GPU performance of element-wise vector addition and multiplication on an NVIDIA Tesla T4</a:t>
            </a:r>
            <a:endParaRPr lang="en-US" sz="1800" dirty="0"/>
          </a:p>
        </p:txBody>
      </p:sp>
      <p:sp>
        <p:nvSpPr>
          <p:cNvPr id="5" name="Text 3"/>
          <p:cNvSpPr txBox="1"/>
          <p:nvPr/>
        </p:nvSpPr>
        <p:spPr>
          <a:xfrm>
            <a:off x="548640" y="4434840"/>
            <a:ext cx="6766560" cy="320040"/>
          </a:xfrm>
          <a:prstGeom prst="rect">
            <a:avLst/>
          </a:prstGeom>
          <a:noFill/>
          <a:ln/>
        </p:spPr>
        <p:txBody>
          <a:bodyPr wrap="square" lIns="0" tIns="0" rIns="0" bIns="0" rtlCol="0" anchor="t"/>
          <a:lstStyle/>
          <a:p>
            <a:pPr indent="0" marL="0">
              <a:buNone/>
            </a:pPr>
            <a:r>
              <a:rPr lang="en-US" sz="1300" dirty="0">
                <a:solidFill>
                  <a:srgbClr val="8B949E"/>
                </a:solidFill>
                <a:latin typeface="Segoe UI" pitchFamily="34" charset="0"/>
                <a:ea typeface="Segoe UI" pitchFamily="34" charset="-122"/>
                <a:cs typeface="Segoe UI" pitchFamily="34" charset="-120"/>
              </a:rPr>
              <a:t>Google Colab  ·  CUDA 13.0  ·  Tesla T4 (Turing)  ·  1 October 2026</a:t>
            </a:r>
            <a:endParaRPr lang="en-US" sz="1300" dirty="0"/>
          </a:p>
        </p:txBody>
      </p:sp>
      <p:sp>
        <p:nvSpPr>
          <p:cNvPr id="6" name="Text 4"/>
          <p:cNvSpPr txBox="1"/>
          <p:nvPr/>
        </p:nvSpPr>
        <p:spPr>
          <a:xfrm>
            <a:off x="548640" y="5120640"/>
            <a:ext cx="1828800" cy="274320"/>
          </a:xfrm>
          <a:prstGeom prst="rect">
            <a:avLst/>
          </a:prstGeom>
          <a:noFill/>
          <a:ln/>
        </p:spPr>
        <p:txBody>
          <a:bodyPr wrap="square" lIns="0" tIns="0" rIns="0" bIns="0" rtlCol="0" anchor="t"/>
          <a:lstStyle/>
          <a:p>
            <a:pPr indent="0" marL="0">
              <a:buNone/>
            </a:pPr>
            <a:r>
              <a:rPr lang="en-US" sz="1100" b="1" spc="150" kern="0" dirty="0">
                <a:solidFill>
                  <a:srgbClr val="76B900"/>
                </a:solidFill>
                <a:latin typeface="Segoe UI Semibold" pitchFamily="34" charset="0"/>
                <a:ea typeface="Segoe UI Semibold" pitchFamily="34" charset="-122"/>
                <a:cs typeface="Segoe UI Semibold" pitchFamily="34" charset="-120"/>
              </a:rPr>
              <a:t>TEAM</a:t>
            </a:r>
            <a:endParaRPr lang="en-US" sz="1100" dirty="0"/>
          </a:p>
        </p:txBody>
      </p:sp>
      <p:sp>
        <p:nvSpPr>
          <p:cNvPr id="7" name="Text 5"/>
          <p:cNvSpPr txBox="1"/>
          <p:nvPr/>
        </p:nvSpPr>
        <p:spPr>
          <a:xfrm>
            <a:off x="548640" y="5440680"/>
            <a:ext cx="1691640" cy="594360"/>
          </a:xfrm>
          <a:prstGeom prst="rect">
            <a:avLst/>
          </a:prstGeom>
          <a:noFill/>
          <a:ln/>
        </p:spPr>
        <p:txBody>
          <a:bodyPr wrap="square" lIns="0" tIns="0" rIns="0" bIns="0" rtlCol="0" anchor="t"/>
          <a:lstStyle/>
          <a:p>
            <a:pPr indent="0" marL="0">
              <a:buNone/>
            </a:pPr>
            <a:r>
              <a:rPr lang="en-US" sz="1300" b="1" dirty="0">
                <a:solidFill>
                  <a:srgbClr val="E6EDF3"/>
                </a:solidFill>
                <a:latin typeface="Segoe UI" pitchFamily="34" charset="0"/>
                <a:ea typeface="Segoe UI" pitchFamily="34" charset="-122"/>
                <a:cs typeface="Segoe UI" pitchFamily="34" charset="-120"/>
              </a:rPr>
              <a:t>&lt;Name&gt;</a:t>
            </a:r>
            <a:endParaRPr lang="en-US" sz="1300" dirty="0"/>
          </a:p>
          <a:p>
            <a:pPr indent="0" marL="0">
              <a:buNone/>
            </a:pPr>
            <a:r>
              <a:rPr lang="en-US" sz="1300" dirty="0">
                <a:solidFill>
                  <a:srgbClr val="8B949E"/>
                </a:solidFill>
                <a:latin typeface="Segoe UI" pitchFamily="34" charset="0"/>
                <a:ea typeface="Segoe UI" pitchFamily="34" charset="-122"/>
                <a:cs typeface="Segoe UI" pitchFamily="34" charset="-120"/>
              </a:rPr>
              <a:t>&lt;USN&gt;</a:t>
            </a:r>
            <a:endParaRPr lang="en-US" sz="1300" dirty="0"/>
          </a:p>
        </p:txBody>
      </p:sp>
      <p:sp>
        <p:nvSpPr>
          <p:cNvPr id="8" name="Text 6"/>
          <p:cNvSpPr txBox="1"/>
          <p:nvPr/>
        </p:nvSpPr>
        <p:spPr>
          <a:xfrm>
            <a:off x="2331720" y="5440680"/>
            <a:ext cx="1691640" cy="594360"/>
          </a:xfrm>
          <a:prstGeom prst="rect">
            <a:avLst/>
          </a:prstGeom>
          <a:noFill/>
          <a:ln/>
        </p:spPr>
        <p:txBody>
          <a:bodyPr wrap="square" lIns="0" tIns="0" rIns="0" bIns="0" rtlCol="0" anchor="t"/>
          <a:lstStyle/>
          <a:p>
            <a:pPr indent="0" marL="0">
              <a:buNone/>
            </a:pPr>
            <a:r>
              <a:rPr lang="en-US" sz="1300" b="1" dirty="0">
                <a:solidFill>
                  <a:srgbClr val="E6EDF3"/>
                </a:solidFill>
                <a:latin typeface="Segoe UI" pitchFamily="34" charset="0"/>
                <a:ea typeface="Segoe UI" pitchFamily="34" charset="-122"/>
                <a:cs typeface="Segoe UI" pitchFamily="34" charset="-120"/>
              </a:rPr>
              <a:t>&lt;Name&gt;</a:t>
            </a:r>
            <a:endParaRPr lang="en-US" sz="1300" dirty="0"/>
          </a:p>
          <a:p>
            <a:pPr indent="0" marL="0">
              <a:buNone/>
            </a:pPr>
            <a:r>
              <a:rPr lang="en-US" sz="1300" dirty="0">
                <a:solidFill>
                  <a:srgbClr val="8B949E"/>
                </a:solidFill>
                <a:latin typeface="Segoe UI" pitchFamily="34" charset="0"/>
                <a:ea typeface="Segoe UI" pitchFamily="34" charset="-122"/>
                <a:cs typeface="Segoe UI" pitchFamily="34" charset="-120"/>
              </a:rPr>
              <a:t>&lt;USN&gt;</a:t>
            </a:r>
            <a:endParaRPr lang="en-US" sz="1300" dirty="0"/>
          </a:p>
        </p:txBody>
      </p:sp>
      <p:sp>
        <p:nvSpPr>
          <p:cNvPr id="9" name="Text 7"/>
          <p:cNvSpPr txBox="1"/>
          <p:nvPr/>
        </p:nvSpPr>
        <p:spPr>
          <a:xfrm>
            <a:off x="4114800" y="5440680"/>
            <a:ext cx="1691640" cy="594360"/>
          </a:xfrm>
          <a:prstGeom prst="rect">
            <a:avLst/>
          </a:prstGeom>
          <a:noFill/>
          <a:ln/>
        </p:spPr>
        <p:txBody>
          <a:bodyPr wrap="square" lIns="0" tIns="0" rIns="0" bIns="0" rtlCol="0" anchor="t"/>
          <a:lstStyle/>
          <a:p>
            <a:pPr indent="0" marL="0">
              <a:buNone/>
            </a:pPr>
            <a:r>
              <a:rPr lang="en-US" sz="1300" b="1" dirty="0">
                <a:solidFill>
                  <a:srgbClr val="E6EDF3"/>
                </a:solidFill>
                <a:latin typeface="Segoe UI" pitchFamily="34" charset="0"/>
                <a:ea typeface="Segoe UI" pitchFamily="34" charset="-122"/>
                <a:cs typeface="Segoe UI" pitchFamily="34" charset="-120"/>
              </a:rPr>
              <a:t>&lt;Name&gt;</a:t>
            </a:r>
            <a:endParaRPr lang="en-US" sz="1300" dirty="0"/>
          </a:p>
          <a:p>
            <a:pPr indent="0" marL="0">
              <a:buNone/>
            </a:pPr>
            <a:r>
              <a:rPr lang="en-US" sz="1300" dirty="0">
                <a:solidFill>
                  <a:srgbClr val="8B949E"/>
                </a:solidFill>
                <a:latin typeface="Segoe UI" pitchFamily="34" charset="0"/>
                <a:ea typeface="Segoe UI" pitchFamily="34" charset="-122"/>
                <a:cs typeface="Segoe UI" pitchFamily="34" charset="-120"/>
              </a:rPr>
              <a:t>&lt;USN&gt;</a:t>
            </a:r>
            <a:endParaRPr lang="en-US" sz="1300" dirty="0"/>
          </a:p>
        </p:txBody>
      </p:sp>
      <p:sp>
        <p:nvSpPr>
          <p:cNvPr id="10" name="Text 8"/>
          <p:cNvSpPr txBox="1"/>
          <p:nvPr/>
        </p:nvSpPr>
        <p:spPr>
          <a:xfrm>
            <a:off x="5897880" y="5440680"/>
            <a:ext cx="1691640" cy="594360"/>
          </a:xfrm>
          <a:prstGeom prst="rect">
            <a:avLst/>
          </a:prstGeom>
          <a:noFill/>
          <a:ln/>
        </p:spPr>
        <p:txBody>
          <a:bodyPr wrap="square" lIns="0" tIns="0" rIns="0" bIns="0" rtlCol="0" anchor="t"/>
          <a:lstStyle/>
          <a:p>
            <a:pPr indent="0" marL="0">
              <a:buNone/>
            </a:pPr>
            <a:r>
              <a:rPr lang="en-US" sz="1300" b="1" dirty="0">
                <a:solidFill>
                  <a:srgbClr val="E6EDF3"/>
                </a:solidFill>
                <a:latin typeface="Segoe UI" pitchFamily="34" charset="0"/>
                <a:ea typeface="Segoe UI" pitchFamily="34" charset="-122"/>
                <a:cs typeface="Segoe UI" pitchFamily="34" charset="-120"/>
              </a:rPr>
              <a:t>&lt;Name&gt;</a:t>
            </a:r>
            <a:endParaRPr lang="en-US" sz="1300" dirty="0"/>
          </a:p>
          <a:p>
            <a:pPr indent="0" marL="0">
              <a:buNone/>
            </a:pPr>
            <a:r>
              <a:rPr lang="en-US" sz="1300" dirty="0">
                <a:solidFill>
                  <a:srgbClr val="8B949E"/>
                </a:solidFill>
                <a:latin typeface="Segoe UI" pitchFamily="34" charset="0"/>
                <a:ea typeface="Segoe UI" pitchFamily="34" charset="-122"/>
                <a:cs typeface="Segoe UI" pitchFamily="34" charset="-120"/>
              </a:rPr>
              <a:t>&lt;USN&gt;</a:t>
            </a:r>
            <a:endParaRPr lang="en-US" sz="1300" dirty="0"/>
          </a:p>
        </p:txBody>
      </p:sp>
      <p:sp>
        <p:nvSpPr>
          <p:cNvPr id="11" name="Shape 9"/>
          <p:cNvSpPr/>
          <p:nvPr/>
        </p:nvSpPr>
        <p:spPr>
          <a:xfrm>
            <a:off x="7818120" y="2011680"/>
            <a:ext cx="292608" cy="292608"/>
          </a:xfrm>
          <a:prstGeom prst="roundRect">
            <a:avLst>
              <a:gd name="adj" fmla="val 12500"/>
            </a:avLst>
          </a:prstGeom>
          <a:solidFill>
            <a:srgbClr val="4F7F12"/>
          </a:solidFill>
          <a:ln w="9525">
            <a:solidFill>
              <a:srgbClr val="4F7F12"/>
            </a:solidFill>
            <a:prstDash val="solid"/>
          </a:ln>
        </p:spPr>
      </p:sp>
      <p:sp>
        <p:nvSpPr>
          <p:cNvPr id="12" name="Shape 10"/>
          <p:cNvSpPr/>
          <p:nvPr/>
        </p:nvSpPr>
        <p:spPr>
          <a:xfrm>
            <a:off x="8202168" y="2011680"/>
            <a:ext cx="292608" cy="292608"/>
          </a:xfrm>
          <a:prstGeom prst="roundRect">
            <a:avLst>
              <a:gd name="adj" fmla="val 12500"/>
            </a:avLst>
          </a:prstGeom>
          <a:solidFill>
            <a:srgbClr val="76B900"/>
          </a:solidFill>
          <a:ln w="9525">
            <a:solidFill>
              <a:srgbClr val="76B900"/>
            </a:solidFill>
            <a:prstDash val="solid"/>
          </a:ln>
        </p:spPr>
      </p:sp>
      <p:sp>
        <p:nvSpPr>
          <p:cNvPr id="13" name="Shape 11"/>
          <p:cNvSpPr/>
          <p:nvPr/>
        </p:nvSpPr>
        <p:spPr>
          <a:xfrm>
            <a:off x="8586216" y="2011680"/>
            <a:ext cx="292608" cy="292608"/>
          </a:xfrm>
          <a:prstGeom prst="roundRect">
            <a:avLst>
              <a:gd name="adj" fmla="val 12500"/>
            </a:avLst>
          </a:prstGeom>
          <a:solidFill>
            <a:srgbClr val="76B900"/>
          </a:solidFill>
          <a:ln w="9525">
            <a:solidFill>
              <a:srgbClr val="76B900"/>
            </a:solidFill>
            <a:prstDash val="solid"/>
          </a:ln>
        </p:spPr>
      </p:sp>
      <p:sp>
        <p:nvSpPr>
          <p:cNvPr id="14" name="Shape 12"/>
          <p:cNvSpPr/>
          <p:nvPr/>
        </p:nvSpPr>
        <p:spPr>
          <a:xfrm>
            <a:off x="8970264" y="2011680"/>
            <a:ext cx="292608" cy="292608"/>
          </a:xfrm>
          <a:prstGeom prst="roundRect">
            <a:avLst>
              <a:gd name="adj" fmla="val 12500"/>
            </a:avLst>
          </a:prstGeom>
          <a:solidFill>
            <a:srgbClr val="76B900"/>
          </a:solidFill>
          <a:ln w="9525">
            <a:solidFill>
              <a:srgbClr val="76B900"/>
            </a:solidFill>
            <a:prstDash val="solid"/>
          </a:ln>
        </p:spPr>
      </p:sp>
      <p:sp>
        <p:nvSpPr>
          <p:cNvPr id="15" name="Shape 13"/>
          <p:cNvSpPr/>
          <p:nvPr/>
        </p:nvSpPr>
        <p:spPr>
          <a:xfrm>
            <a:off x="9354312" y="2011680"/>
            <a:ext cx="292608" cy="292608"/>
          </a:xfrm>
          <a:prstGeom prst="roundRect">
            <a:avLst>
              <a:gd name="adj" fmla="val 12500"/>
            </a:avLst>
          </a:prstGeom>
          <a:solidFill>
            <a:srgbClr val="76B900"/>
          </a:solidFill>
          <a:ln w="9525">
            <a:solidFill>
              <a:srgbClr val="76B900"/>
            </a:solidFill>
            <a:prstDash val="solid"/>
          </a:ln>
        </p:spPr>
      </p:sp>
      <p:sp>
        <p:nvSpPr>
          <p:cNvPr id="16" name="Shape 14"/>
          <p:cNvSpPr/>
          <p:nvPr/>
        </p:nvSpPr>
        <p:spPr>
          <a:xfrm>
            <a:off x="9738360" y="2011680"/>
            <a:ext cx="292608" cy="292608"/>
          </a:xfrm>
          <a:prstGeom prst="roundRect">
            <a:avLst>
              <a:gd name="adj" fmla="val 12500"/>
            </a:avLst>
          </a:prstGeom>
          <a:solidFill>
            <a:srgbClr val="76B900"/>
          </a:solidFill>
          <a:ln w="9525">
            <a:solidFill>
              <a:srgbClr val="76B900"/>
            </a:solidFill>
            <a:prstDash val="solid"/>
          </a:ln>
        </p:spPr>
      </p:sp>
      <p:sp>
        <p:nvSpPr>
          <p:cNvPr id="17" name="Shape 15"/>
          <p:cNvSpPr/>
          <p:nvPr/>
        </p:nvSpPr>
        <p:spPr>
          <a:xfrm>
            <a:off x="10122408" y="2011680"/>
            <a:ext cx="292608" cy="292608"/>
          </a:xfrm>
          <a:prstGeom prst="roundRect">
            <a:avLst>
              <a:gd name="adj" fmla="val 12500"/>
            </a:avLst>
          </a:prstGeom>
          <a:solidFill>
            <a:srgbClr val="76B900"/>
          </a:solidFill>
          <a:ln w="9525">
            <a:solidFill>
              <a:srgbClr val="76B900"/>
            </a:solidFill>
            <a:prstDash val="solid"/>
          </a:ln>
        </p:spPr>
      </p:sp>
      <p:sp>
        <p:nvSpPr>
          <p:cNvPr id="18" name="Shape 16"/>
          <p:cNvSpPr/>
          <p:nvPr/>
        </p:nvSpPr>
        <p:spPr>
          <a:xfrm>
            <a:off x="10506456" y="2011680"/>
            <a:ext cx="292608" cy="292608"/>
          </a:xfrm>
          <a:prstGeom prst="roundRect">
            <a:avLst>
              <a:gd name="adj" fmla="val 12500"/>
            </a:avLst>
          </a:prstGeom>
          <a:solidFill>
            <a:srgbClr val="76B900"/>
          </a:solidFill>
          <a:ln w="9525">
            <a:solidFill>
              <a:srgbClr val="76B900"/>
            </a:solidFill>
            <a:prstDash val="solid"/>
          </a:ln>
        </p:spPr>
      </p:sp>
      <p:sp>
        <p:nvSpPr>
          <p:cNvPr id="19" name="Shape 17"/>
          <p:cNvSpPr/>
          <p:nvPr/>
        </p:nvSpPr>
        <p:spPr>
          <a:xfrm>
            <a:off x="10890504" y="2011680"/>
            <a:ext cx="292608" cy="292608"/>
          </a:xfrm>
          <a:prstGeom prst="roundRect">
            <a:avLst>
              <a:gd name="adj" fmla="val 12500"/>
            </a:avLst>
          </a:prstGeom>
          <a:solidFill>
            <a:srgbClr val="76B900"/>
          </a:solidFill>
          <a:ln w="9525">
            <a:solidFill>
              <a:srgbClr val="76B900"/>
            </a:solidFill>
            <a:prstDash val="solid"/>
          </a:ln>
        </p:spPr>
      </p:sp>
      <p:sp>
        <p:nvSpPr>
          <p:cNvPr id="20" name="Shape 18"/>
          <p:cNvSpPr/>
          <p:nvPr/>
        </p:nvSpPr>
        <p:spPr>
          <a:xfrm>
            <a:off x="11274552" y="2011680"/>
            <a:ext cx="292608" cy="292608"/>
          </a:xfrm>
          <a:prstGeom prst="roundRect">
            <a:avLst>
              <a:gd name="adj" fmla="val 12500"/>
            </a:avLst>
          </a:prstGeom>
          <a:solidFill>
            <a:srgbClr val="76B900"/>
          </a:solidFill>
          <a:ln w="9525">
            <a:solidFill>
              <a:srgbClr val="76B900"/>
            </a:solidFill>
            <a:prstDash val="solid"/>
          </a:ln>
        </p:spPr>
      </p:sp>
      <p:sp>
        <p:nvSpPr>
          <p:cNvPr id="21" name="Shape 19"/>
          <p:cNvSpPr/>
          <p:nvPr/>
        </p:nvSpPr>
        <p:spPr>
          <a:xfrm>
            <a:off x="7818120" y="2395728"/>
            <a:ext cx="292608" cy="292608"/>
          </a:xfrm>
          <a:prstGeom prst="roundRect">
            <a:avLst>
              <a:gd name="adj" fmla="val 12500"/>
            </a:avLst>
          </a:prstGeom>
          <a:solidFill>
            <a:srgbClr val="76B900"/>
          </a:solidFill>
          <a:ln w="9525">
            <a:solidFill>
              <a:srgbClr val="76B900"/>
            </a:solidFill>
            <a:prstDash val="solid"/>
          </a:ln>
        </p:spPr>
      </p:sp>
      <p:sp>
        <p:nvSpPr>
          <p:cNvPr id="22" name="Shape 20"/>
          <p:cNvSpPr/>
          <p:nvPr/>
        </p:nvSpPr>
        <p:spPr>
          <a:xfrm>
            <a:off x="8202168" y="2395728"/>
            <a:ext cx="292608" cy="292608"/>
          </a:xfrm>
          <a:prstGeom prst="roundRect">
            <a:avLst>
              <a:gd name="adj" fmla="val 12500"/>
            </a:avLst>
          </a:prstGeom>
          <a:solidFill>
            <a:srgbClr val="76B900"/>
          </a:solidFill>
          <a:ln w="9525">
            <a:solidFill>
              <a:srgbClr val="76B900"/>
            </a:solidFill>
            <a:prstDash val="solid"/>
          </a:ln>
        </p:spPr>
      </p:sp>
      <p:sp>
        <p:nvSpPr>
          <p:cNvPr id="23" name="Shape 21"/>
          <p:cNvSpPr/>
          <p:nvPr/>
        </p:nvSpPr>
        <p:spPr>
          <a:xfrm>
            <a:off x="8586216" y="2395728"/>
            <a:ext cx="292608" cy="292608"/>
          </a:xfrm>
          <a:prstGeom prst="roundRect">
            <a:avLst>
              <a:gd name="adj" fmla="val 12500"/>
            </a:avLst>
          </a:prstGeom>
          <a:solidFill>
            <a:srgbClr val="76B900"/>
          </a:solidFill>
          <a:ln w="9525">
            <a:solidFill>
              <a:srgbClr val="76B900"/>
            </a:solidFill>
            <a:prstDash val="solid"/>
          </a:ln>
        </p:spPr>
      </p:sp>
      <p:sp>
        <p:nvSpPr>
          <p:cNvPr id="24" name="Shape 22"/>
          <p:cNvSpPr/>
          <p:nvPr/>
        </p:nvSpPr>
        <p:spPr>
          <a:xfrm>
            <a:off x="8970264" y="2395728"/>
            <a:ext cx="292608" cy="292608"/>
          </a:xfrm>
          <a:prstGeom prst="roundRect">
            <a:avLst>
              <a:gd name="adj" fmla="val 12500"/>
            </a:avLst>
          </a:prstGeom>
          <a:solidFill>
            <a:srgbClr val="76B900"/>
          </a:solidFill>
          <a:ln w="9525">
            <a:solidFill>
              <a:srgbClr val="76B900"/>
            </a:solidFill>
            <a:prstDash val="solid"/>
          </a:ln>
        </p:spPr>
      </p:sp>
      <p:sp>
        <p:nvSpPr>
          <p:cNvPr id="25" name="Shape 23"/>
          <p:cNvSpPr/>
          <p:nvPr/>
        </p:nvSpPr>
        <p:spPr>
          <a:xfrm>
            <a:off x="9354312" y="2395728"/>
            <a:ext cx="292608" cy="292608"/>
          </a:xfrm>
          <a:prstGeom prst="roundRect">
            <a:avLst>
              <a:gd name="adj" fmla="val 12500"/>
            </a:avLst>
          </a:prstGeom>
          <a:solidFill>
            <a:srgbClr val="76B900"/>
          </a:solidFill>
          <a:ln w="9525">
            <a:solidFill>
              <a:srgbClr val="76B900"/>
            </a:solidFill>
            <a:prstDash val="solid"/>
          </a:ln>
        </p:spPr>
      </p:sp>
      <p:sp>
        <p:nvSpPr>
          <p:cNvPr id="26" name="Shape 24"/>
          <p:cNvSpPr/>
          <p:nvPr/>
        </p:nvSpPr>
        <p:spPr>
          <a:xfrm>
            <a:off x="9738360" y="2395728"/>
            <a:ext cx="292608" cy="292608"/>
          </a:xfrm>
          <a:prstGeom prst="roundRect">
            <a:avLst>
              <a:gd name="adj" fmla="val 12500"/>
            </a:avLst>
          </a:prstGeom>
          <a:solidFill>
            <a:srgbClr val="4F7F12"/>
          </a:solidFill>
          <a:ln w="9525">
            <a:solidFill>
              <a:srgbClr val="4F7F12"/>
            </a:solidFill>
            <a:prstDash val="solid"/>
          </a:ln>
        </p:spPr>
      </p:sp>
      <p:sp>
        <p:nvSpPr>
          <p:cNvPr id="27" name="Shape 25"/>
          <p:cNvSpPr/>
          <p:nvPr/>
        </p:nvSpPr>
        <p:spPr>
          <a:xfrm>
            <a:off x="10122408" y="2395728"/>
            <a:ext cx="292608" cy="292608"/>
          </a:xfrm>
          <a:prstGeom prst="roundRect">
            <a:avLst>
              <a:gd name="adj" fmla="val 12500"/>
            </a:avLst>
          </a:prstGeom>
          <a:solidFill>
            <a:srgbClr val="76B900"/>
          </a:solidFill>
          <a:ln w="9525">
            <a:solidFill>
              <a:srgbClr val="76B900"/>
            </a:solidFill>
            <a:prstDash val="solid"/>
          </a:ln>
        </p:spPr>
      </p:sp>
      <p:sp>
        <p:nvSpPr>
          <p:cNvPr id="28" name="Shape 26"/>
          <p:cNvSpPr/>
          <p:nvPr/>
        </p:nvSpPr>
        <p:spPr>
          <a:xfrm>
            <a:off x="10506456" y="2395728"/>
            <a:ext cx="292608" cy="292608"/>
          </a:xfrm>
          <a:prstGeom prst="roundRect">
            <a:avLst>
              <a:gd name="adj" fmla="val 12500"/>
            </a:avLst>
          </a:prstGeom>
          <a:solidFill>
            <a:srgbClr val="76B900"/>
          </a:solidFill>
          <a:ln w="9525">
            <a:solidFill>
              <a:srgbClr val="76B900"/>
            </a:solidFill>
            <a:prstDash val="solid"/>
          </a:ln>
        </p:spPr>
      </p:sp>
      <p:sp>
        <p:nvSpPr>
          <p:cNvPr id="29" name="Shape 27"/>
          <p:cNvSpPr/>
          <p:nvPr/>
        </p:nvSpPr>
        <p:spPr>
          <a:xfrm>
            <a:off x="10890504" y="2395728"/>
            <a:ext cx="292608" cy="292608"/>
          </a:xfrm>
          <a:prstGeom prst="roundRect">
            <a:avLst>
              <a:gd name="adj" fmla="val 12500"/>
            </a:avLst>
          </a:prstGeom>
          <a:solidFill>
            <a:srgbClr val="76B900"/>
          </a:solidFill>
          <a:ln w="9525">
            <a:solidFill>
              <a:srgbClr val="76B900"/>
            </a:solidFill>
            <a:prstDash val="solid"/>
          </a:ln>
        </p:spPr>
      </p:sp>
      <p:sp>
        <p:nvSpPr>
          <p:cNvPr id="30" name="Shape 28"/>
          <p:cNvSpPr/>
          <p:nvPr/>
        </p:nvSpPr>
        <p:spPr>
          <a:xfrm>
            <a:off x="11274552" y="2395728"/>
            <a:ext cx="292608" cy="292608"/>
          </a:xfrm>
          <a:prstGeom prst="roundRect">
            <a:avLst>
              <a:gd name="adj" fmla="val 12500"/>
            </a:avLst>
          </a:prstGeom>
          <a:solidFill>
            <a:srgbClr val="76B900"/>
          </a:solidFill>
          <a:ln w="9525">
            <a:solidFill>
              <a:srgbClr val="76B900"/>
            </a:solidFill>
            <a:prstDash val="solid"/>
          </a:ln>
        </p:spPr>
      </p:sp>
      <p:sp>
        <p:nvSpPr>
          <p:cNvPr id="31" name="Shape 29"/>
          <p:cNvSpPr/>
          <p:nvPr/>
        </p:nvSpPr>
        <p:spPr>
          <a:xfrm>
            <a:off x="7818120" y="2779776"/>
            <a:ext cx="292608" cy="292608"/>
          </a:xfrm>
          <a:prstGeom prst="roundRect">
            <a:avLst>
              <a:gd name="adj" fmla="val 12500"/>
            </a:avLst>
          </a:prstGeom>
          <a:solidFill>
            <a:srgbClr val="76B900"/>
          </a:solidFill>
          <a:ln w="9525">
            <a:solidFill>
              <a:srgbClr val="76B900"/>
            </a:solidFill>
            <a:prstDash val="solid"/>
          </a:ln>
        </p:spPr>
      </p:sp>
      <p:sp>
        <p:nvSpPr>
          <p:cNvPr id="32" name="Shape 30"/>
          <p:cNvSpPr/>
          <p:nvPr/>
        </p:nvSpPr>
        <p:spPr>
          <a:xfrm>
            <a:off x="8202168" y="2779776"/>
            <a:ext cx="292608" cy="292608"/>
          </a:xfrm>
          <a:prstGeom prst="roundRect">
            <a:avLst>
              <a:gd name="adj" fmla="val 12500"/>
            </a:avLst>
          </a:prstGeom>
          <a:solidFill>
            <a:srgbClr val="76B900"/>
          </a:solidFill>
          <a:ln w="9525">
            <a:solidFill>
              <a:srgbClr val="76B900"/>
            </a:solidFill>
            <a:prstDash val="solid"/>
          </a:ln>
        </p:spPr>
      </p:sp>
      <p:sp>
        <p:nvSpPr>
          <p:cNvPr id="33" name="Shape 31"/>
          <p:cNvSpPr/>
          <p:nvPr/>
        </p:nvSpPr>
        <p:spPr>
          <a:xfrm>
            <a:off x="8586216" y="2779776"/>
            <a:ext cx="292608" cy="292608"/>
          </a:xfrm>
          <a:prstGeom prst="roundRect">
            <a:avLst>
              <a:gd name="adj" fmla="val 12500"/>
            </a:avLst>
          </a:prstGeom>
          <a:solidFill>
            <a:srgbClr val="76B900"/>
          </a:solidFill>
          <a:ln w="9525">
            <a:solidFill>
              <a:srgbClr val="76B900"/>
            </a:solidFill>
            <a:prstDash val="solid"/>
          </a:ln>
        </p:spPr>
      </p:sp>
      <p:sp>
        <p:nvSpPr>
          <p:cNvPr id="34" name="Shape 32"/>
          <p:cNvSpPr/>
          <p:nvPr/>
        </p:nvSpPr>
        <p:spPr>
          <a:xfrm>
            <a:off x="8970264" y="2779776"/>
            <a:ext cx="292608" cy="292608"/>
          </a:xfrm>
          <a:prstGeom prst="roundRect">
            <a:avLst>
              <a:gd name="adj" fmla="val 12500"/>
            </a:avLst>
          </a:prstGeom>
          <a:solidFill>
            <a:srgbClr val="76B900"/>
          </a:solidFill>
          <a:ln w="9525">
            <a:solidFill>
              <a:srgbClr val="76B900"/>
            </a:solidFill>
            <a:prstDash val="solid"/>
          </a:ln>
        </p:spPr>
      </p:sp>
      <p:sp>
        <p:nvSpPr>
          <p:cNvPr id="35" name="Shape 33"/>
          <p:cNvSpPr/>
          <p:nvPr/>
        </p:nvSpPr>
        <p:spPr>
          <a:xfrm>
            <a:off x="9354312" y="2779776"/>
            <a:ext cx="292608" cy="292608"/>
          </a:xfrm>
          <a:prstGeom prst="roundRect">
            <a:avLst>
              <a:gd name="adj" fmla="val 12500"/>
            </a:avLst>
          </a:prstGeom>
          <a:solidFill>
            <a:srgbClr val="76B900"/>
          </a:solidFill>
          <a:ln w="9525">
            <a:solidFill>
              <a:srgbClr val="76B900"/>
            </a:solidFill>
            <a:prstDash val="solid"/>
          </a:ln>
        </p:spPr>
      </p:sp>
      <p:sp>
        <p:nvSpPr>
          <p:cNvPr id="36" name="Shape 34"/>
          <p:cNvSpPr/>
          <p:nvPr/>
        </p:nvSpPr>
        <p:spPr>
          <a:xfrm>
            <a:off x="9738360" y="2779776"/>
            <a:ext cx="292608" cy="292608"/>
          </a:xfrm>
          <a:prstGeom prst="roundRect">
            <a:avLst>
              <a:gd name="adj" fmla="val 12500"/>
            </a:avLst>
          </a:prstGeom>
          <a:solidFill>
            <a:srgbClr val="76B900"/>
          </a:solidFill>
          <a:ln w="9525">
            <a:solidFill>
              <a:srgbClr val="76B900"/>
            </a:solidFill>
            <a:prstDash val="solid"/>
          </a:ln>
        </p:spPr>
      </p:sp>
      <p:sp>
        <p:nvSpPr>
          <p:cNvPr id="37" name="Shape 35"/>
          <p:cNvSpPr/>
          <p:nvPr/>
        </p:nvSpPr>
        <p:spPr>
          <a:xfrm>
            <a:off x="10122408" y="2779776"/>
            <a:ext cx="292608" cy="292608"/>
          </a:xfrm>
          <a:prstGeom prst="roundRect">
            <a:avLst>
              <a:gd name="adj" fmla="val 12500"/>
            </a:avLst>
          </a:prstGeom>
          <a:solidFill>
            <a:srgbClr val="76B900"/>
          </a:solidFill>
          <a:ln w="9525">
            <a:solidFill>
              <a:srgbClr val="76B900"/>
            </a:solidFill>
            <a:prstDash val="solid"/>
          </a:ln>
        </p:spPr>
      </p:sp>
      <p:sp>
        <p:nvSpPr>
          <p:cNvPr id="38" name="Shape 36"/>
          <p:cNvSpPr/>
          <p:nvPr/>
        </p:nvSpPr>
        <p:spPr>
          <a:xfrm>
            <a:off x="10506456" y="2779776"/>
            <a:ext cx="292608" cy="292608"/>
          </a:xfrm>
          <a:prstGeom prst="roundRect">
            <a:avLst>
              <a:gd name="adj" fmla="val 12500"/>
            </a:avLst>
          </a:prstGeom>
          <a:solidFill>
            <a:srgbClr val="76B900"/>
          </a:solidFill>
          <a:ln w="9525">
            <a:solidFill>
              <a:srgbClr val="76B900"/>
            </a:solidFill>
            <a:prstDash val="solid"/>
          </a:ln>
        </p:spPr>
      </p:sp>
      <p:sp>
        <p:nvSpPr>
          <p:cNvPr id="39" name="Shape 37"/>
          <p:cNvSpPr/>
          <p:nvPr/>
        </p:nvSpPr>
        <p:spPr>
          <a:xfrm>
            <a:off x="10890504" y="2779776"/>
            <a:ext cx="292608" cy="292608"/>
          </a:xfrm>
          <a:prstGeom prst="roundRect">
            <a:avLst>
              <a:gd name="adj" fmla="val 12500"/>
            </a:avLst>
          </a:prstGeom>
          <a:solidFill>
            <a:srgbClr val="76B900"/>
          </a:solidFill>
          <a:ln w="9525">
            <a:solidFill>
              <a:srgbClr val="76B900"/>
            </a:solidFill>
            <a:prstDash val="solid"/>
          </a:ln>
        </p:spPr>
      </p:sp>
      <p:sp>
        <p:nvSpPr>
          <p:cNvPr id="40" name="Shape 38"/>
          <p:cNvSpPr/>
          <p:nvPr/>
        </p:nvSpPr>
        <p:spPr>
          <a:xfrm>
            <a:off x="11274552" y="2779776"/>
            <a:ext cx="292608" cy="292608"/>
          </a:xfrm>
          <a:prstGeom prst="roundRect">
            <a:avLst>
              <a:gd name="adj" fmla="val 12500"/>
            </a:avLst>
          </a:prstGeom>
          <a:solidFill>
            <a:srgbClr val="76B900"/>
          </a:solidFill>
          <a:ln w="9525">
            <a:solidFill>
              <a:srgbClr val="76B900"/>
            </a:solidFill>
            <a:prstDash val="solid"/>
          </a:ln>
        </p:spPr>
      </p:sp>
      <p:sp>
        <p:nvSpPr>
          <p:cNvPr id="41" name="Shape 39"/>
          <p:cNvSpPr/>
          <p:nvPr/>
        </p:nvSpPr>
        <p:spPr>
          <a:xfrm>
            <a:off x="7818120" y="3163824"/>
            <a:ext cx="292608" cy="292608"/>
          </a:xfrm>
          <a:prstGeom prst="roundRect">
            <a:avLst>
              <a:gd name="adj" fmla="val 12500"/>
            </a:avLst>
          </a:prstGeom>
          <a:solidFill>
            <a:srgbClr val="76B900"/>
          </a:solidFill>
          <a:ln w="9525">
            <a:solidFill>
              <a:srgbClr val="76B900"/>
            </a:solidFill>
            <a:prstDash val="solid"/>
          </a:ln>
        </p:spPr>
      </p:sp>
      <p:sp>
        <p:nvSpPr>
          <p:cNvPr id="42" name="Shape 40"/>
          <p:cNvSpPr/>
          <p:nvPr/>
        </p:nvSpPr>
        <p:spPr>
          <a:xfrm>
            <a:off x="8202168" y="3163824"/>
            <a:ext cx="292608" cy="292608"/>
          </a:xfrm>
          <a:prstGeom prst="roundRect">
            <a:avLst>
              <a:gd name="adj" fmla="val 12500"/>
            </a:avLst>
          </a:prstGeom>
          <a:solidFill>
            <a:srgbClr val="76B900"/>
          </a:solidFill>
          <a:ln w="9525">
            <a:solidFill>
              <a:srgbClr val="76B900"/>
            </a:solidFill>
            <a:prstDash val="solid"/>
          </a:ln>
        </p:spPr>
      </p:sp>
      <p:sp>
        <p:nvSpPr>
          <p:cNvPr id="43" name="Shape 41"/>
          <p:cNvSpPr/>
          <p:nvPr/>
        </p:nvSpPr>
        <p:spPr>
          <a:xfrm>
            <a:off x="8586216" y="3163824"/>
            <a:ext cx="292608" cy="292608"/>
          </a:xfrm>
          <a:prstGeom prst="roundRect">
            <a:avLst>
              <a:gd name="adj" fmla="val 12500"/>
            </a:avLst>
          </a:prstGeom>
          <a:solidFill>
            <a:srgbClr val="76B900"/>
          </a:solidFill>
          <a:ln w="9525">
            <a:solidFill>
              <a:srgbClr val="76B900"/>
            </a:solidFill>
            <a:prstDash val="solid"/>
          </a:ln>
        </p:spPr>
      </p:sp>
      <p:sp>
        <p:nvSpPr>
          <p:cNvPr id="44" name="Shape 42"/>
          <p:cNvSpPr/>
          <p:nvPr/>
        </p:nvSpPr>
        <p:spPr>
          <a:xfrm>
            <a:off x="8970264" y="3163824"/>
            <a:ext cx="292608" cy="292608"/>
          </a:xfrm>
          <a:prstGeom prst="roundRect">
            <a:avLst>
              <a:gd name="adj" fmla="val 12500"/>
            </a:avLst>
          </a:prstGeom>
          <a:solidFill>
            <a:srgbClr val="76B900"/>
          </a:solidFill>
          <a:ln w="9525">
            <a:solidFill>
              <a:srgbClr val="76B900"/>
            </a:solidFill>
            <a:prstDash val="solid"/>
          </a:ln>
        </p:spPr>
      </p:sp>
      <p:sp>
        <p:nvSpPr>
          <p:cNvPr id="45" name="Shape 43"/>
          <p:cNvSpPr/>
          <p:nvPr/>
        </p:nvSpPr>
        <p:spPr>
          <a:xfrm>
            <a:off x="9354312" y="3163824"/>
            <a:ext cx="292608" cy="292608"/>
          </a:xfrm>
          <a:prstGeom prst="roundRect">
            <a:avLst>
              <a:gd name="adj" fmla="val 12500"/>
            </a:avLst>
          </a:prstGeom>
          <a:solidFill>
            <a:srgbClr val="4F7F12"/>
          </a:solidFill>
          <a:ln w="9525">
            <a:solidFill>
              <a:srgbClr val="4F7F12"/>
            </a:solidFill>
            <a:prstDash val="solid"/>
          </a:ln>
        </p:spPr>
      </p:sp>
      <p:sp>
        <p:nvSpPr>
          <p:cNvPr id="46" name="Shape 44"/>
          <p:cNvSpPr/>
          <p:nvPr/>
        </p:nvSpPr>
        <p:spPr>
          <a:xfrm>
            <a:off x="9738360" y="3163824"/>
            <a:ext cx="292608" cy="292608"/>
          </a:xfrm>
          <a:prstGeom prst="roundRect">
            <a:avLst>
              <a:gd name="adj" fmla="val 12500"/>
            </a:avLst>
          </a:prstGeom>
          <a:solidFill>
            <a:srgbClr val="76B900"/>
          </a:solidFill>
          <a:ln w="9525">
            <a:solidFill>
              <a:srgbClr val="76B900"/>
            </a:solidFill>
            <a:prstDash val="solid"/>
          </a:ln>
        </p:spPr>
      </p:sp>
      <p:sp>
        <p:nvSpPr>
          <p:cNvPr id="47" name="Shape 45"/>
          <p:cNvSpPr/>
          <p:nvPr/>
        </p:nvSpPr>
        <p:spPr>
          <a:xfrm>
            <a:off x="10122408" y="3163824"/>
            <a:ext cx="292608" cy="292608"/>
          </a:xfrm>
          <a:prstGeom prst="roundRect">
            <a:avLst>
              <a:gd name="adj" fmla="val 12500"/>
            </a:avLst>
          </a:prstGeom>
          <a:solidFill>
            <a:srgbClr val="76B900"/>
          </a:solidFill>
          <a:ln w="9525">
            <a:solidFill>
              <a:srgbClr val="76B900"/>
            </a:solidFill>
            <a:prstDash val="solid"/>
          </a:ln>
        </p:spPr>
      </p:sp>
      <p:sp>
        <p:nvSpPr>
          <p:cNvPr id="48" name="Shape 46"/>
          <p:cNvSpPr/>
          <p:nvPr/>
        </p:nvSpPr>
        <p:spPr>
          <a:xfrm>
            <a:off x="10506456" y="3163824"/>
            <a:ext cx="292608" cy="292608"/>
          </a:xfrm>
          <a:prstGeom prst="roundRect">
            <a:avLst>
              <a:gd name="adj" fmla="val 12500"/>
            </a:avLst>
          </a:prstGeom>
          <a:solidFill>
            <a:srgbClr val="76B900"/>
          </a:solidFill>
          <a:ln w="9525">
            <a:solidFill>
              <a:srgbClr val="76B900"/>
            </a:solidFill>
            <a:prstDash val="solid"/>
          </a:ln>
        </p:spPr>
      </p:sp>
      <p:sp>
        <p:nvSpPr>
          <p:cNvPr id="49" name="Shape 47"/>
          <p:cNvSpPr/>
          <p:nvPr/>
        </p:nvSpPr>
        <p:spPr>
          <a:xfrm>
            <a:off x="10890504" y="3163824"/>
            <a:ext cx="292608" cy="292608"/>
          </a:xfrm>
          <a:prstGeom prst="roundRect">
            <a:avLst>
              <a:gd name="adj" fmla="val 12500"/>
            </a:avLst>
          </a:prstGeom>
          <a:solidFill>
            <a:srgbClr val="76B900"/>
          </a:solidFill>
          <a:ln w="9525">
            <a:solidFill>
              <a:srgbClr val="76B900"/>
            </a:solidFill>
            <a:prstDash val="solid"/>
          </a:ln>
        </p:spPr>
      </p:sp>
      <p:sp>
        <p:nvSpPr>
          <p:cNvPr id="50" name="Shape 48"/>
          <p:cNvSpPr/>
          <p:nvPr/>
        </p:nvSpPr>
        <p:spPr>
          <a:xfrm>
            <a:off x="11274552" y="3163824"/>
            <a:ext cx="292608" cy="292608"/>
          </a:xfrm>
          <a:prstGeom prst="roundRect">
            <a:avLst>
              <a:gd name="adj" fmla="val 12500"/>
            </a:avLst>
          </a:prstGeom>
          <a:solidFill>
            <a:srgbClr val="76B900"/>
          </a:solidFill>
          <a:ln w="9525">
            <a:solidFill>
              <a:srgbClr val="76B900"/>
            </a:solidFill>
            <a:prstDash val="solid"/>
          </a:ln>
        </p:spPr>
      </p:sp>
      <p:sp>
        <p:nvSpPr>
          <p:cNvPr id="51" name="Shape 49"/>
          <p:cNvSpPr/>
          <p:nvPr/>
        </p:nvSpPr>
        <p:spPr>
          <a:xfrm>
            <a:off x="7818120" y="3547872"/>
            <a:ext cx="292608" cy="292608"/>
          </a:xfrm>
          <a:prstGeom prst="roundRect">
            <a:avLst>
              <a:gd name="adj" fmla="val 12500"/>
            </a:avLst>
          </a:prstGeom>
          <a:solidFill>
            <a:srgbClr val="76B900"/>
          </a:solidFill>
          <a:ln w="9525">
            <a:solidFill>
              <a:srgbClr val="76B900"/>
            </a:solidFill>
            <a:prstDash val="solid"/>
          </a:ln>
        </p:spPr>
      </p:sp>
      <p:sp>
        <p:nvSpPr>
          <p:cNvPr id="52" name="Shape 50"/>
          <p:cNvSpPr/>
          <p:nvPr/>
        </p:nvSpPr>
        <p:spPr>
          <a:xfrm>
            <a:off x="8202168" y="3547872"/>
            <a:ext cx="292608" cy="292608"/>
          </a:xfrm>
          <a:prstGeom prst="roundRect">
            <a:avLst>
              <a:gd name="adj" fmla="val 12500"/>
            </a:avLst>
          </a:prstGeom>
          <a:solidFill>
            <a:srgbClr val="76B900"/>
          </a:solidFill>
          <a:ln w="9525">
            <a:solidFill>
              <a:srgbClr val="76B900"/>
            </a:solidFill>
            <a:prstDash val="solid"/>
          </a:ln>
        </p:spPr>
      </p:sp>
      <p:sp>
        <p:nvSpPr>
          <p:cNvPr id="53" name="Shape 51"/>
          <p:cNvSpPr/>
          <p:nvPr/>
        </p:nvSpPr>
        <p:spPr>
          <a:xfrm>
            <a:off x="8586216" y="3547872"/>
            <a:ext cx="292608" cy="292608"/>
          </a:xfrm>
          <a:prstGeom prst="roundRect">
            <a:avLst>
              <a:gd name="adj" fmla="val 12500"/>
            </a:avLst>
          </a:prstGeom>
          <a:solidFill>
            <a:srgbClr val="76B900"/>
          </a:solidFill>
          <a:ln w="9525">
            <a:solidFill>
              <a:srgbClr val="76B900"/>
            </a:solidFill>
            <a:prstDash val="solid"/>
          </a:ln>
        </p:spPr>
      </p:sp>
      <p:sp>
        <p:nvSpPr>
          <p:cNvPr id="54" name="Shape 52"/>
          <p:cNvSpPr/>
          <p:nvPr/>
        </p:nvSpPr>
        <p:spPr>
          <a:xfrm>
            <a:off x="8970264" y="3547872"/>
            <a:ext cx="292608" cy="292608"/>
          </a:xfrm>
          <a:prstGeom prst="roundRect">
            <a:avLst>
              <a:gd name="adj" fmla="val 12500"/>
            </a:avLst>
          </a:prstGeom>
          <a:solidFill>
            <a:srgbClr val="76B900"/>
          </a:solidFill>
          <a:ln w="9525">
            <a:solidFill>
              <a:srgbClr val="76B900"/>
            </a:solidFill>
            <a:prstDash val="solid"/>
          </a:ln>
        </p:spPr>
      </p:sp>
      <p:sp>
        <p:nvSpPr>
          <p:cNvPr id="55" name="Shape 53"/>
          <p:cNvSpPr/>
          <p:nvPr/>
        </p:nvSpPr>
        <p:spPr>
          <a:xfrm>
            <a:off x="9354312" y="3547872"/>
            <a:ext cx="292608" cy="292608"/>
          </a:xfrm>
          <a:prstGeom prst="roundRect">
            <a:avLst>
              <a:gd name="adj" fmla="val 12500"/>
            </a:avLst>
          </a:prstGeom>
          <a:solidFill>
            <a:srgbClr val="76B900"/>
          </a:solidFill>
          <a:ln w="9525">
            <a:solidFill>
              <a:srgbClr val="76B900"/>
            </a:solidFill>
            <a:prstDash val="solid"/>
          </a:ln>
        </p:spPr>
      </p:sp>
      <p:sp>
        <p:nvSpPr>
          <p:cNvPr id="56" name="Shape 54"/>
          <p:cNvSpPr/>
          <p:nvPr/>
        </p:nvSpPr>
        <p:spPr>
          <a:xfrm>
            <a:off x="9738360" y="3547872"/>
            <a:ext cx="292608" cy="292608"/>
          </a:xfrm>
          <a:prstGeom prst="roundRect">
            <a:avLst>
              <a:gd name="adj" fmla="val 12500"/>
            </a:avLst>
          </a:prstGeom>
          <a:solidFill>
            <a:srgbClr val="76B900"/>
          </a:solidFill>
          <a:ln w="9525">
            <a:solidFill>
              <a:srgbClr val="76B900"/>
            </a:solidFill>
            <a:prstDash val="solid"/>
          </a:ln>
        </p:spPr>
      </p:sp>
      <p:sp>
        <p:nvSpPr>
          <p:cNvPr id="57" name="Shape 55"/>
          <p:cNvSpPr/>
          <p:nvPr/>
        </p:nvSpPr>
        <p:spPr>
          <a:xfrm>
            <a:off x="10122408" y="3547872"/>
            <a:ext cx="292608" cy="292608"/>
          </a:xfrm>
          <a:prstGeom prst="roundRect">
            <a:avLst>
              <a:gd name="adj" fmla="val 12500"/>
            </a:avLst>
          </a:prstGeom>
          <a:solidFill>
            <a:srgbClr val="76B900"/>
          </a:solidFill>
          <a:ln w="9525">
            <a:solidFill>
              <a:srgbClr val="76B900"/>
            </a:solidFill>
            <a:prstDash val="solid"/>
          </a:ln>
        </p:spPr>
      </p:sp>
      <p:sp>
        <p:nvSpPr>
          <p:cNvPr id="58" name="Shape 56"/>
          <p:cNvSpPr/>
          <p:nvPr/>
        </p:nvSpPr>
        <p:spPr>
          <a:xfrm>
            <a:off x="10506456" y="3547872"/>
            <a:ext cx="292608" cy="292608"/>
          </a:xfrm>
          <a:prstGeom prst="roundRect">
            <a:avLst>
              <a:gd name="adj" fmla="val 12500"/>
            </a:avLst>
          </a:prstGeom>
          <a:solidFill>
            <a:srgbClr val="76B900"/>
          </a:solidFill>
          <a:ln w="9525">
            <a:solidFill>
              <a:srgbClr val="76B900"/>
            </a:solidFill>
            <a:prstDash val="solid"/>
          </a:ln>
        </p:spPr>
      </p:sp>
      <p:sp>
        <p:nvSpPr>
          <p:cNvPr id="59" name="Shape 57"/>
          <p:cNvSpPr/>
          <p:nvPr/>
        </p:nvSpPr>
        <p:spPr>
          <a:xfrm>
            <a:off x="10890504" y="3547872"/>
            <a:ext cx="292608" cy="292608"/>
          </a:xfrm>
          <a:prstGeom prst="roundRect">
            <a:avLst>
              <a:gd name="adj" fmla="val 12500"/>
            </a:avLst>
          </a:prstGeom>
          <a:solidFill>
            <a:srgbClr val="76B900"/>
          </a:solidFill>
          <a:ln w="9525">
            <a:solidFill>
              <a:srgbClr val="76B900"/>
            </a:solidFill>
            <a:prstDash val="solid"/>
          </a:ln>
        </p:spPr>
      </p:sp>
      <p:sp>
        <p:nvSpPr>
          <p:cNvPr id="60" name="Shape 58"/>
          <p:cNvSpPr/>
          <p:nvPr/>
        </p:nvSpPr>
        <p:spPr>
          <a:xfrm>
            <a:off x="11274552" y="3547872"/>
            <a:ext cx="292608" cy="292608"/>
          </a:xfrm>
          <a:prstGeom prst="roundRect">
            <a:avLst>
              <a:gd name="adj" fmla="val 12500"/>
            </a:avLst>
          </a:prstGeom>
          <a:solidFill>
            <a:srgbClr val="4F7F12"/>
          </a:solidFill>
          <a:ln w="9525">
            <a:solidFill>
              <a:srgbClr val="4F7F12"/>
            </a:solidFill>
            <a:prstDash val="solid"/>
          </a:ln>
        </p:spPr>
      </p:sp>
      <p:sp>
        <p:nvSpPr>
          <p:cNvPr id="61" name="Shape 59"/>
          <p:cNvSpPr/>
          <p:nvPr/>
        </p:nvSpPr>
        <p:spPr>
          <a:xfrm>
            <a:off x="7818120" y="3931920"/>
            <a:ext cx="292608" cy="292608"/>
          </a:xfrm>
          <a:prstGeom prst="roundRect">
            <a:avLst>
              <a:gd name="adj" fmla="val 12500"/>
            </a:avLst>
          </a:prstGeom>
          <a:solidFill>
            <a:srgbClr val="76B900"/>
          </a:solidFill>
          <a:ln w="9525">
            <a:solidFill>
              <a:srgbClr val="76B900"/>
            </a:solidFill>
            <a:prstDash val="solid"/>
          </a:ln>
        </p:spPr>
      </p:sp>
      <p:sp>
        <p:nvSpPr>
          <p:cNvPr id="62" name="Shape 60"/>
          <p:cNvSpPr/>
          <p:nvPr/>
        </p:nvSpPr>
        <p:spPr>
          <a:xfrm>
            <a:off x="8202168" y="3931920"/>
            <a:ext cx="292608" cy="292608"/>
          </a:xfrm>
          <a:prstGeom prst="roundRect">
            <a:avLst>
              <a:gd name="adj" fmla="val 12500"/>
            </a:avLst>
          </a:prstGeom>
          <a:solidFill>
            <a:srgbClr val="76B900"/>
          </a:solidFill>
          <a:ln w="9525">
            <a:solidFill>
              <a:srgbClr val="76B900"/>
            </a:solidFill>
            <a:prstDash val="solid"/>
          </a:ln>
        </p:spPr>
      </p:sp>
      <p:sp>
        <p:nvSpPr>
          <p:cNvPr id="63" name="Shape 61"/>
          <p:cNvSpPr/>
          <p:nvPr/>
        </p:nvSpPr>
        <p:spPr>
          <a:xfrm>
            <a:off x="8586216" y="3931920"/>
            <a:ext cx="292608" cy="292608"/>
          </a:xfrm>
          <a:prstGeom prst="roundRect">
            <a:avLst>
              <a:gd name="adj" fmla="val 12500"/>
            </a:avLst>
          </a:prstGeom>
          <a:solidFill>
            <a:srgbClr val="76B900"/>
          </a:solidFill>
          <a:ln w="9525">
            <a:solidFill>
              <a:srgbClr val="76B900"/>
            </a:solidFill>
            <a:prstDash val="solid"/>
          </a:ln>
        </p:spPr>
      </p:sp>
      <p:sp>
        <p:nvSpPr>
          <p:cNvPr id="64" name="Shape 62"/>
          <p:cNvSpPr/>
          <p:nvPr/>
        </p:nvSpPr>
        <p:spPr>
          <a:xfrm>
            <a:off x="8970264" y="3931920"/>
            <a:ext cx="292608" cy="292608"/>
          </a:xfrm>
          <a:prstGeom prst="roundRect">
            <a:avLst>
              <a:gd name="adj" fmla="val 12500"/>
            </a:avLst>
          </a:prstGeom>
          <a:solidFill>
            <a:srgbClr val="4F7F12"/>
          </a:solidFill>
          <a:ln w="9525">
            <a:solidFill>
              <a:srgbClr val="4F7F12"/>
            </a:solidFill>
            <a:prstDash val="solid"/>
          </a:ln>
        </p:spPr>
      </p:sp>
      <p:sp>
        <p:nvSpPr>
          <p:cNvPr id="65" name="Shape 63"/>
          <p:cNvSpPr/>
          <p:nvPr/>
        </p:nvSpPr>
        <p:spPr>
          <a:xfrm>
            <a:off x="9354312" y="3931920"/>
            <a:ext cx="292608" cy="292608"/>
          </a:xfrm>
          <a:prstGeom prst="roundRect">
            <a:avLst>
              <a:gd name="adj" fmla="val 12500"/>
            </a:avLst>
          </a:prstGeom>
          <a:solidFill>
            <a:srgbClr val="76B900"/>
          </a:solidFill>
          <a:ln w="9525">
            <a:solidFill>
              <a:srgbClr val="76B900"/>
            </a:solidFill>
            <a:prstDash val="solid"/>
          </a:ln>
        </p:spPr>
      </p:sp>
      <p:sp>
        <p:nvSpPr>
          <p:cNvPr id="66" name="Shape 64"/>
          <p:cNvSpPr/>
          <p:nvPr/>
        </p:nvSpPr>
        <p:spPr>
          <a:xfrm>
            <a:off x="9738360" y="3931920"/>
            <a:ext cx="292608" cy="292608"/>
          </a:xfrm>
          <a:prstGeom prst="roundRect">
            <a:avLst>
              <a:gd name="adj" fmla="val 12500"/>
            </a:avLst>
          </a:prstGeom>
          <a:solidFill>
            <a:srgbClr val="76B900"/>
          </a:solidFill>
          <a:ln w="9525">
            <a:solidFill>
              <a:srgbClr val="76B900"/>
            </a:solidFill>
            <a:prstDash val="solid"/>
          </a:ln>
        </p:spPr>
      </p:sp>
      <p:sp>
        <p:nvSpPr>
          <p:cNvPr id="67" name="Shape 65"/>
          <p:cNvSpPr/>
          <p:nvPr/>
        </p:nvSpPr>
        <p:spPr>
          <a:xfrm>
            <a:off x="10122408" y="3931920"/>
            <a:ext cx="292608" cy="292608"/>
          </a:xfrm>
          <a:prstGeom prst="roundRect">
            <a:avLst>
              <a:gd name="adj" fmla="val 12500"/>
            </a:avLst>
          </a:prstGeom>
          <a:solidFill>
            <a:srgbClr val="76B900"/>
          </a:solidFill>
          <a:ln w="9525">
            <a:solidFill>
              <a:srgbClr val="76B900"/>
            </a:solidFill>
            <a:prstDash val="solid"/>
          </a:ln>
        </p:spPr>
      </p:sp>
      <p:sp>
        <p:nvSpPr>
          <p:cNvPr id="68" name="Shape 66"/>
          <p:cNvSpPr/>
          <p:nvPr/>
        </p:nvSpPr>
        <p:spPr>
          <a:xfrm>
            <a:off x="10506456" y="3931920"/>
            <a:ext cx="292608" cy="292608"/>
          </a:xfrm>
          <a:prstGeom prst="roundRect">
            <a:avLst>
              <a:gd name="adj" fmla="val 12500"/>
            </a:avLst>
          </a:prstGeom>
          <a:solidFill>
            <a:srgbClr val="76B900"/>
          </a:solidFill>
          <a:ln w="9525">
            <a:solidFill>
              <a:srgbClr val="76B900"/>
            </a:solidFill>
            <a:prstDash val="solid"/>
          </a:ln>
        </p:spPr>
      </p:sp>
      <p:sp>
        <p:nvSpPr>
          <p:cNvPr id="69" name="Shape 67"/>
          <p:cNvSpPr/>
          <p:nvPr/>
        </p:nvSpPr>
        <p:spPr>
          <a:xfrm>
            <a:off x="10890504" y="3931920"/>
            <a:ext cx="292608" cy="292608"/>
          </a:xfrm>
          <a:prstGeom prst="roundRect">
            <a:avLst>
              <a:gd name="adj" fmla="val 12500"/>
            </a:avLst>
          </a:prstGeom>
          <a:solidFill>
            <a:srgbClr val="76B900"/>
          </a:solidFill>
          <a:ln w="9525">
            <a:solidFill>
              <a:srgbClr val="76B900"/>
            </a:solidFill>
            <a:prstDash val="solid"/>
          </a:ln>
        </p:spPr>
      </p:sp>
      <p:sp>
        <p:nvSpPr>
          <p:cNvPr id="70" name="Shape 68"/>
          <p:cNvSpPr/>
          <p:nvPr/>
        </p:nvSpPr>
        <p:spPr>
          <a:xfrm>
            <a:off x="11274552" y="3931920"/>
            <a:ext cx="292608" cy="292608"/>
          </a:xfrm>
          <a:prstGeom prst="roundRect">
            <a:avLst>
              <a:gd name="adj" fmla="val 12500"/>
            </a:avLst>
          </a:prstGeom>
          <a:solidFill>
            <a:srgbClr val="76B900"/>
          </a:solidFill>
          <a:ln w="9525">
            <a:solidFill>
              <a:srgbClr val="76B900"/>
            </a:solidFill>
            <a:prstDash val="solid"/>
          </a:ln>
        </p:spPr>
      </p:sp>
      <p:sp>
        <p:nvSpPr>
          <p:cNvPr id="71" name="Shape 69"/>
          <p:cNvSpPr/>
          <p:nvPr/>
        </p:nvSpPr>
        <p:spPr>
          <a:xfrm>
            <a:off x="7818120" y="4315968"/>
            <a:ext cx="292608" cy="292608"/>
          </a:xfrm>
          <a:prstGeom prst="roundRect">
            <a:avLst>
              <a:gd name="adj" fmla="val 12500"/>
            </a:avLst>
          </a:prstGeom>
          <a:solidFill>
            <a:srgbClr val="76B900"/>
          </a:solidFill>
          <a:ln w="9525">
            <a:solidFill>
              <a:srgbClr val="76B900"/>
            </a:solidFill>
            <a:prstDash val="solid"/>
          </a:ln>
        </p:spPr>
      </p:sp>
      <p:sp>
        <p:nvSpPr>
          <p:cNvPr id="72" name="Shape 70"/>
          <p:cNvSpPr/>
          <p:nvPr/>
        </p:nvSpPr>
        <p:spPr>
          <a:xfrm>
            <a:off x="8202168" y="4315968"/>
            <a:ext cx="292608" cy="292608"/>
          </a:xfrm>
          <a:prstGeom prst="roundRect">
            <a:avLst>
              <a:gd name="adj" fmla="val 12500"/>
            </a:avLst>
          </a:prstGeom>
          <a:solidFill>
            <a:srgbClr val="76B900"/>
          </a:solidFill>
          <a:ln w="9525">
            <a:solidFill>
              <a:srgbClr val="76B900"/>
            </a:solidFill>
            <a:prstDash val="solid"/>
          </a:ln>
        </p:spPr>
      </p:sp>
      <p:sp>
        <p:nvSpPr>
          <p:cNvPr id="73" name="Shape 71"/>
          <p:cNvSpPr/>
          <p:nvPr/>
        </p:nvSpPr>
        <p:spPr>
          <a:xfrm>
            <a:off x="8586216" y="4315968"/>
            <a:ext cx="292608" cy="292608"/>
          </a:xfrm>
          <a:prstGeom prst="roundRect">
            <a:avLst>
              <a:gd name="adj" fmla="val 12500"/>
            </a:avLst>
          </a:prstGeom>
          <a:solidFill>
            <a:srgbClr val="76B900"/>
          </a:solidFill>
          <a:ln w="9525">
            <a:solidFill>
              <a:srgbClr val="76B900"/>
            </a:solidFill>
            <a:prstDash val="solid"/>
          </a:ln>
        </p:spPr>
      </p:sp>
      <p:sp>
        <p:nvSpPr>
          <p:cNvPr id="74" name="Shape 72"/>
          <p:cNvSpPr/>
          <p:nvPr/>
        </p:nvSpPr>
        <p:spPr>
          <a:xfrm>
            <a:off x="8970264" y="4315968"/>
            <a:ext cx="292608" cy="292608"/>
          </a:xfrm>
          <a:prstGeom prst="roundRect">
            <a:avLst>
              <a:gd name="adj" fmla="val 12500"/>
            </a:avLst>
          </a:prstGeom>
          <a:solidFill>
            <a:srgbClr val="76B900"/>
          </a:solidFill>
          <a:ln w="9525">
            <a:solidFill>
              <a:srgbClr val="76B900"/>
            </a:solidFill>
            <a:prstDash val="solid"/>
          </a:ln>
        </p:spPr>
      </p:sp>
      <p:sp>
        <p:nvSpPr>
          <p:cNvPr id="75" name="Shape 73"/>
          <p:cNvSpPr/>
          <p:nvPr/>
        </p:nvSpPr>
        <p:spPr>
          <a:xfrm>
            <a:off x="9354312" y="4315968"/>
            <a:ext cx="292608" cy="292608"/>
          </a:xfrm>
          <a:prstGeom prst="roundRect">
            <a:avLst>
              <a:gd name="adj" fmla="val 12500"/>
            </a:avLst>
          </a:prstGeom>
          <a:solidFill>
            <a:srgbClr val="76B900"/>
          </a:solidFill>
          <a:ln w="9525">
            <a:solidFill>
              <a:srgbClr val="76B900"/>
            </a:solidFill>
            <a:prstDash val="solid"/>
          </a:ln>
        </p:spPr>
      </p:sp>
      <p:sp>
        <p:nvSpPr>
          <p:cNvPr id="76" name="Shape 74"/>
          <p:cNvSpPr/>
          <p:nvPr/>
        </p:nvSpPr>
        <p:spPr>
          <a:xfrm>
            <a:off x="9738360" y="4315968"/>
            <a:ext cx="292608" cy="292608"/>
          </a:xfrm>
          <a:prstGeom prst="roundRect">
            <a:avLst>
              <a:gd name="adj" fmla="val 12500"/>
            </a:avLst>
          </a:prstGeom>
          <a:solidFill>
            <a:srgbClr val="76B900"/>
          </a:solidFill>
          <a:ln w="9525">
            <a:solidFill>
              <a:srgbClr val="76B900"/>
            </a:solidFill>
            <a:prstDash val="solid"/>
          </a:ln>
        </p:spPr>
      </p:sp>
      <p:sp>
        <p:nvSpPr>
          <p:cNvPr id="77" name="Shape 75"/>
          <p:cNvSpPr/>
          <p:nvPr/>
        </p:nvSpPr>
        <p:spPr>
          <a:xfrm>
            <a:off x="10122408" y="4315968"/>
            <a:ext cx="292608" cy="292608"/>
          </a:xfrm>
          <a:prstGeom prst="roundRect">
            <a:avLst>
              <a:gd name="adj" fmla="val 12500"/>
            </a:avLst>
          </a:prstGeom>
          <a:solidFill>
            <a:srgbClr val="76B900"/>
          </a:solidFill>
          <a:ln w="9525">
            <a:solidFill>
              <a:srgbClr val="76B900"/>
            </a:solidFill>
            <a:prstDash val="solid"/>
          </a:ln>
        </p:spPr>
      </p:sp>
      <p:sp>
        <p:nvSpPr>
          <p:cNvPr id="78" name="Shape 76"/>
          <p:cNvSpPr/>
          <p:nvPr/>
        </p:nvSpPr>
        <p:spPr>
          <a:xfrm>
            <a:off x="10506456" y="4315968"/>
            <a:ext cx="292608" cy="292608"/>
          </a:xfrm>
          <a:prstGeom prst="roundRect">
            <a:avLst>
              <a:gd name="adj" fmla="val 12500"/>
            </a:avLst>
          </a:prstGeom>
          <a:solidFill>
            <a:srgbClr val="76B900"/>
          </a:solidFill>
          <a:ln w="9525">
            <a:solidFill>
              <a:srgbClr val="76B900"/>
            </a:solidFill>
            <a:prstDash val="solid"/>
          </a:ln>
        </p:spPr>
      </p:sp>
      <p:sp>
        <p:nvSpPr>
          <p:cNvPr id="79" name="Shape 77"/>
          <p:cNvSpPr/>
          <p:nvPr/>
        </p:nvSpPr>
        <p:spPr>
          <a:xfrm>
            <a:off x="10890504" y="4315968"/>
            <a:ext cx="292608" cy="292608"/>
          </a:xfrm>
          <a:prstGeom prst="roundRect">
            <a:avLst>
              <a:gd name="adj" fmla="val 12500"/>
            </a:avLst>
          </a:prstGeom>
          <a:solidFill>
            <a:srgbClr val="4F7F12"/>
          </a:solidFill>
          <a:ln w="9525">
            <a:solidFill>
              <a:srgbClr val="4F7F12"/>
            </a:solidFill>
            <a:prstDash val="solid"/>
          </a:ln>
        </p:spPr>
      </p:sp>
      <p:sp>
        <p:nvSpPr>
          <p:cNvPr id="80" name="Shape 78"/>
          <p:cNvSpPr/>
          <p:nvPr/>
        </p:nvSpPr>
        <p:spPr>
          <a:xfrm>
            <a:off x="11274552" y="4315968"/>
            <a:ext cx="292608" cy="292608"/>
          </a:xfrm>
          <a:prstGeom prst="roundRect">
            <a:avLst>
              <a:gd name="adj" fmla="val 12500"/>
            </a:avLst>
          </a:prstGeom>
          <a:solidFill>
            <a:srgbClr val="76B900"/>
          </a:solidFill>
          <a:ln w="9525">
            <a:solidFill>
              <a:srgbClr val="76B900"/>
            </a:solidFill>
            <a:prstDash val="solid"/>
          </a:ln>
        </p:spPr>
      </p:sp>
      <p:sp>
        <p:nvSpPr>
          <p:cNvPr id="81" name="Shape 79"/>
          <p:cNvSpPr/>
          <p:nvPr/>
        </p:nvSpPr>
        <p:spPr>
          <a:xfrm>
            <a:off x="7818120" y="4700016"/>
            <a:ext cx="292608" cy="292608"/>
          </a:xfrm>
          <a:prstGeom prst="roundRect">
            <a:avLst>
              <a:gd name="adj" fmla="val 12500"/>
            </a:avLst>
          </a:prstGeom>
          <a:solidFill>
            <a:srgbClr val="76B900"/>
          </a:solidFill>
          <a:ln w="9525">
            <a:solidFill>
              <a:srgbClr val="76B900"/>
            </a:solidFill>
            <a:prstDash val="solid"/>
          </a:ln>
        </p:spPr>
      </p:sp>
      <p:sp>
        <p:nvSpPr>
          <p:cNvPr id="82" name="Shape 80"/>
          <p:cNvSpPr/>
          <p:nvPr/>
        </p:nvSpPr>
        <p:spPr>
          <a:xfrm>
            <a:off x="8202168" y="4700016"/>
            <a:ext cx="292608" cy="292608"/>
          </a:xfrm>
          <a:prstGeom prst="roundRect">
            <a:avLst>
              <a:gd name="adj" fmla="val 12500"/>
            </a:avLst>
          </a:prstGeom>
          <a:solidFill>
            <a:srgbClr val="76B900"/>
          </a:solidFill>
          <a:ln w="9525">
            <a:solidFill>
              <a:srgbClr val="76B900"/>
            </a:solidFill>
            <a:prstDash val="solid"/>
          </a:ln>
        </p:spPr>
      </p:sp>
      <p:sp>
        <p:nvSpPr>
          <p:cNvPr id="83" name="Shape 81"/>
          <p:cNvSpPr/>
          <p:nvPr/>
        </p:nvSpPr>
        <p:spPr>
          <a:xfrm>
            <a:off x="8586216" y="4700016"/>
            <a:ext cx="292608" cy="292608"/>
          </a:xfrm>
          <a:prstGeom prst="roundRect">
            <a:avLst>
              <a:gd name="adj" fmla="val 12500"/>
            </a:avLst>
          </a:prstGeom>
          <a:solidFill>
            <a:srgbClr val="4F7F12"/>
          </a:solidFill>
          <a:ln w="9525">
            <a:solidFill>
              <a:srgbClr val="4F7F12"/>
            </a:solidFill>
            <a:prstDash val="solid"/>
          </a:ln>
        </p:spPr>
      </p:sp>
      <p:sp>
        <p:nvSpPr>
          <p:cNvPr id="84" name="Shape 82"/>
          <p:cNvSpPr/>
          <p:nvPr/>
        </p:nvSpPr>
        <p:spPr>
          <a:xfrm>
            <a:off x="8970264" y="4700016"/>
            <a:ext cx="292608" cy="292608"/>
          </a:xfrm>
          <a:prstGeom prst="roundRect">
            <a:avLst>
              <a:gd name="adj" fmla="val 12500"/>
            </a:avLst>
          </a:prstGeom>
          <a:solidFill>
            <a:srgbClr val="76B900"/>
          </a:solidFill>
          <a:ln w="9525">
            <a:solidFill>
              <a:srgbClr val="76B900"/>
            </a:solidFill>
            <a:prstDash val="solid"/>
          </a:ln>
        </p:spPr>
      </p:sp>
      <p:sp>
        <p:nvSpPr>
          <p:cNvPr id="85" name="Shape 83"/>
          <p:cNvSpPr/>
          <p:nvPr/>
        </p:nvSpPr>
        <p:spPr>
          <a:xfrm>
            <a:off x="9354312" y="4700016"/>
            <a:ext cx="292608" cy="292608"/>
          </a:xfrm>
          <a:prstGeom prst="roundRect">
            <a:avLst>
              <a:gd name="adj" fmla="val 12500"/>
            </a:avLst>
          </a:prstGeom>
          <a:solidFill>
            <a:srgbClr val="76B900"/>
          </a:solidFill>
          <a:ln w="9525">
            <a:solidFill>
              <a:srgbClr val="76B900"/>
            </a:solidFill>
            <a:prstDash val="solid"/>
          </a:ln>
        </p:spPr>
      </p:sp>
      <p:sp>
        <p:nvSpPr>
          <p:cNvPr id="86" name="Shape 84"/>
          <p:cNvSpPr/>
          <p:nvPr/>
        </p:nvSpPr>
        <p:spPr>
          <a:xfrm>
            <a:off x="9738360" y="4700016"/>
            <a:ext cx="292608" cy="292608"/>
          </a:xfrm>
          <a:prstGeom prst="roundRect">
            <a:avLst>
              <a:gd name="adj" fmla="val 12500"/>
            </a:avLst>
          </a:prstGeom>
          <a:solidFill>
            <a:srgbClr val="76B900"/>
          </a:solidFill>
          <a:ln w="9525">
            <a:solidFill>
              <a:srgbClr val="76B900"/>
            </a:solidFill>
            <a:prstDash val="solid"/>
          </a:ln>
        </p:spPr>
      </p:sp>
      <p:sp>
        <p:nvSpPr>
          <p:cNvPr id="87" name="Shape 85"/>
          <p:cNvSpPr/>
          <p:nvPr/>
        </p:nvSpPr>
        <p:spPr>
          <a:xfrm>
            <a:off x="10122408" y="4700016"/>
            <a:ext cx="292608" cy="292608"/>
          </a:xfrm>
          <a:prstGeom prst="roundRect">
            <a:avLst>
              <a:gd name="adj" fmla="val 12500"/>
            </a:avLst>
          </a:prstGeom>
          <a:solidFill>
            <a:srgbClr val="76B900"/>
          </a:solidFill>
          <a:ln w="9525">
            <a:solidFill>
              <a:srgbClr val="76B900"/>
            </a:solidFill>
            <a:prstDash val="solid"/>
          </a:ln>
        </p:spPr>
      </p:sp>
      <p:sp>
        <p:nvSpPr>
          <p:cNvPr id="88" name="Shape 86"/>
          <p:cNvSpPr/>
          <p:nvPr/>
        </p:nvSpPr>
        <p:spPr>
          <a:xfrm>
            <a:off x="10506456" y="4700016"/>
            <a:ext cx="292608" cy="292608"/>
          </a:xfrm>
          <a:prstGeom prst="roundRect">
            <a:avLst>
              <a:gd name="adj" fmla="val 12500"/>
            </a:avLst>
          </a:prstGeom>
          <a:solidFill>
            <a:srgbClr val="15181D"/>
          </a:solidFill>
          <a:ln w="9525">
            <a:solidFill>
              <a:srgbClr val="4B5563"/>
            </a:solidFill>
            <a:prstDash val="solid"/>
          </a:ln>
        </p:spPr>
      </p:sp>
      <p:sp>
        <p:nvSpPr>
          <p:cNvPr id="89" name="Shape 87"/>
          <p:cNvSpPr/>
          <p:nvPr/>
        </p:nvSpPr>
        <p:spPr>
          <a:xfrm>
            <a:off x="10890504" y="4700016"/>
            <a:ext cx="292608" cy="292608"/>
          </a:xfrm>
          <a:prstGeom prst="roundRect">
            <a:avLst>
              <a:gd name="adj" fmla="val 12500"/>
            </a:avLst>
          </a:prstGeom>
          <a:solidFill>
            <a:srgbClr val="15181D"/>
          </a:solidFill>
          <a:ln w="9525">
            <a:solidFill>
              <a:srgbClr val="4B5563"/>
            </a:solidFill>
            <a:prstDash val="solid"/>
          </a:ln>
        </p:spPr>
      </p:sp>
      <p:sp>
        <p:nvSpPr>
          <p:cNvPr id="90" name="Shape 88"/>
          <p:cNvSpPr/>
          <p:nvPr/>
        </p:nvSpPr>
        <p:spPr>
          <a:xfrm>
            <a:off x="11274552" y="4700016"/>
            <a:ext cx="292608" cy="292608"/>
          </a:xfrm>
          <a:prstGeom prst="roundRect">
            <a:avLst>
              <a:gd name="adj" fmla="val 12500"/>
            </a:avLst>
          </a:prstGeom>
          <a:solidFill>
            <a:srgbClr val="15181D"/>
          </a:solidFill>
          <a:ln w="9525">
            <a:solidFill>
              <a:srgbClr val="4B5563"/>
            </a:solidFill>
            <a:prstDash val="solid"/>
          </a:ln>
        </p:spPr>
      </p:sp>
      <p:sp>
        <p:nvSpPr>
          <p:cNvPr id="91" name="Text 89"/>
          <p:cNvSpPr txBox="1"/>
          <p:nvPr/>
        </p:nvSpPr>
        <p:spPr>
          <a:xfrm>
            <a:off x="7818120" y="5129784"/>
            <a:ext cx="3749040" cy="320040"/>
          </a:xfrm>
          <a:prstGeom prst="rect">
            <a:avLst/>
          </a:prstGeom>
          <a:noFill/>
          <a:ln/>
        </p:spPr>
        <p:txBody>
          <a:bodyPr wrap="square" lIns="0" tIns="0" rIns="0" bIns="0" rtlCol="0" anchor="t"/>
          <a:lstStyle/>
          <a:p>
            <a:pPr indent="0" marL="0">
              <a:buNone/>
            </a:pPr>
            <a:r>
              <a:rPr lang="en-US" sz="1200" dirty="0">
                <a:solidFill>
                  <a:srgbClr val="8B949E"/>
                </a:solidFill>
                <a:latin typeface="Consolas" pitchFamily="34" charset="0"/>
                <a:ea typeface="Consolas" pitchFamily="34" charset="-122"/>
                <a:cs typeface="Consolas" pitchFamily="34" charset="-120"/>
              </a:rPr>
              <a:t>idx = blockIdx.x × blockDim.x + threadIdx.x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548640"/>
            <a:ext cx="91440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Segoe UI Semibold" pitchFamily="34" charset="0"/>
                <a:ea typeface="Segoe UI Semibold" pitchFamily="34" charset="-122"/>
                <a:cs typeface="Segoe UI Semibold" pitchFamily="34" charset="-120"/>
              </a:rPr>
              <a:t>Same program, same GPU — two opposite answers</a:t>
            </a:r>
            <a:endParaRPr lang="en-US" sz="3000" dirty="0"/>
          </a:p>
        </p:txBody>
      </p:sp>
      <p:sp>
        <p:nvSpPr>
          <p:cNvPr id="3" name="Shape 1"/>
          <p:cNvSpPr/>
          <p:nvPr/>
        </p:nvSpPr>
        <p:spPr>
          <a:xfrm>
            <a:off x="548640" y="1600200"/>
            <a:ext cx="5394960" cy="3246120"/>
          </a:xfrm>
          <a:prstGeom prst="roundRect">
            <a:avLst>
              <a:gd name="adj" fmla="val 2254"/>
            </a:avLst>
          </a:prstGeom>
          <a:solidFill>
            <a:srgbClr val="22262D"/>
          </a:solidFill>
          <a:ln w="6350">
            <a:solidFill>
              <a:srgbClr val="22262D"/>
            </a:solidFill>
            <a:prstDash val="solid"/>
          </a:ln>
        </p:spPr>
      </p:sp>
      <p:sp>
        <p:nvSpPr>
          <p:cNvPr id="4" name="Shape 2"/>
          <p:cNvSpPr/>
          <p:nvPr/>
        </p:nvSpPr>
        <p:spPr>
          <a:xfrm>
            <a:off x="6245352" y="1600200"/>
            <a:ext cx="5394960" cy="3246120"/>
          </a:xfrm>
          <a:prstGeom prst="roundRect">
            <a:avLst>
              <a:gd name="adj" fmla="val 2254"/>
            </a:avLst>
          </a:prstGeom>
          <a:solidFill>
            <a:srgbClr val="22262D"/>
          </a:solidFill>
          <a:ln w="6350">
            <a:solidFill>
              <a:srgbClr val="22262D"/>
            </a:solidFill>
            <a:prstDash val="solid"/>
          </a:ln>
        </p:spPr>
      </p:sp>
      <p:sp>
        <p:nvSpPr>
          <p:cNvPr id="5" name="Text 3"/>
          <p:cNvSpPr txBox="1"/>
          <p:nvPr/>
        </p:nvSpPr>
        <p:spPr>
          <a:xfrm>
            <a:off x="868680" y="1828800"/>
            <a:ext cx="4572000" cy="274320"/>
          </a:xfrm>
          <a:prstGeom prst="rect">
            <a:avLst/>
          </a:prstGeom>
          <a:noFill/>
          <a:ln/>
        </p:spPr>
        <p:txBody>
          <a:bodyPr wrap="square" lIns="0" tIns="0" rIns="0" bIns="0" rtlCol="0" anchor="t"/>
          <a:lstStyle/>
          <a:p>
            <a:pPr indent="0" marL="0">
              <a:buNone/>
            </a:pPr>
            <a:r>
              <a:rPr lang="en-US" sz="1200" b="1" spc="150" kern="0" dirty="0">
                <a:solidFill>
                  <a:srgbClr val="76B900"/>
                </a:solidFill>
                <a:latin typeface="Segoe UI Semibold" pitchFamily="34" charset="0"/>
                <a:ea typeface="Segoe UI Semibold" pitchFamily="34" charset="-122"/>
                <a:cs typeface="Segoe UI Semibold" pitchFamily="34" charset="-120"/>
              </a:rPr>
              <a:t>GPU KERNEL ONLY</a:t>
            </a:r>
            <a:endParaRPr lang="en-US" sz="1200" dirty="0"/>
          </a:p>
        </p:txBody>
      </p:sp>
      <p:sp>
        <p:nvSpPr>
          <p:cNvPr id="6" name="Text 4"/>
          <p:cNvSpPr txBox="1"/>
          <p:nvPr/>
        </p:nvSpPr>
        <p:spPr>
          <a:xfrm>
            <a:off x="868680" y="2148840"/>
            <a:ext cx="4937760" cy="1097280"/>
          </a:xfrm>
          <a:prstGeom prst="rect">
            <a:avLst/>
          </a:prstGeom>
          <a:noFill/>
          <a:ln/>
        </p:spPr>
        <p:txBody>
          <a:bodyPr wrap="square" lIns="0" tIns="0" rIns="0" bIns="0" rtlCol="0" anchor="ctr"/>
          <a:lstStyle/>
          <a:p>
            <a:pPr indent="0" marL="0">
              <a:buNone/>
            </a:pPr>
            <a:r>
              <a:rPr lang="en-US" sz="6000" b="1" dirty="0">
                <a:solidFill>
                  <a:srgbClr val="76B900"/>
                </a:solidFill>
                <a:latin typeface="Segoe UI Semibold" pitchFamily="34" charset="0"/>
                <a:ea typeface="Segoe UI Semibold" pitchFamily="34" charset="-122"/>
                <a:cs typeface="Segoe UI Semibold" pitchFamily="34" charset="-120"/>
              </a:rPr>
              <a:t>53.8× faster</a:t>
            </a:r>
            <a:endParaRPr lang="en-US" sz="6000" dirty="0"/>
          </a:p>
        </p:txBody>
      </p:sp>
      <p:sp>
        <p:nvSpPr>
          <p:cNvPr id="7" name="Text 5"/>
          <p:cNvSpPr txBox="1"/>
          <p:nvPr/>
        </p:nvSpPr>
        <p:spPr>
          <a:xfrm>
            <a:off x="868680" y="3337560"/>
            <a:ext cx="4754880" cy="411480"/>
          </a:xfrm>
          <a:prstGeom prst="rect">
            <a:avLst/>
          </a:prstGeom>
          <a:noFill/>
          <a:ln/>
        </p:spPr>
        <p:txBody>
          <a:bodyPr wrap="square" lIns="0" tIns="0" rIns="0" bIns="0" rtlCol="0" anchor="t"/>
          <a:lstStyle/>
          <a:p>
            <a:pPr indent="0" marL="0">
              <a:buNone/>
            </a:pPr>
            <a:r>
              <a:rPr lang="en-US" sz="1600" dirty="0">
                <a:solidFill>
                  <a:srgbClr val="C9D1D9"/>
                </a:solidFill>
                <a:latin typeface="Segoe UI" pitchFamily="34" charset="0"/>
                <a:ea typeface="Segoe UI" pitchFamily="34" charset="-122"/>
                <a:cs typeface="Segoe UI" pitchFamily="34" charset="-120"/>
              </a:rPr>
              <a:t>than one CPU core at N = 25 million</a:t>
            </a:r>
            <a:endParaRPr lang="en-US" sz="1600" dirty="0"/>
          </a:p>
        </p:txBody>
      </p:sp>
      <p:sp>
        <p:nvSpPr>
          <p:cNvPr id="8" name="Text 6"/>
          <p:cNvSpPr txBox="1"/>
          <p:nvPr/>
        </p:nvSpPr>
        <p:spPr>
          <a:xfrm>
            <a:off x="6565392" y="1828800"/>
            <a:ext cx="4846320" cy="274320"/>
          </a:xfrm>
          <a:prstGeom prst="rect">
            <a:avLst/>
          </a:prstGeom>
          <a:noFill/>
          <a:ln/>
        </p:spPr>
        <p:txBody>
          <a:bodyPr wrap="square" lIns="0" tIns="0" rIns="0" bIns="0" rtlCol="0" anchor="t"/>
          <a:lstStyle/>
          <a:p>
            <a:pPr indent="0" marL="0">
              <a:buNone/>
            </a:pPr>
            <a:r>
              <a:rPr lang="en-US" sz="1200" b="1" spc="150" kern="0" dirty="0">
                <a:solidFill>
                  <a:srgbClr val="E8710A"/>
                </a:solidFill>
                <a:latin typeface="Segoe UI Semibold" pitchFamily="34" charset="0"/>
                <a:ea typeface="Segoe UI Semibold" pitchFamily="34" charset="-122"/>
                <a:cs typeface="Segoe UI Semibold" pitchFamily="34" charset="-120"/>
              </a:rPr>
              <a:t>GPU END TO END (WITH PCIe COPIES)</a:t>
            </a:r>
            <a:endParaRPr lang="en-US" sz="1200" dirty="0"/>
          </a:p>
        </p:txBody>
      </p:sp>
      <p:sp>
        <p:nvSpPr>
          <p:cNvPr id="9" name="Text 7"/>
          <p:cNvSpPr txBox="1"/>
          <p:nvPr/>
        </p:nvSpPr>
        <p:spPr>
          <a:xfrm>
            <a:off x="6565392" y="2148840"/>
            <a:ext cx="4937760" cy="1097280"/>
          </a:xfrm>
          <a:prstGeom prst="rect">
            <a:avLst/>
          </a:prstGeom>
          <a:noFill/>
          <a:ln/>
        </p:spPr>
        <p:txBody>
          <a:bodyPr wrap="square" lIns="0" tIns="0" rIns="0" bIns="0" rtlCol="0" anchor="ctr"/>
          <a:lstStyle/>
          <a:p>
            <a:pPr indent="0" marL="0">
              <a:buNone/>
            </a:pPr>
            <a:r>
              <a:rPr lang="en-US" sz="6000" b="1" dirty="0">
                <a:solidFill>
                  <a:srgbClr val="E8710A"/>
                </a:solidFill>
                <a:latin typeface="Segoe UI Semibold" pitchFamily="34" charset="0"/>
                <a:ea typeface="Segoe UI Semibold" pitchFamily="34" charset="-122"/>
                <a:cs typeface="Segoe UI Semibold" pitchFamily="34" charset="-120"/>
              </a:rPr>
              <a:t>1.86× slower</a:t>
            </a:r>
            <a:endParaRPr lang="en-US" sz="6000" dirty="0"/>
          </a:p>
        </p:txBody>
      </p:sp>
      <p:sp>
        <p:nvSpPr>
          <p:cNvPr id="10" name="Text 8"/>
          <p:cNvSpPr txBox="1"/>
          <p:nvPr/>
        </p:nvSpPr>
        <p:spPr>
          <a:xfrm>
            <a:off x="6565392" y="3337560"/>
            <a:ext cx="4754880" cy="411480"/>
          </a:xfrm>
          <a:prstGeom prst="rect">
            <a:avLst/>
          </a:prstGeom>
          <a:noFill/>
          <a:ln/>
        </p:spPr>
        <p:txBody>
          <a:bodyPr wrap="square" lIns="0" tIns="0" rIns="0" bIns="0" rtlCol="0" anchor="t"/>
          <a:lstStyle/>
          <a:p>
            <a:pPr indent="0" marL="0">
              <a:buNone/>
            </a:pPr>
            <a:r>
              <a:rPr lang="en-US" sz="1600" dirty="0">
                <a:solidFill>
                  <a:srgbClr val="C9D1D9"/>
                </a:solidFill>
                <a:latin typeface="Segoe UI" pitchFamily="34" charset="0"/>
                <a:ea typeface="Segoe UI" pitchFamily="34" charset="-122"/>
                <a:cs typeface="Segoe UI" pitchFamily="34" charset="-120"/>
              </a:rPr>
              <a:t>than the same CPU core at N = 25 million</a:t>
            </a:r>
            <a:endParaRPr lang="en-US" sz="1600" dirty="0"/>
          </a:p>
        </p:txBody>
      </p:sp>
      <p:sp>
        <p:nvSpPr>
          <p:cNvPr id="11" name="Text 9"/>
          <p:cNvSpPr txBox="1"/>
          <p:nvPr/>
        </p:nvSpPr>
        <p:spPr>
          <a:xfrm>
            <a:off x="868680" y="4032504"/>
            <a:ext cx="1188720" cy="274320"/>
          </a:xfrm>
          <a:prstGeom prst="rect">
            <a:avLst/>
          </a:prstGeom>
          <a:noFill/>
          <a:ln/>
        </p:spPr>
        <p:txBody>
          <a:bodyPr wrap="square" lIns="0" tIns="0" rIns="0" bIns="0" rtlCol="0" anchor="ctr"/>
          <a:lstStyle/>
          <a:p>
            <a:pPr indent="0" marL="0">
              <a:buNone/>
            </a:pPr>
            <a:r>
              <a:rPr lang="en-US" sz="1200" dirty="0">
                <a:solidFill>
                  <a:srgbClr val="8B949E"/>
                </a:solidFill>
                <a:latin typeface="Segoe UI" pitchFamily="34" charset="0"/>
                <a:ea typeface="Segoe UI" pitchFamily="34" charset="-122"/>
                <a:cs typeface="Segoe UI" pitchFamily="34" charset="-120"/>
              </a:rPr>
              <a:t>CPU</a:t>
            </a:r>
            <a:endParaRPr lang="en-US" sz="1200" dirty="0"/>
          </a:p>
        </p:txBody>
      </p:sp>
      <p:sp>
        <p:nvSpPr>
          <p:cNvPr id="12" name="Shape 10"/>
          <p:cNvSpPr/>
          <p:nvPr/>
        </p:nvSpPr>
        <p:spPr>
          <a:xfrm>
            <a:off x="2148840" y="4069080"/>
            <a:ext cx="1572303" cy="201168"/>
          </a:xfrm>
          <a:prstGeom prst="rect">
            <a:avLst/>
          </a:prstGeom>
          <a:solidFill>
            <a:srgbClr val="D33A2C"/>
          </a:solidFill>
          <a:ln w="6350">
            <a:solidFill>
              <a:srgbClr val="D33A2C"/>
            </a:solidFill>
            <a:prstDash val="solid"/>
          </a:ln>
        </p:spPr>
      </p:sp>
      <p:sp>
        <p:nvSpPr>
          <p:cNvPr id="13" name="Text 11"/>
          <p:cNvSpPr txBox="1"/>
          <p:nvPr/>
        </p:nvSpPr>
        <p:spPr>
          <a:xfrm>
            <a:off x="3812583" y="4032504"/>
            <a:ext cx="1005840" cy="274320"/>
          </a:xfrm>
          <a:prstGeom prst="rect">
            <a:avLst/>
          </a:prstGeom>
          <a:noFill/>
          <a:ln/>
        </p:spPr>
        <p:txBody>
          <a:bodyPr wrap="square" lIns="0" tIns="0" rIns="0" bIns="0" rtlCol="0" anchor="ctr"/>
          <a:lstStyle/>
          <a:p>
            <a:pPr indent="0" marL="0">
              <a:buNone/>
            </a:pPr>
            <a:r>
              <a:rPr lang="en-US" sz="1200" dirty="0">
                <a:solidFill>
                  <a:srgbClr val="C9D1D9"/>
                </a:solidFill>
                <a:latin typeface="Segoe UI" pitchFamily="34" charset="0"/>
                <a:ea typeface="Segoe UI" pitchFamily="34" charset="-122"/>
                <a:cs typeface="Segoe UI" pitchFamily="34" charset="-120"/>
              </a:rPr>
              <a:t>125.05 ms</a:t>
            </a:r>
            <a:endParaRPr lang="en-US" sz="1200" dirty="0"/>
          </a:p>
        </p:txBody>
      </p:sp>
      <p:sp>
        <p:nvSpPr>
          <p:cNvPr id="14" name="Text 12"/>
          <p:cNvSpPr txBox="1"/>
          <p:nvPr/>
        </p:nvSpPr>
        <p:spPr>
          <a:xfrm>
            <a:off x="868680" y="4379976"/>
            <a:ext cx="1188720" cy="274320"/>
          </a:xfrm>
          <a:prstGeom prst="rect">
            <a:avLst/>
          </a:prstGeom>
          <a:noFill/>
          <a:ln/>
        </p:spPr>
        <p:txBody>
          <a:bodyPr wrap="square" lIns="0" tIns="0" rIns="0" bIns="0" rtlCol="0" anchor="ctr"/>
          <a:lstStyle/>
          <a:p>
            <a:pPr indent="0" marL="0">
              <a:buNone/>
            </a:pPr>
            <a:r>
              <a:rPr lang="en-US" sz="1200" dirty="0">
                <a:solidFill>
                  <a:srgbClr val="8B949E"/>
                </a:solidFill>
                <a:latin typeface="Segoe UI" pitchFamily="34" charset="0"/>
                <a:ea typeface="Segoe UI" pitchFamily="34" charset="-122"/>
                <a:cs typeface="Segoe UI" pitchFamily="34" charset="-120"/>
              </a:rPr>
              <a:t>GPU kernel</a:t>
            </a:r>
            <a:endParaRPr lang="en-US" sz="1200" dirty="0"/>
          </a:p>
        </p:txBody>
      </p:sp>
      <p:sp>
        <p:nvSpPr>
          <p:cNvPr id="15" name="Shape 13"/>
          <p:cNvSpPr/>
          <p:nvPr/>
        </p:nvSpPr>
        <p:spPr>
          <a:xfrm>
            <a:off x="2148840" y="4416552"/>
            <a:ext cx="36576" cy="201168"/>
          </a:xfrm>
          <a:prstGeom prst="rect">
            <a:avLst/>
          </a:prstGeom>
          <a:solidFill>
            <a:srgbClr val="76B900"/>
          </a:solidFill>
          <a:ln w="6350">
            <a:solidFill>
              <a:srgbClr val="76B900"/>
            </a:solidFill>
            <a:prstDash val="solid"/>
          </a:ln>
        </p:spPr>
      </p:sp>
      <p:sp>
        <p:nvSpPr>
          <p:cNvPr id="16" name="Text 14"/>
          <p:cNvSpPr txBox="1"/>
          <p:nvPr/>
        </p:nvSpPr>
        <p:spPr>
          <a:xfrm>
            <a:off x="2276856" y="4379976"/>
            <a:ext cx="1005840" cy="274320"/>
          </a:xfrm>
          <a:prstGeom prst="rect">
            <a:avLst/>
          </a:prstGeom>
          <a:noFill/>
          <a:ln/>
        </p:spPr>
        <p:txBody>
          <a:bodyPr wrap="square" lIns="0" tIns="0" rIns="0" bIns="0" rtlCol="0" anchor="ctr"/>
          <a:lstStyle/>
          <a:p>
            <a:pPr indent="0" marL="0">
              <a:buNone/>
            </a:pPr>
            <a:r>
              <a:rPr lang="en-US" sz="1200" dirty="0">
                <a:solidFill>
                  <a:srgbClr val="C9D1D9"/>
                </a:solidFill>
                <a:latin typeface="Segoe UI" pitchFamily="34" charset="0"/>
                <a:ea typeface="Segoe UI" pitchFamily="34" charset="-122"/>
                <a:cs typeface="Segoe UI" pitchFamily="34" charset="-120"/>
              </a:rPr>
              <a:t>2.33 ms</a:t>
            </a:r>
            <a:endParaRPr lang="en-US" sz="1200" dirty="0"/>
          </a:p>
        </p:txBody>
      </p:sp>
      <p:sp>
        <p:nvSpPr>
          <p:cNvPr id="17" name="Text 15"/>
          <p:cNvSpPr txBox="1"/>
          <p:nvPr/>
        </p:nvSpPr>
        <p:spPr>
          <a:xfrm>
            <a:off x="6565392" y="4032504"/>
            <a:ext cx="1188720" cy="274320"/>
          </a:xfrm>
          <a:prstGeom prst="rect">
            <a:avLst/>
          </a:prstGeom>
          <a:noFill/>
          <a:ln/>
        </p:spPr>
        <p:txBody>
          <a:bodyPr wrap="square" lIns="0" tIns="0" rIns="0" bIns="0" rtlCol="0" anchor="ctr"/>
          <a:lstStyle/>
          <a:p>
            <a:pPr indent="0" marL="0">
              <a:buNone/>
            </a:pPr>
            <a:r>
              <a:rPr lang="en-US" sz="1200" dirty="0">
                <a:solidFill>
                  <a:srgbClr val="8B949E"/>
                </a:solidFill>
                <a:latin typeface="Segoe UI" pitchFamily="34" charset="0"/>
                <a:ea typeface="Segoe UI" pitchFamily="34" charset="-122"/>
                <a:cs typeface="Segoe UI" pitchFamily="34" charset="-120"/>
              </a:rPr>
              <a:t>CPU</a:t>
            </a:r>
            <a:endParaRPr lang="en-US" sz="1200" dirty="0"/>
          </a:p>
        </p:txBody>
      </p:sp>
      <p:sp>
        <p:nvSpPr>
          <p:cNvPr id="18" name="Shape 16"/>
          <p:cNvSpPr/>
          <p:nvPr/>
        </p:nvSpPr>
        <p:spPr>
          <a:xfrm>
            <a:off x="7845552" y="4069080"/>
            <a:ext cx="1572303" cy="201168"/>
          </a:xfrm>
          <a:prstGeom prst="rect">
            <a:avLst/>
          </a:prstGeom>
          <a:solidFill>
            <a:srgbClr val="D33A2C"/>
          </a:solidFill>
          <a:ln w="6350">
            <a:solidFill>
              <a:srgbClr val="D33A2C"/>
            </a:solidFill>
            <a:prstDash val="solid"/>
          </a:ln>
        </p:spPr>
      </p:sp>
      <p:sp>
        <p:nvSpPr>
          <p:cNvPr id="19" name="Text 17"/>
          <p:cNvSpPr txBox="1"/>
          <p:nvPr/>
        </p:nvSpPr>
        <p:spPr>
          <a:xfrm>
            <a:off x="9509295" y="4032504"/>
            <a:ext cx="1005840" cy="274320"/>
          </a:xfrm>
          <a:prstGeom prst="rect">
            <a:avLst/>
          </a:prstGeom>
          <a:noFill/>
          <a:ln/>
        </p:spPr>
        <p:txBody>
          <a:bodyPr wrap="square" lIns="0" tIns="0" rIns="0" bIns="0" rtlCol="0" anchor="ctr"/>
          <a:lstStyle/>
          <a:p>
            <a:pPr indent="0" marL="0">
              <a:buNone/>
            </a:pPr>
            <a:r>
              <a:rPr lang="en-US" sz="1200" dirty="0">
                <a:solidFill>
                  <a:srgbClr val="C9D1D9"/>
                </a:solidFill>
                <a:latin typeface="Segoe UI" pitchFamily="34" charset="0"/>
                <a:ea typeface="Segoe UI" pitchFamily="34" charset="-122"/>
                <a:cs typeface="Segoe UI" pitchFamily="34" charset="-120"/>
              </a:rPr>
              <a:t>125.05 ms</a:t>
            </a:r>
            <a:endParaRPr lang="en-US" sz="1200" dirty="0"/>
          </a:p>
        </p:txBody>
      </p:sp>
      <p:sp>
        <p:nvSpPr>
          <p:cNvPr id="20" name="Text 18"/>
          <p:cNvSpPr txBox="1"/>
          <p:nvPr/>
        </p:nvSpPr>
        <p:spPr>
          <a:xfrm>
            <a:off x="6565392" y="4379976"/>
            <a:ext cx="1188720" cy="274320"/>
          </a:xfrm>
          <a:prstGeom prst="rect">
            <a:avLst/>
          </a:prstGeom>
          <a:noFill/>
          <a:ln/>
        </p:spPr>
        <p:txBody>
          <a:bodyPr wrap="square" lIns="0" tIns="0" rIns="0" bIns="0" rtlCol="0" anchor="ctr"/>
          <a:lstStyle/>
          <a:p>
            <a:pPr indent="0" marL="0">
              <a:buNone/>
            </a:pPr>
            <a:r>
              <a:rPr lang="en-US" sz="1200" dirty="0">
                <a:solidFill>
                  <a:srgbClr val="8B949E"/>
                </a:solidFill>
                <a:latin typeface="Segoe UI" pitchFamily="34" charset="0"/>
                <a:ea typeface="Segoe UI" pitchFamily="34" charset="-122"/>
                <a:cs typeface="Segoe UI" pitchFamily="34" charset="-120"/>
              </a:rPr>
              <a:t>GPU total</a:t>
            </a:r>
            <a:endParaRPr lang="en-US" sz="1200" dirty="0"/>
          </a:p>
        </p:txBody>
      </p:sp>
      <p:sp>
        <p:nvSpPr>
          <p:cNvPr id="21" name="Shape 19"/>
          <p:cNvSpPr/>
          <p:nvPr/>
        </p:nvSpPr>
        <p:spPr>
          <a:xfrm>
            <a:off x="7845552" y="4416552"/>
            <a:ext cx="2926080" cy="201168"/>
          </a:xfrm>
          <a:prstGeom prst="rect">
            <a:avLst/>
          </a:prstGeom>
          <a:solidFill>
            <a:srgbClr val="E8710A"/>
          </a:solidFill>
          <a:ln w="6350">
            <a:solidFill>
              <a:srgbClr val="E8710A"/>
            </a:solidFill>
            <a:prstDash val="solid"/>
          </a:ln>
        </p:spPr>
      </p:sp>
      <p:sp>
        <p:nvSpPr>
          <p:cNvPr id="22" name="Text 20"/>
          <p:cNvSpPr txBox="1"/>
          <p:nvPr/>
        </p:nvSpPr>
        <p:spPr>
          <a:xfrm>
            <a:off x="10863072" y="4379976"/>
            <a:ext cx="1005840" cy="274320"/>
          </a:xfrm>
          <a:prstGeom prst="rect">
            <a:avLst/>
          </a:prstGeom>
          <a:noFill/>
          <a:ln/>
        </p:spPr>
        <p:txBody>
          <a:bodyPr wrap="square" lIns="0" tIns="0" rIns="0" bIns="0" rtlCol="0" anchor="ctr"/>
          <a:lstStyle/>
          <a:p>
            <a:pPr indent="0" marL="0">
              <a:buNone/>
            </a:pPr>
            <a:r>
              <a:rPr lang="en-US" sz="1200" dirty="0">
                <a:solidFill>
                  <a:srgbClr val="C9D1D9"/>
                </a:solidFill>
                <a:latin typeface="Segoe UI" pitchFamily="34" charset="0"/>
                <a:ea typeface="Segoe UI" pitchFamily="34" charset="-122"/>
                <a:cs typeface="Segoe UI" pitchFamily="34" charset="-120"/>
              </a:rPr>
              <a:t>232.72 ms</a:t>
            </a:r>
            <a:endParaRPr lang="en-US" sz="1200" dirty="0"/>
          </a:p>
        </p:txBody>
      </p:sp>
      <p:sp>
        <p:nvSpPr>
          <p:cNvPr id="23" name="Text 21"/>
          <p:cNvSpPr txBox="1"/>
          <p:nvPr/>
        </p:nvSpPr>
        <p:spPr>
          <a:xfrm>
            <a:off x="548640" y="5166360"/>
            <a:ext cx="11064240" cy="8229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The gap is the data transfer: </a:t>
            </a:r>
            <a:pPr indent="0" marL="0">
              <a:buNone/>
            </a:pPr>
            <a:r>
              <a:rPr lang="en-US" sz="1800" dirty="0">
                <a:solidFill>
                  <a:srgbClr val="C9D1D9"/>
                </a:solidFill>
                <a:latin typeface="Segoe UI" pitchFamily="34" charset="0"/>
                <a:ea typeface="Segoe UI" pitchFamily="34" charset="-122"/>
                <a:cs typeface="Segoe UI" pitchFamily="34" charset="-120"/>
              </a:rPr>
              <a:t>99 % of the GPU's time went into copying data over PCIe. This presentation shows how we measured both numbers, and why they differ.</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Fully parallel, but very little work per element</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PROBLEM AND AIM</a:t>
            </a:r>
            <a:endParaRPr lang="en-US" sz="1100" dirty="0"/>
          </a:p>
        </p:txBody>
      </p:sp>
      <p:sp>
        <p:nvSpPr>
          <p:cNvPr id="4" name="Shape 2"/>
          <p:cNvSpPr/>
          <p:nvPr/>
        </p:nvSpPr>
        <p:spPr>
          <a:xfrm>
            <a:off x="548640" y="1463040"/>
            <a:ext cx="5486400" cy="1417320"/>
          </a:xfrm>
          <a:prstGeom prst="roundRect">
            <a:avLst>
              <a:gd name="adj" fmla="val 5161"/>
            </a:avLst>
          </a:prstGeom>
          <a:solidFill>
            <a:srgbClr val="1E2227"/>
          </a:solidFill>
          <a:ln w="6350">
            <a:solidFill>
              <a:srgbClr val="1E2227"/>
            </a:solidFill>
            <a:prstDash val="solid"/>
          </a:ln>
          <a:effectLst>
            <a:outerShdw sx="100000" sy="100000" kx="0" ky="0" algn="bl" rotWithShape="0" blurRad="88900" dist="25400" dir="5400000">
              <a:srgbClr val="000000">
                <a:alpha val="12000"/>
              </a:srgbClr>
            </a:outerShdw>
          </a:effectLst>
        </p:spPr>
      </p:sp>
      <p:sp>
        <p:nvSpPr>
          <p:cNvPr id="5" name="Text 3"/>
          <p:cNvSpPr txBox="1"/>
          <p:nvPr/>
        </p:nvSpPr>
        <p:spPr>
          <a:xfrm>
            <a:off x="777240" y="1645920"/>
            <a:ext cx="5120640" cy="1097280"/>
          </a:xfrm>
          <a:prstGeom prst="rect">
            <a:avLst/>
          </a:prstGeom>
          <a:noFill/>
          <a:ln/>
        </p:spPr>
        <p:txBody>
          <a:bodyPr wrap="square" lIns="0" tIns="0" rIns="0" bIns="0" rtlCol="0" anchor="t"/>
          <a:lstStyle/>
          <a:p>
            <a:pPr indent="0" marL="0">
              <a:lnSpc>
                <a:spcPct val="110000"/>
              </a:lnSpc>
              <a:buNone/>
            </a:pPr>
            <a:r>
              <a:rPr lang="en-US" sz="2000" dirty="0">
                <a:solidFill>
                  <a:srgbClr val="E6EDF3"/>
                </a:solidFill>
                <a:latin typeface="Consolas" pitchFamily="34" charset="0"/>
                <a:ea typeface="Consolas" pitchFamily="34" charset="-122"/>
                <a:cs typeface="Consolas" pitchFamily="34" charset="-120"/>
              </a:rPr>
              <a:t>C_add[i] = A[i] + B[i]</a:t>
            </a:r>
            <a:endParaRPr lang="en-US" sz="2000" dirty="0"/>
          </a:p>
          <a:p>
            <a:pPr indent="0" marL="0">
              <a:lnSpc>
                <a:spcPct val="110000"/>
              </a:lnSpc>
              <a:buNone/>
            </a:pPr>
            <a:r>
              <a:rPr lang="en-US" sz="2000" dirty="0">
                <a:solidFill>
                  <a:srgbClr val="E6EDF3"/>
                </a:solidFill>
                <a:latin typeface="Consolas" pitchFamily="34" charset="0"/>
                <a:ea typeface="Consolas" pitchFamily="34" charset="-122"/>
                <a:cs typeface="Consolas" pitchFamily="34" charset="-120"/>
              </a:rPr>
              <a:t>C_mul[i] = A[i] × B[i]</a:t>
            </a:r>
            <a:endParaRPr lang="en-US" sz="2000" dirty="0"/>
          </a:p>
          <a:p>
            <a:pPr indent="0" marL="0">
              <a:lnSpc>
                <a:spcPct val="110000"/>
              </a:lnSpc>
              <a:buNone/>
            </a:pPr>
            <a:r>
              <a:rPr lang="en-US" sz="2000" dirty="0">
                <a:solidFill>
                  <a:srgbClr val="8B949E"/>
                </a:solidFill>
                <a:latin typeface="Consolas" pitchFamily="34" charset="0"/>
                <a:ea typeface="Consolas" pitchFamily="34" charset="-122"/>
                <a:cs typeface="Consolas" pitchFamily="34" charset="-120"/>
              </a:rPr>
              <a:t>        for 0 ≤ i &lt; N,  FP32</a:t>
            </a:r>
            <a:endParaRPr lang="en-US" sz="2000" dirty="0"/>
          </a:p>
        </p:txBody>
      </p:sp>
      <p:sp>
        <p:nvSpPr>
          <p:cNvPr id="6" name="Shape 4"/>
          <p:cNvSpPr/>
          <p:nvPr/>
        </p:nvSpPr>
        <p:spPr>
          <a:xfrm>
            <a:off x="548640" y="3108960"/>
            <a:ext cx="5486400" cy="1234440"/>
          </a:xfrm>
          <a:prstGeom prst="roundRect">
            <a:avLst>
              <a:gd name="adj" fmla="val 5926"/>
            </a:avLst>
          </a:prstGeom>
          <a:solidFill>
            <a:srgbClr val="F3F5F7"/>
          </a:solidFill>
          <a:ln w="6350">
            <a:solidFill>
              <a:srgbClr val="F3F5F7"/>
            </a:solidFill>
            <a:prstDash val="solid"/>
          </a:ln>
        </p:spPr>
      </p:sp>
      <p:sp>
        <p:nvSpPr>
          <p:cNvPr id="7" name="Text 5"/>
          <p:cNvSpPr txBox="1"/>
          <p:nvPr/>
        </p:nvSpPr>
        <p:spPr>
          <a:xfrm>
            <a:off x="777240" y="3218688"/>
            <a:ext cx="5074920" cy="1051560"/>
          </a:xfrm>
          <a:prstGeom prst="rect">
            <a:avLst/>
          </a:prstGeom>
          <a:noFill/>
          <a:ln/>
        </p:spPr>
        <p:txBody>
          <a:bodyPr wrap="square" lIns="0" tIns="0" rIns="0" bIns="0" rtlCol="0" anchor="t"/>
          <a:lstStyle/>
          <a:p>
            <a:pPr indent="0" marL="0">
              <a:buNone/>
            </a:pPr>
            <a:r>
              <a:rPr lang="en-US" sz="1400" b="1" dirty="0">
                <a:solidFill>
                  <a:srgbClr val="15181D"/>
                </a:solidFill>
                <a:latin typeface="Segoe UI" pitchFamily="34" charset="0"/>
                <a:ea typeface="Segoe UI" pitchFamily="34" charset="-122"/>
                <a:cs typeface="Segoe UI" pitchFamily="34" charset="-120"/>
              </a:rPr>
              <a:t>No dependence between elements</a:t>
            </a:r>
            <a:endParaRPr lang="en-US" sz="1400" dirty="0"/>
          </a:p>
          <a:p>
            <a:pPr indent="0" marL="0">
              <a:buNone/>
            </a:pPr>
            <a:r>
              <a:rPr lang="en-US" sz="1400" dirty="0">
                <a:solidFill>
                  <a:srgbClr val="2D333B"/>
                </a:solidFill>
                <a:latin typeface="Segoe UI" pitchFamily="34" charset="0"/>
                <a:ea typeface="Segoe UI" pitchFamily="34" charset="-122"/>
                <a:cs typeface="Segoe UI" pitchFamily="34" charset="-120"/>
              </a:rPr>
              <a:t>Each output uses only the two inputs at the same index: no sharing, no ordering, no reduction. All N elements can be computed at once.</a:t>
            </a:r>
            <a:endParaRPr lang="en-US" sz="1400" dirty="0"/>
          </a:p>
        </p:txBody>
      </p:sp>
      <p:sp>
        <p:nvSpPr>
          <p:cNvPr id="8" name="Shape 6"/>
          <p:cNvSpPr/>
          <p:nvPr/>
        </p:nvSpPr>
        <p:spPr>
          <a:xfrm>
            <a:off x="548640" y="4572000"/>
            <a:ext cx="5486400" cy="1645920"/>
          </a:xfrm>
          <a:prstGeom prst="roundRect">
            <a:avLst>
              <a:gd name="adj" fmla="val 4444"/>
            </a:avLst>
          </a:prstGeom>
          <a:solidFill>
            <a:srgbClr val="EEF6E0"/>
          </a:solidFill>
          <a:ln w="6350">
            <a:solidFill>
              <a:srgbClr val="EEF6E0"/>
            </a:solidFill>
            <a:prstDash val="solid"/>
          </a:ln>
        </p:spPr>
      </p:sp>
      <p:sp>
        <p:nvSpPr>
          <p:cNvPr id="9" name="Text 7"/>
          <p:cNvSpPr txBox="1"/>
          <p:nvPr/>
        </p:nvSpPr>
        <p:spPr>
          <a:xfrm>
            <a:off x="777240" y="4709160"/>
            <a:ext cx="1828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AIM</a:t>
            </a:r>
            <a:endParaRPr lang="en-US" sz="1100" dirty="0"/>
          </a:p>
        </p:txBody>
      </p:sp>
      <p:sp>
        <p:nvSpPr>
          <p:cNvPr id="10" name="Text 8"/>
          <p:cNvSpPr txBox="1"/>
          <p:nvPr/>
        </p:nvSpPr>
        <p:spPr>
          <a:xfrm>
            <a:off x="777240" y="4983480"/>
            <a:ext cx="5074920" cy="640080"/>
          </a:xfrm>
          <a:prstGeom prst="rect">
            <a:avLst/>
          </a:prstGeom>
          <a:noFill/>
          <a:ln/>
        </p:spPr>
        <p:txBody>
          <a:bodyPr wrap="square" lIns="0" tIns="0" rIns="0" bIns="0" rtlCol="0" anchor="t"/>
          <a:lstStyle/>
          <a:p>
            <a:pPr indent="0" marL="0">
              <a:buNone/>
            </a:pPr>
            <a:r>
              <a:rPr lang="en-US" sz="1600" i="1" dirty="0">
                <a:solidFill>
                  <a:srgbClr val="15181D"/>
                </a:solidFill>
                <a:latin typeface="Segoe UI" pitchFamily="34" charset="0"/>
                <a:ea typeface="Segoe UI" pitchFamily="34" charset="-122"/>
                <a:cs typeface="Segoe UI" pitchFamily="34" charset="-120"/>
              </a:rPr>
              <a:t>Perform vector addition and multiplication using CUDA threads and compare CPU and GPU execution.</a:t>
            </a:r>
            <a:endParaRPr lang="en-US" sz="1600" dirty="0"/>
          </a:p>
        </p:txBody>
      </p:sp>
      <p:sp>
        <p:nvSpPr>
          <p:cNvPr id="11" name="Text 9"/>
          <p:cNvSpPr txBox="1"/>
          <p:nvPr/>
        </p:nvSpPr>
        <p:spPr>
          <a:xfrm>
            <a:off x="777240" y="5669280"/>
            <a:ext cx="5120640" cy="411480"/>
          </a:xfrm>
          <a:prstGeom prst="rect">
            <a:avLst/>
          </a:prstGeom>
          <a:noFill/>
          <a:ln/>
        </p:spPr>
        <p:txBody>
          <a:bodyPr wrap="square" lIns="0" tIns="0" rIns="0" bIns="0" rtlCol="0" anchor="t"/>
          <a:lstStyle/>
          <a:p>
            <a:pPr indent="0" marL="0">
              <a:buNone/>
            </a:pPr>
            <a:r>
              <a:rPr lang="en-US" sz="1250" dirty="0">
                <a:solidFill>
                  <a:srgbClr val="5B6470"/>
                </a:solidFill>
                <a:latin typeface="Segoe UI" pitchFamily="34" charset="0"/>
                <a:ea typeface="Segoe UI" pitchFamily="34" charset="-122"/>
                <a:cs typeface="Segoe UI" pitchFamily="34" charset="-120"/>
              </a:rPr>
              <a:t>Inputs A[i] = 1.0, B[i] = 2.0  →  correct outputs are exactly 3.00 and 2.00</a:t>
            </a:r>
            <a:endParaRPr lang="en-US" sz="1250" dirty="0"/>
          </a:p>
        </p:txBody>
      </p:sp>
      <p:sp>
        <p:nvSpPr>
          <p:cNvPr id="12" name="Text 10"/>
          <p:cNvSpPr txBox="1"/>
          <p:nvPr/>
        </p:nvSpPr>
        <p:spPr>
          <a:xfrm>
            <a:off x="6492240" y="1463040"/>
            <a:ext cx="5120640" cy="365760"/>
          </a:xfrm>
          <a:prstGeom prst="rect">
            <a:avLst/>
          </a:prstGeom>
          <a:noFill/>
          <a:ln/>
        </p:spPr>
        <p:txBody>
          <a:bodyPr wrap="square" lIns="0" tIns="0" rIns="0" bIns="0" rtlCol="0" anchor="t"/>
          <a:lstStyle/>
          <a:p>
            <a:pPr indent="0" marL="0">
              <a:buNone/>
            </a:pPr>
            <a:r>
              <a:rPr lang="en-US" sz="1800" b="1" dirty="0">
                <a:solidFill>
                  <a:srgbClr val="15181D"/>
                </a:solidFill>
                <a:latin typeface="Segoe UI Semibold" pitchFamily="34" charset="0"/>
                <a:ea typeface="Segoe UI Semibold" pitchFamily="34" charset="-122"/>
                <a:cs typeface="Segoe UI Semibold" pitchFamily="34" charset="-120"/>
              </a:rPr>
              <a:t>Three questions we set out to answer</a:t>
            </a:r>
            <a:endParaRPr lang="en-US" sz="1800" dirty="0"/>
          </a:p>
        </p:txBody>
      </p:sp>
      <p:sp>
        <p:nvSpPr>
          <p:cNvPr id="13" name="Shape 11"/>
          <p:cNvSpPr/>
          <p:nvPr/>
        </p:nvSpPr>
        <p:spPr>
          <a:xfrm>
            <a:off x="6492240" y="2057400"/>
            <a:ext cx="5148072" cy="1188720"/>
          </a:xfrm>
          <a:prstGeom prst="roundRect">
            <a:avLst>
              <a:gd name="adj" fmla="val 6154"/>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14" name="Shape 12"/>
          <p:cNvSpPr/>
          <p:nvPr/>
        </p:nvSpPr>
        <p:spPr>
          <a:xfrm>
            <a:off x="6693408" y="2286000"/>
            <a:ext cx="457200" cy="457200"/>
          </a:xfrm>
          <a:prstGeom prst="ellipse">
            <a:avLst/>
          </a:prstGeom>
          <a:solidFill>
            <a:srgbClr val="76B900"/>
          </a:solidFill>
          <a:ln w="6350">
            <a:solidFill>
              <a:srgbClr val="76B900"/>
            </a:solidFill>
            <a:prstDash val="solid"/>
          </a:ln>
        </p:spPr>
      </p:sp>
      <p:sp>
        <p:nvSpPr>
          <p:cNvPr id="15" name="Text 13"/>
          <p:cNvSpPr txBox="1"/>
          <p:nvPr/>
        </p:nvSpPr>
        <p:spPr>
          <a:xfrm>
            <a:off x="6693408"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16" name="Text 14"/>
          <p:cNvSpPr txBox="1"/>
          <p:nvPr/>
        </p:nvSpPr>
        <p:spPr>
          <a:xfrm>
            <a:off x="7315200" y="2212848"/>
            <a:ext cx="4160520" cy="640080"/>
          </a:xfrm>
          <a:prstGeom prst="rect">
            <a:avLst/>
          </a:prstGeom>
          <a:noFill/>
          <a:ln/>
        </p:spPr>
        <p:txBody>
          <a:bodyPr wrap="square" lIns="0" tIns="0" rIns="0" bIns="0" rtlCol="0" anchor="t"/>
          <a:lstStyle/>
          <a:p>
            <a:pPr indent="0" marL="0">
              <a:buNone/>
            </a:pPr>
            <a:r>
              <a:rPr lang="en-US" sz="1450" b="1" dirty="0">
                <a:solidFill>
                  <a:srgbClr val="15181D"/>
                </a:solidFill>
                <a:latin typeface="Segoe UI" pitchFamily="34" charset="0"/>
                <a:ea typeface="Segoe UI" pitchFamily="34" charset="-122"/>
                <a:cs typeface="Segoe UI" pitchFamily="34" charset="-120"/>
              </a:rPr>
              <a:t>How much faster is the CUDA kernel than a sequential CPU loop?</a:t>
            </a:r>
            <a:endParaRPr lang="en-US" sz="1450" dirty="0"/>
          </a:p>
        </p:txBody>
      </p:sp>
      <p:sp>
        <p:nvSpPr>
          <p:cNvPr id="17" name="Text 15"/>
          <p:cNvSpPr txBox="1"/>
          <p:nvPr/>
        </p:nvSpPr>
        <p:spPr>
          <a:xfrm>
            <a:off x="7315200" y="2862072"/>
            <a:ext cx="4160520" cy="274320"/>
          </a:xfrm>
          <a:prstGeom prst="rect">
            <a:avLst/>
          </a:prstGeom>
          <a:noFill/>
          <a:ln/>
        </p:spPr>
        <p:txBody>
          <a:bodyPr wrap="square" lIns="0" tIns="0" rIns="0" bIns="0" rtlCol="0" anchor="t"/>
          <a:lstStyle/>
          <a:p>
            <a:pPr indent="0" marL="0">
              <a:buNone/>
            </a:pPr>
            <a:r>
              <a:rPr lang="en-US" sz="1150" i="1" dirty="0">
                <a:solidFill>
                  <a:srgbClr val="5B6470"/>
                </a:solidFill>
                <a:latin typeface="Segoe UI" pitchFamily="34" charset="0"/>
                <a:ea typeface="Segoe UI" pitchFamily="34" charset="-122"/>
                <a:cs typeface="Segoe UI" pitchFamily="34" charset="-120"/>
              </a:rPr>
              <a:t>Answered on slides 12–14</a:t>
            </a:r>
            <a:endParaRPr lang="en-US" sz="1150" dirty="0"/>
          </a:p>
        </p:txBody>
      </p:sp>
      <p:sp>
        <p:nvSpPr>
          <p:cNvPr id="18" name="Shape 16"/>
          <p:cNvSpPr/>
          <p:nvPr/>
        </p:nvSpPr>
        <p:spPr>
          <a:xfrm>
            <a:off x="6492240" y="3429000"/>
            <a:ext cx="5148072" cy="1188720"/>
          </a:xfrm>
          <a:prstGeom prst="roundRect">
            <a:avLst>
              <a:gd name="adj" fmla="val 6154"/>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19" name="Shape 17"/>
          <p:cNvSpPr/>
          <p:nvPr/>
        </p:nvSpPr>
        <p:spPr>
          <a:xfrm>
            <a:off x="6693408" y="3657600"/>
            <a:ext cx="457200" cy="457200"/>
          </a:xfrm>
          <a:prstGeom prst="ellipse">
            <a:avLst/>
          </a:prstGeom>
          <a:solidFill>
            <a:srgbClr val="76B900"/>
          </a:solidFill>
          <a:ln w="6350">
            <a:solidFill>
              <a:srgbClr val="76B900"/>
            </a:solidFill>
            <a:prstDash val="solid"/>
          </a:ln>
        </p:spPr>
      </p:sp>
      <p:sp>
        <p:nvSpPr>
          <p:cNvPr id="20" name="Text 18"/>
          <p:cNvSpPr txBox="1"/>
          <p:nvPr/>
        </p:nvSpPr>
        <p:spPr>
          <a:xfrm>
            <a:off x="6693408" y="3657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21" name="Text 19"/>
          <p:cNvSpPr txBox="1"/>
          <p:nvPr/>
        </p:nvSpPr>
        <p:spPr>
          <a:xfrm>
            <a:off x="7315200" y="3584448"/>
            <a:ext cx="4160520" cy="640080"/>
          </a:xfrm>
          <a:prstGeom prst="rect">
            <a:avLst/>
          </a:prstGeom>
          <a:noFill/>
          <a:ln/>
        </p:spPr>
        <p:txBody>
          <a:bodyPr wrap="square" lIns="0" tIns="0" rIns="0" bIns="0" rtlCol="0" anchor="t"/>
          <a:lstStyle/>
          <a:p>
            <a:pPr indent="0" marL="0">
              <a:buNone/>
            </a:pPr>
            <a:r>
              <a:rPr lang="en-US" sz="1450" b="1" dirty="0">
                <a:solidFill>
                  <a:srgbClr val="15181D"/>
                </a:solidFill>
                <a:latin typeface="Segoe UI" pitchFamily="34" charset="0"/>
                <a:ea typeface="Segoe UI" pitchFamily="34" charset="-122"/>
                <a:cs typeface="Segoe UI" pitchFamily="34" charset="-120"/>
              </a:rPr>
              <a:t>How much of that advantage survives once data transfer is included?</a:t>
            </a:r>
            <a:endParaRPr lang="en-US" sz="1450" dirty="0"/>
          </a:p>
        </p:txBody>
      </p:sp>
      <p:sp>
        <p:nvSpPr>
          <p:cNvPr id="22" name="Text 20"/>
          <p:cNvSpPr txBox="1"/>
          <p:nvPr/>
        </p:nvSpPr>
        <p:spPr>
          <a:xfrm>
            <a:off x="7315200" y="4233672"/>
            <a:ext cx="4160520" cy="274320"/>
          </a:xfrm>
          <a:prstGeom prst="rect">
            <a:avLst/>
          </a:prstGeom>
          <a:noFill/>
          <a:ln/>
        </p:spPr>
        <p:txBody>
          <a:bodyPr wrap="square" lIns="0" tIns="0" rIns="0" bIns="0" rtlCol="0" anchor="t"/>
          <a:lstStyle/>
          <a:p>
            <a:pPr indent="0" marL="0">
              <a:buNone/>
            </a:pPr>
            <a:r>
              <a:rPr lang="en-US" sz="1150" i="1" dirty="0">
                <a:solidFill>
                  <a:srgbClr val="5B6470"/>
                </a:solidFill>
                <a:latin typeface="Segoe UI" pitchFamily="34" charset="0"/>
                <a:ea typeface="Segoe UI" pitchFamily="34" charset="-122"/>
                <a:cs typeface="Segoe UI" pitchFamily="34" charset="-120"/>
              </a:rPr>
              <a:t>Answered on slides 15–16</a:t>
            </a:r>
            <a:endParaRPr lang="en-US" sz="1150" dirty="0"/>
          </a:p>
        </p:txBody>
      </p:sp>
      <p:sp>
        <p:nvSpPr>
          <p:cNvPr id="23" name="Shape 21"/>
          <p:cNvSpPr/>
          <p:nvPr/>
        </p:nvSpPr>
        <p:spPr>
          <a:xfrm>
            <a:off x="6492240" y="4800600"/>
            <a:ext cx="5148072" cy="1188720"/>
          </a:xfrm>
          <a:prstGeom prst="roundRect">
            <a:avLst>
              <a:gd name="adj" fmla="val 6154"/>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24" name="Shape 22"/>
          <p:cNvSpPr/>
          <p:nvPr/>
        </p:nvSpPr>
        <p:spPr>
          <a:xfrm>
            <a:off x="6693408" y="5029200"/>
            <a:ext cx="457200" cy="457200"/>
          </a:xfrm>
          <a:prstGeom prst="ellipse">
            <a:avLst/>
          </a:prstGeom>
          <a:solidFill>
            <a:srgbClr val="76B900"/>
          </a:solidFill>
          <a:ln w="6350">
            <a:solidFill>
              <a:srgbClr val="76B900"/>
            </a:solidFill>
            <a:prstDash val="solid"/>
          </a:ln>
        </p:spPr>
      </p:sp>
      <p:sp>
        <p:nvSpPr>
          <p:cNvPr id="25" name="Text 23"/>
          <p:cNvSpPr txBox="1"/>
          <p:nvPr/>
        </p:nvSpPr>
        <p:spPr>
          <a:xfrm>
            <a:off x="6693408" y="5029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26" name="Text 24"/>
          <p:cNvSpPr txBox="1"/>
          <p:nvPr/>
        </p:nvSpPr>
        <p:spPr>
          <a:xfrm>
            <a:off x="7315200" y="4956048"/>
            <a:ext cx="4160520" cy="640080"/>
          </a:xfrm>
          <a:prstGeom prst="rect">
            <a:avLst/>
          </a:prstGeom>
          <a:noFill/>
          <a:ln/>
        </p:spPr>
        <p:txBody>
          <a:bodyPr wrap="square" lIns="0" tIns="0" rIns="0" bIns="0" rtlCol="0" anchor="t"/>
          <a:lstStyle/>
          <a:p>
            <a:pPr indent="0" marL="0">
              <a:buNone/>
            </a:pPr>
            <a:r>
              <a:rPr lang="en-US" sz="1450" b="1" dirty="0">
                <a:solidFill>
                  <a:srgbClr val="15181D"/>
                </a:solidFill>
                <a:latin typeface="Segoe UI" pitchFamily="34" charset="0"/>
                <a:ea typeface="Segoe UI" pitchFamily="34" charset="-122"/>
                <a:cs typeface="Segoe UI" pitchFamily="34" charset="-120"/>
              </a:rPr>
              <a:t>Why do the numbers look the way they do, and what would change them?</a:t>
            </a:r>
            <a:endParaRPr lang="en-US" sz="1450" dirty="0"/>
          </a:p>
        </p:txBody>
      </p:sp>
      <p:sp>
        <p:nvSpPr>
          <p:cNvPr id="27" name="Text 25"/>
          <p:cNvSpPr txBox="1"/>
          <p:nvPr/>
        </p:nvSpPr>
        <p:spPr>
          <a:xfrm>
            <a:off x="7315200" y="5605272"/>
            <a:ext cx="4160520" cy="274320"/>
          </a:xfrm>
          <a:prstGeom prst="rect">
            <a:avLst/>
          </a:prstGeom>
          <a:noFill/>
          <a:ln/>
        </p:spPr>
        <p:txBody>
          <a:bodyPr wrap="square" lIns="0" tIns="0" rIns="0" bIns="0" rtlCol="0" anchor="t"/>
          <a:lstStyle/>
          <a:p>
            <a:pPr indent="0" marL="0">
              <a:buNone/>
            </a:pPr>
            <a:r>
              <a:rPr lang="en-US" sz="1150" i="1" dirty="0">
                <a:solidFill>
                  <a:srgbClr val="5B6470"/>
                </a:solidFill>
                <a:latin typeface="Segoe UI" pitchFamily="34" charset="0"/>
                <a:ea typeface="Segoe UI" pitchFamily="34" charset="-122"/>
                <a:cs typeface="Segoe UI" pitchFamily="34" charset="-120"/>
              </a:rPr>
              <a:t>Answered on slides 17–19</a:t>
            </a:r>
            <a:endParaRPr lang="en-US" sz="11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Our platform: an NVIDIA Tesla T4 on Google Colab</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EXPERIMENTAL SETUP</a:t>
            </a:r>
            <a:endParaRPr lang="en-US" sz="1100" dirty="0"/>
          </a:p>
        </p:txBody>
      </p:sp>
      <p:sp>
        <p:nvSpPr>
          <p:cNvPr id="4" name="Shape 2"/>
          <p:cNvSpPr/>
          <p:nvPr/>
        </p:nvSpPr>
        <p:spPr>
          <a:xfrm>
            <a:off x="548640" y="1463040"/>
            <a:ext cx="5257800" cy="4600507"/>
          </a:xfrm>
          <a:prstGeom prst="roundRect">
            <a:avLst>
              <a:gd name="adj" fmla="val 1590"/>
            </a:avLst>
          </a:prstGeom>
          <a:solidFill>
            <a:srgbClr val="1E2227"/>
          </a:solidFill>
          <a:ln w="6350">
            <a:solidFill>
              <a:srgbClr val="1E2227"/>
            </a:solidFill>
            <a:prstDash val="solid"/>
          </a:ln>
          <a:effectLst>
            <a:outerShdw sx="100000" sy="100000" kx="0" ky="0" algn="bl" rotWithShape="0" blurRad="88900" dist="25400" dir="5400000">
              <a:srgbClr val="000000">
                <a:alpha val="12000"/>
              </a:srgbClr>
            </a:outerShdw>
          </a:effectLst>
        </p:spPr>
      </p:sp>
      <p:sp>
        <p:nvSpPr>
          <p:cNvPr id="5" name="Shape 3"/>
          <p:cNvSpPr/>
          <p:nvPr/>
        </p:nvSpPr>
        <p:spPr>
          <a:xfrm>
            <a:off x="694944" y="1572768"/>
            <a:ext cx="109728" cy="109728"/>
          </a:xfrm>
          <a:prstGeom prst="ellipse">
            <a:avLst/>
          </a:prstGeom>
          <a:solidFill>
            <a:srgbClr val="FF5F57"/>
          </a:solidFill>
          <a:ln w="6350">
            <a:solidFill>
              <a:srgbClr val="FF5F57"/>
            </a:solidFill>
            <a:prstDash val="solid"/>
          </a:ln>
        </p:spPr>
      </p:sp>
      <p:sp>
        <p:nvSpPr>
          <p:cNvPr id="6" name="Shape 4"/>
          <p:cNvSpPr/>
          <p:nvPr/>
        </p:nvSpPr>
        <p:spPr>
          <a:xfrm>
            <a:off x="877824" y="1572768"/>
            <a:ext cx="109728" cy="109728"/>
          </a:xfrm>
          <a:prstGeom prst="ellipse">
            <a:avLst/>
          </a:prstGeom>
          <a:solidFill>
            <a:srgbClr val="FEBC2E"/>
          </a:solidFill>
          <a:ln w="6350">
            <a:solidFill>
              <a:srgbClr val="FEBC2E"/>
            </a:solidFill>
            <a:prstDash val="solid"/>
          </a:ln>
        </p:spPr>
      </p:sp>
      <p:sp>
        <p:nvSpPr>
          <p:cNvPr id="7" name="Shape 5"/>
          <p:cNvSpPr/>
          <p:nvPr/>
        </p:nvSpPr>
        <p:spPr>
          <a:xfrm>
            <a:off x="1060704" y="1572768"/>
            <a:ext cx="109728" cy="109728"/>
          </a:xfrm>
          <a:prstGeom prst="ellipse">
            <a:avLst/>
          </a:prstGeom>
          <a:solidFill>
            <a:srgbClr val="28C840"/>
          </a:solidFill>
          <a:ln w="6350">
            <a:solidFill>
              <a:srgbClr val="28C840"/>
            </a:solidFill>
            <a:prstDash val="solid"/>
          </a:ln>
        </p:spPr>
      </p:sp>
      <p:sp>
        <p:nvSpPr>
          <p:cNvPr id="8" name="Text 6"/>
          <p:cNvSpPr txBox="1"/>
          <p:nvPr/>
        </p:nvSpPr>
        <p:spPr>
          <a:xfrm>
            <a:off x="1325880" y="1499616"/>
            <a:ext cx="4343400" cy="274320"/>
          </a:xfrm>
          <a:prstGeom prst="rect">
            <a:avLst/>
          </a:prstGeom>
          <a:noFill/>
          <a:ln/>
        </p:spPr>
        <p:txBody>
          <a:bodyPr wrap="square" lIns="0" tIns="0" rIns="0" bIns="0" rtlCol="0" anchor="ctr"/>
          <a:lstStyle/>
          <a:p>
            <a:pPr indent="0" marL="0">
              <a:buNone/>
            </a:pPr>
            <a:r>
              <a:rPr lang="en-US" sz="1050" dirty="0">
                <a:solidFill>
                  <a:srgbClr val="A7AFB8"/>
                </a:solidFill>
                <a:latin typeface="Consolas" pitchFamily="34" charset="0"/>
                <a:ea typeface="Consolas" pitchFamily="34" charset="-122"/>
                <a:cs typeface="Consolas" pitchFamily="34" charset="-120"/>
              </a:rPr>
              <a:t>Colab · Cell 1 · toolchain check (screenshot 01)</a:t>
            </a:r>
            <a:endParaRPr lang="en-US" sz="1050" dirty="0"/>
          </a:p>
        </p:txBody>
      </p:sp>
      <p:pic>
        <p:nvPicPr>
          <p:cNvPr id="9" name="Image 0" descr="Colab · Cell 1 · toolchain check (screenshot 01)">    </p:cNvPr>
          <p:cNvPicPr>
            <a:picLocks noChangeAspect="1"/>
          </p:cNvPicPr>
          <p:nvPr/>
        </p:nvPicPr>
        <p:blipFill>
          <a:blip r:embed="rId1"/>
          <a:stretch>
            <a:fillRect/>
          </a:stretch>
        </p:blipFill>
        <p:spPr>
          <a:xfrm>
            <a:off x="603504" y="1792224"/>
            <a:ext cx="5148072" cy="4216459"/>
          </a:xfrm>
          <a:prstGeom prst="rect">
            <a:avLst/>
          </a:prstGeom>
        </p:spPr>
      </p:pic>
      <p:sp>
        <p:nvSpPr>
          <p:cNvPr id="10" name="Shape 7"/>
          <p:cNvSpPr/>
          <p:nvPr/>
        </p:nvSpPr>
        <p:spPr>
          <a:xfrm>
            <a:off x="6217920" y="1463040"/>
            <a:ext cx="2633472" cy="1143000"/>
          </a:xfrm>
          <a:prstGeom prst="roundRect">
            <a:avLst>
              <a:gd name="adj" fmla="val 6400"/>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11" name="Text 8"/>
          <p:cNvSpPr txBox="1"/>
          <p:nvPr/>
        </p:nvSpPr>
        <p:spPr>
          <a:xfrm>
            <a:off x="6446520" y="1627632"/>
            <a:ext cx="2176272" cy="457200"/>
          </a:xfrm>
          <a:prstGeom prst="rect">
            <a:avLst/>
          </a:prstGeom>
          <a:noFill/>
          <a:ln/>
        </p:spPr>
        <p:txBody>
          <a:bodyPr wrap="square" lIns="0" tIns="0" rIns="0" bIns="0" rtlCol="0" anchor="ctr"/>
          <a:lstStyle/>
          <a:p>
            <a:pPr indent="0" marL="0">
              <a:buNone/>
            </a:pPr>
            <a:r>
              <a:rPr lang="en-US" sz="2400" b="1" dirty="0">
                <a:solidFill>
                  <a:srgbClr val="3F7A00"/>
                </a:solidFill>
                <a:latin typeface="Segoe UI Semibold" pitchFamily="34" charset="0"/>
                <a:ea typeface="Segoe UI Semibold" pitchFamily="34" charset="-122"/>
                <a:cs typeface="Segoe UI Semibold" pitchFamily="34" charset="-120"/>
              </a:rPr>
              <a:t>2,560</a:t>
            </a:r>
            <a:endParaRPr lang="en-US" sz="2400" dirty="0"/>
          </a:p>
        </p:txBody>
      </p:sp>
      <p:sp>
        <p:nvSpPr>
          <p:cNvPr id="12" name="Text 9"/>
          <p:cNvSpPr txBox="1"/>
          <p:nvPr/>
        </p:nvSpPr>
        <p:spPr>
          <a:xfrm>
            <a:off x="6446520" y="2103120"/>
            <a:ext cx="2176272" cy="411480"/>
          </a:xfrm>
          <a:prstGeom prst="rect">
            <a:avLst/>
          </a:prstGeom>
          <a:noFill/>
          <a:ln/>
        </p:spPr>
        <p:txBody>
          <a:bodyPr wrap="square" lIns="0" tIns="0" rIns="0" bIns="0" rtlCol="0" anchor="t"/>
          <a:lstStyle/>
          <a:p>
            <a:pPr indent="0" marL="0">
              <a:buNone/>
            </a:pPr>
            <a:r>
              <a:rPr lang="en-US" sz="1250" dirty="0">
                <a:solidFill>
                  <a:srgbClr val="2D333B"/>
                </a:solidFill>
                <a:latin typeface="Segoe UI" pitchFamily="34" charset="0"/>
                <a:ea typeface="Segoe UI" pitchFamily="34" charset="-122"/>
                <a:cs typeface="Segoe UI" pitchFamily="34" charset="-120"/>
              </a:rPr>
              <a:t>CUDA cores (40 SMs × 64)</a:t>
            </a:r>
            <a:endParaRPr lang="en-US" sz="1250" dirty="0"/>
          </a:p>
        </p:txBody>
      </p:sp>
      <p:sp>
        <p:nvSpPr>
          <p:cNvPr id="13" name="Shape 10"/>
          <p:cNvSpPr/>
          <p:nvPr/>
        </p:nvSpPr>
        <p:spPr>
          <a:xfrm>
            <a:off x="8961120" y="1463040"/>
            <a:ext cx="2633472" cy="1143000"/>
          </a:xfrm>
          <a:prstGeom prst="roundRect">
            <a:avLst>
              <a:gd name="adj" fmla="val 6400"/>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14" name="Text 11"/>
          <p:cNvSpPr txBox="1"/>
          <p:nvPr/>
        </p:nvSpPr>
        <p:spPr>
          <a:xfrm>
            <a:off x="9189720" y="1627632"/>
            <a:ext cx="2176272" cy="457200"/>
          </a:xfrm>
          <a:prstGeom prst="rect">
            <a:avLst/>
          </a:prstGeom>
          <a:noFill/>
          <a:ln/>
        </p:spPr>
        <p:txBody>
          <a:bodyPr wrap="square" lIns="0" tIns="0" rIns="0" bIns="0" rtlCol="0" anchor="ctr"/>
          <a:lstStyle/>
          <a:p>
            <a:pPr indent="0" marL="0">
              <a:buNone/>
            </a:pPr>
            <a:r>
              <a:rPr lang="en-US" sz="2400" b="1" dirty="0">
                <a:solidFill>
                  <a:srgbClr val="3F7A00"/>
                </a:solidFill>
                <a:latin typeface="Segoe UI Semibold" pitchFamily="34" charset="0"/>
                <a:ea typeface="Segoe UI Semibold" pitchFamily="34" charset="-122"/>
                <a:cs typeface="Segoe UI Semibold" pitchFamily="34" charset="-120"/>
              </a:rPr>
              <a:t>320 GB/s</a:t>
            </a:r>
            <a:endParaRPr lang="en-US" sz="2400" dirty="0"/>
          </a:p>
        </p:txBody>
      </p:sp>
      <p:sp>
        <p:nvSpPr>
          <p:cNvPr id="15" name="Text 12"/>
          <p:cNvSpPr txBox="1"/>
          <p:nvPr/>
        </p:nvSpPr>
        <p:spPr>
          <a:xfrm>
            <a:off x="9189720" y="2103120"/>
            <a:ext cx="2176272" cy="411480"/>
          </a:xfrm>
          <a:prstGeom prst="rect">
            <a:avLst/>
          </a:prstGeom>
          <a:noFill/>
          <a:ln/>
        </p:spPr>
        <p:txBody>
          <a:bodyPr wrap="square" lIns="0" tIns="0" rIns="0" bIns="0" rtlCol="0" anchor="t"/>
          <a:lstStyle/>
          <a:p>
            <a:pPr indent="0" marL="0">
              <a:buNone/>
            </a:pPr>
            <a:r>
              <a:rPr lang="en-US" sz="1250" dirty="0">
                <a:solidFill>
                  <a:srgbClr val="2D333B"/>
                </a:solidFill>
                <a:latin typeface="Segoe UI" pitchFamily="34" charset="0"/>
                <a:ea typeface="Segoe UI" pitchFamily="34" charset="-122"/>
                <a:cs typeface="Segoe UI" pitchFamily="34" charset="-120"/>
              </a:rPr>
              <a:t>GDDR6 memory bandwidth</a:t>
            </a:r>
            <a:endParaRPr lang="en-US" sz="1250" dirty="0"/>
          </a:p>
        </p:txBody>
      </p:sp>
      <p:sp>
        <p:nvSpPr>
          <p:cNvPr id="16" name="Shape 13"/>
          <p:cNvSpPr/>
          <p:nvPr/>
        </p:nvSpPr>
        <p:spPr>
          <a:xfrm>
            <a:off x="6217920" y="2743200"/>
            <a:ext cx="2633472" cy="1143000"/>
          </a:xfrm>
          <a:prstGeom prst="roundRect">
            <a:avLst>
              <a:gd name="adj" fmla="val 6400"/>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17" name="Text 14"/>
          <p:cNvSpPr txBox="1"/>
          <p:nvPr/>
        </p:nvSpPr>
        <p:spPr>
          <a:xfrm>
            <a:off x="6446520" y="2907792"/>
            <a:ext cx="2176272" cy="457200"/>
          </a:xfrm>
          <a:prstGeom prst="rect">
            <a:avLst/>
          </a:prstGeom>
          <a:noFill/>
          <a:ln/>
        </p:spPr>
        <p:txBody>
          <a:bodyPr wrap="square" lIns="0" tIns="0" rIns="0" bIns="0" rtlCol="0" anchor="ctr"/>
          <a:lstStyle/>
          <a:p>
            <a:pPr indent="0" marL="0">
              <a:buNone/>
            </a:pPr>
            <a:r>
              <a:rPr lang="en-US" sz="2400" b="1" dirty="0">
                <a:solidFill>
                  <a:srgbClr val="3F7A00"/>
                </a:solidFill>
                <a:latin typeface="Segoe UI Semibold" pitchFamily="34" charset="0"/>
                <a:ea typeface="Segoe UI Semibold" pitchFamily="34" charset="-122"/>
                <a:cs typeface="Segoe UI Semibold" pitchFamily="34" charset="-120"/>
              </a:rPr>
              <a:t>8.1 TFLOPS</a:t>
            </a:r>
            <a:endParaRPr lang="en-US" sz="2400" dirty="0"/>
          </a:p>
        </p:txBody>
      </p:sp>
      <p:sp>
        <p:nvSpPr>
          <p:cNvPr id="18" name="Text 15"/>
          <p:cNvSpPr txBox="1"/>
          <p:nvPr/>
        </p:nvSpPr>
        <p:spPr>
          <a:xfrm>
            <a:off x="6446520" y="3383280"/>
            <a:ext cx="2176272" cy="411480"/>
          </a:xfrm>
          <a:prstGeom prst="rect">
            <a:avLst/>
          </a:prstGeom>
          <a:noFill/>
          <a:ln/>
        </p:spPr>
        <p:txBody>
          <a:bodyPr wrap="square" lIns="0" tIns="0" rIns="0" bIns="0" rtlCol="0" anchor="t"/>
          <a:lstStyle/>
          <a:p>
            <a:pPr indent="0" marL="0">
              <a:buNone/>
            </a:pPr>
            <a:r>
              <a:rPr lang="en-US" sz="1250" dirty="0">
                <a:solidFill>
                  <a:srgbClr val="2D333B"/>
                </a:solidFill>
                <a:latin typeface="Segoe UI" pitchFamily="34" charset="0"/>
                <a:ea typeface="Segoe UI" pitchFamily="34" charset="-122"/>
                <a:cs typeface="Segoe UI" pitchFamily="34" charset="-120"/>
              </a:rPr>
              <a:t>peak FP32 compute</a:t>
            </a:r>
            <a:endParaRPr lang="en-US" sz="1250" dirty="0"/>
          </a:p>
        </p:txBody>
      </p:sp>
      <p:sp>
        <p:nvSpPr>
          <p:cNvPr id="19" name="Shape 16"/>
          <p:cNvSpPr/>
          <p:nvPr/>
        </p:nvSpPr>
        <p:spPr>
          <a:xfrm>
            <a:off x="8961120" y="2743200"/>
            <a:ext cx="2633472" cy="1143000"/>
          </a:xfrm>
          <a:prstGeom prst="roundRect">
            <a:avLst>
              <a:gd name="adj" fmla="val 6400"/>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20" name="Text 17"/>
          <p:cNvSpPr txBox="1"/>
          <p:nvPr/>
        </p:nvSpPr>
        <p:spPr>
          <a:xfrm>
            <a:off x="9189720" y="2907792"/>
            <a:ext cx="2176272" cy="457200"/>
          </a:xfrm>
          <a:prstGeom prst="rect">
            <a:avLst/>
          </a:prstGeom>
          <a:noFill/>
          <a:ln/>
        </p:spPr>
        <p:txBody>
          <a:bodyPr wrap="square" lIns="0" tIns="0" rIns="0" bIns="0" rtlCol="0" anchor="ctr"/>
          <a:lstStyle/>
          <a:p>
            <a:pPr indent="0" marL="0">
              <a:buNone/>
            </a:pPr>
            <a:r>
              <a:rPr lang="en-US" sz="2400" b="1" dirty="0">
                <a:solidFill>
                  <a:srgbClr val="3F7A00"/>
                </a:solidFill>
                <a:latin typeface="Segoe UI Semibold" pitchFamily="34" charset="0"/>
                <a:ea typeface="Segoe UI Semibold" pitchFamily="34" charset="-122"/>
                <a:cs typeface="Segoe UI Semibold" pitchFamily="34" charset="-120"/>
              </a:rPr>
              <a:t>PCIe Gen3 x16</a:t>
            </a:r>
            <a:endParaRPr lang="en-US" sz="2400" dirty="0"/>
          </a:p>
        </p:txBody>
      </p:sp>
      <p:sp>
        <p:nvSpPr>
          <p:cNvPr id="21" name="Text 18"/>
          <p:cNvSpPr txBox="1"/>
          <p:nvPr/>
        </p:nvSpPr>
        <p:spPr>
          <a:xfrm>
            <a:off x="9189720" y="3383280"/>
            <a:ext cx="2176272" cy="411480"/>
          </a:xfrm>
          <a:prstGeom prst="rect">
            <a:avLst/>
          </a:prstGeom>
          <a:noFill/>
          <a:ln/>
        </p:spPr>
        <p:txBody>
          <a:bodyPr wrap="square" lIns="0" tIns="0" rIns="0" bIns="0" rtlCol="0" anchor="t"/>
          <a:lstStyle/>
          <a:p>
            <a:pPr indent="0" marL="0">
              <a:buNone/>
            </a:pPr>
            <a:r>
              <a:rPr lang="en-US" sz="1250" dirty="0">
                <a:solidFill>
                  <a:srgbClr val="2D333B"/>
                </a:solidFill>
                <a:latin typeface="Segoe UI" pitchFamily="34" charset="0"/>
                <a:ea typeface="Segoe UI" pitchFamily="34" charset="-122"/>
                <a:cs typeface="Segoe UI" pitchFamily="34" charset="-120"/>
              </a:rPr>
              <a:t>≈ 15.75 GB/s per direction</a:t>
            </a:r>
            <a:endParaRPr lang="en-US" sz="1250" dirty="0"/>
          </a:p>
        </p:txBody>
      </p:sp>
      <p:sp>
        <p:nvSpPr>
          <p:cNvPr id="22" name="Text 19"/>
          <p:cNvSpPr txBox="1"/>
          <p:nvPr/>
        </p:nvSpPr>
        <p:spPr>
          <a:xfrm>
            <a:off x="6217920" y="4050792"/>
            <a:ext cx="5394960" cy="274320"/>
          </a:xfrm>
          <a:prstGeom prst="rect">
            <a:avLst/>
          </a:prstGeom>
          <a:noFill/>
          <a:ln/>
        </p:spPr>
        <p:txBody>
          <a:bodyPr wrap="square" lIns="0" tIns="0" rIns="0" bIns="0" rtlCol="0" anchor="t"/>
          <a:lstStyle/>
          <a:p>
            <a:pPr indent="0" marL="0">
              <a:buNone/>
            </a:pPr>
            <a:r>
              <a:rPr lang="en-US" sz="1050" i="1" dirty="0">
                <a:solidFill>
                  <a:srgbClr val="8A94A0"/>
                </a:solidFill>
                <a:latin typeface="Segoe UI" pitchFamily="34" charset="0"/>
                <a:ea typeface="Segoe UI" pitchFamily="34" charset="-122"/>
                <a:cs typeface="Segoe UI" pitchFamily="34" charset="-120"/>
              </a:rPr>
              <a:t>Tesla T4 hardware figures: NVIDIA datasheet</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17920" y="4389120"/>
          <a:ext cx="5422392" cy="914400"/>
        </p:xfrm>
        <a:graphic>
          <a:graphicData uri="http://schemas.openxmlformats.org/drawingml/2006/table">
            <a:tbl>
              <a:tblPr/>
              <a:tblGrid>
                <a:gridCol w="1691640"/>
                <a:gridCol w="3730752"/>
              </a:tblGrid>
              <a:tr h="310896">
                <a:tc>
                  <a:txBody>
                    <a:bodyPr/>
                    <a:lstStyle/>
                    <a:p>
                      <a:pPr algn="l" indent="0" marL="0">
                        <a:buNone/>
                      </a:pPr>
                      <a:r>
                        <a:rPr lang="en-US" sz="1200" b="1" dirty="0">
                          <a:solidFill>
                            <a:srgbClr val="FFFFFF"/>
                          </a:solidFill>
                          <a:latin typeface="Segoe UI Semibold" pitchFamily="34" charset="0"/>
                          <a:ea typeface="Segoe UI Semibold" pitchFamily="34" charset="-122"/>
                          <a:cs typeface="Segoe UI Semibold" pitchFamily="34" charset="-120"/>
                        </a:rPr>
                        <a:t>Software / state</a:t>
                      </a:r>
                      <a:endParaRPr lang="en-US" sz="12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l" indent="0" marL="0">
                        <a:buNone/>
                      </a:pPr>
                      <a:r>
                        <a:rPr lang="en-US" sz="1200" b="1" dirty="0">
                          <a:solidFill>
                            <a:srgbClr val="FFFFFF"/>
                          </a:solidFill>
                          <a:latin typeface="Segoe UI Semibold" pitchFamily="34" charset="0"/>
                          <a:ea typeface="Segoe UI Semibold" pitchFamily="34" charset="-122"/>
                          <a:cs typeface="Segoe UI Semibold" pitchFamily="34" charset="-120"/>
                        </a:rPr>
                        <a:t>Recorded in screenshot 01</a:t>
                      </a:r>
                      <a:endParaRPr lang="en-US" sz="12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r>
              <a:tr h="310896">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CUDA toolkit</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NVCC 13.0 (V13.0.88)</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310896">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NVIDIA driver</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580.82.07  ·  15,360 MiB GPU memory</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Host compiler</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GCC 13.3.0  ·  both programs built with -O2</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310896">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Platform</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Google Colab VM, Ubuntu 24.04</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GPU before run</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l" indent="0" marL="0">
                        <a:buNone/>
                      </a:pPr>
                      <a:r>
                        <a:rPr lang="en-US" sz="1200" dirty="0">
                          <a:solidFill>
                            <a:srgbClr val="15181D"/>
                          </a:solidFill>
                          <a:latin typeface="Segoe UI" pitchFamily="34" charset="0"/>
                          <a:ea typeface="Segoe UI" pitchFamily="34" charset="-122"/>
                          <a:cs typeface="Segoe UI" pitchFamily="34" charset="-120"/>
                        </a:rPr>
                        <a:t>Idle: P8, 48 °C, 10 W of 70 W</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One Colab notebook, executed cell by cell</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METHODOLOGY AND WORKFLOW</a:t>
            </a:r>
            <a:endParaRPr lang="en-US" sz="1100" dirty="0"/>
          </a:p>
        </p:txBody>
      </p:sp>
      <p:sp>
        <p:nvSpPr>
          <p:cNvPr id="4" name="Shape 2"/>
          <p:cNvSpPr/>
          <p:nvPr/>
        </p:nvSpPr>
        <p:spPr>
          <a:xfrm>
            <a:off x="548640" y="1600200"/>
            <a:ext cx="1417320" cy="2331720"/>
          </a:xfrm>
          <a:prstGeom prst="roundRect">
            <a:avLst>
              <a:gd name="adj" fmla="val 5161"/>
            </a:avLst>
          </a:prstGeom>
          <a:solidFill>
            <a:srgbClr val="F3F5F7"/>
          </a:solidFill>
          <a:ln w="6350">
            <a:solidFill>
              <a:srgbClr val="F3F5F7"/>
            </a:solidFill>
            <a:prstDash val="solid"/>
          </a:ln>
        </p:spPr>
      </p:sp>
      <p:sp>
        <p:nvSpPr>
          <p:cNvPr id="5" name="Shape 3"/>
          <p:cNvSpPr/>
          <p:nvPr/>
        </p:nvSpPr>
        <p:spPr>
          <a:xfrm>
            <a:off x="685800" y="1755648"/>
            <a:ext cx="384048" cy="384048"/>
          </a:xfrm>
          <a:prstGeom prst="ellipse">
            <a:avLst/>
          </a:prstGeom>
          <a:solidFill>
            <a:srgbClr val="64748B"/>
          </a:solidFill>
          <a:ln w="6350">
            <a:solidFill>
              <a:srgbClr val="64748B"/>
            </a:solidFill>
            <a:prstDash val="solid"/>
          </a:ln>
        </p:spPr>
      </p:sp>
      <p:sp>
        <p:nvSpPr>
          <p:cNvPr id="6" name="Text 4"/>
          <p:cNvSpPr txBox="1"/>
          <p:nvPr/>
        </p:nvSpPr>
        <p:spPr>
          <a:xfrm>
            <a:off x="6858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7" name="Text 5"/>
          <p:cNvSpPr txBox="1"/>
          <p:nvPr/>
        </p:nvSpPr>
        <p:spPr>
          <a:xfrm>
            <a:off x="685800" y="2258568"/>
            <a:ext cx="1188720" cy="566928"/>
          </a:xfrm>
          <a:prstGeom prst="rect">
            <a:avLst/>
          </a:prstGeom>
          <a:noFill/>
          <a:ln/>
        </p:spPr>
        <p:txBody>
          <a:bodyPr wrap="square" lIns="0" tIns="0" rIns="0" bIns="0" rtlCol="0" anchor="t"/>
          <a:lstStyle/>
          <a:p>
            <a:pPr indent="0" marL="0">
              <a:buNone/>
            </a:pPr>
            <a:r>
              <a:rPr lang="en-US" sz="1450" b="1" dirty="0">
                <a:solidFill>
                  <a:srgbClr val="15181D"/>
                </a:solidFill>
                <a:latin typeface="Segoe UI Semibold" pitchFamily="34" charset="0"/>
                <a:ea typeface="Segoe UI Semibold" pitchFamily="34" charset="-122"/>
                <a:cs typeface="Segoe UI Semibold" pitchFamily="34" charset="-120"/>
              </a:rPr>
              <a:t>Verify</a:t>
            </a:r>
            <a:endParaRPr lang="en-US" sz="1450" dirty="0"/>
          </a:p>
        </p:txBody>
      </p:sp>
      <p:sp>
        <p:nvSpPr>
          <p:cNvPr id="8" name="Text 6"/>
          <p:cNvSpPr txBox="1"/>
          <p:nvPr/>
        </p:nvSpPr>
        <p:spPr>
          <a:xfrm>
            <a:off x="685800" y="2807208"/>
            <a:ext cx="1188720" cy="256032"/>
          </a:xfrm>
          <a:prstGeom prst="rect">
            <a:avLst/>
          </a:prstGeom>
          <a:noFill/>
          <a:ln/>
        </p:spPr>
        <p:txBody>
          <a:bodyPr wrap="square" lIns="0" tIns="0" rIns="0" bIns="0" rtlCol="0" anchor="t"/>
          <a:lstStyle/>
          <a:p>
            <a:pPr indent="0" marL="0">
              <a:buNone/>
            </a:pPr>
            <a:r>
              <a:rPr lang="en-US" sz="1150" dirty="0">
                <a:solidFill>
                  <a:srgbClr val="5B6470"/>
                </a:solidFill>
                <a:latin typeface="Consolas" pitchFamily="34" charset="0"/>
                <a:ea typeface="Consolas" pitchFamily="34" charset="-122"/>
                <a:cs typeface="Consolas" pitchFamily="34" charset="-120"/>
              </a:rPr>
              <a:t>Cell 1</a:t>
            </a:r>
            <a:endParaRPr lang="en-US" sz="1150" dirty="0"/>
          </a:p>
        </p:txBody>
      </p:sp>
      <p:sp>
        <p:nvSpPr>
          <p:cNvPr id="9" name="Text 7"/>
          <p:cNvSpPr txBox="1"/>
          <p:nvPr/>
        </p:nvSpPr>
        <p:spPr>
          <a:xfrm>
            <a:off x="685800" y="3081528"/>
            <a:ext cx="1188720" cy="566928"/>
          </a:xfrm>
          <a:prstGeom prst="rect">
            <a:avLst/>
          </a:prstGeom>
          <a:noFill/>
          <a:ln/>
        </p:spPr>
        <p:txBody>
          <a:bodyPr wrap="square" lIns="0" tIns="0" rIns="0" bIns="0" rtlCol="0" anchor="t"/>
          <a:lstStyle/>
          <a:p>
            <a:pPr indent="0" marL="0">
              <a:buNone/>
            </a:pPr>
            <a:r>
              <a:rPr lang="en-US" sz="1200" dirty="0">
                <a:solidFill>
                  <a:srgbClr val="2D333B"/>
                </a:solidFill>
                <a:latin typeface="Segoe UI" pitchFamily="34" charset="0"/>
                <a:ea typeface="Segoe UI" pitchFamily="34" charset="-122"/>
                <a:cs typeface="Segoe UI" pitchFamily="34" charset="-120"/>
              </a:rPr>
              <a:t>nvidia-smi, nvcc, gcc</a:t>
            </a:r>
            <a:endParaRPr lang="en-US" sz="1200" dirty="0"/>
          </a:p>
        </p:txBody>
      </p:sp>
      <p:sp>
        <p:nvSpPr>
          <p:cNvPr id="10" name="Shape 8"/>
          <p:cNvSpPr/>
          <p:nvPr/>
        </p:nvSpPr>
        <p:spPr>
          <a:xfrm>
            <a:off x="1984248" y="2766060"/>
            <a:ext cx="146304" cy="0"/>
          </a:xfrm>
          <a:prstGeom prst="line">
            <a:avLst/>
          </a:prstGeom>
          <a:noFill/>
          <a:ln w="22225">
            <a:solidFill>
              <a:srgbClr val="B7C0CA"/>
            </a:solidFill>
            <a:prstDash val="solid"/>
            <a:tailEnd type="triangle"/>
          </a:ln>
        </p:spPr>
      </p:sp>
      <p:sp>
        <p:nvSpPr>
          <p:cNvPr id="11" name="Shape 9"/>
          <p:cNvSpPr/>
          <p:nvPr/>
        </p:nvSpPr>
        <p:spPr>
          <a:xfrm>
            <a:off x="2148840" y="1600200"/>
            <a:ext cx="1417320" cy="2331720"/>
          </a:xfrm>
          <a:prstGeom prst="roundRect">
            <a:avLst>
              <a:gd name="adj" fmla="val 5161"/>
            </a:avLst>
          </a:prstGeom>
          <a:solidFill>
            <a:srgbClr val="F3F5F7"/>
          </a:solidFill>
          <a:ln w="6350">
            <a:solidFill>
              <a:srgbClr val="F3F5F7"/>
            </a:solidFill>
            <a:prstDash val="solid"/>
          </a:ln>
        </p:spPr>
      </p:sp>
      <p:sp>
        <p:nvSpPr>
          <p:cNvPr id="12" name="Shape 10"/>
          <p:cNvSpPr/>
          <p:nvPr/>
        </p:nvSpPr>
        <p:spPr>
          <a:xfrm>
            <a:off x="2286000" y="1755648"/>
            <a:ext cx="384048" cy="384048"/>
          </a:xfrm>
          <a:prstGeom prst="ellipse">
            <a:avLst/>
          </a:prstGeom>
          <a:solidFill>
            <a:srgbClr val="64748B"/>
          </a:solidFill>
          <a:ln w="6350">
            <a:solidFill>
              <a:srgbClr val="64748B"/>
            </a:solidFill>
            <a:prstDash val="solid"/>
          </a:ln>
        </p:spPr>
      </p:sp>
      <p:sp>
        <p:nvSpPr>
          <p:cNvPr id="13" name="Text 11"/>
          <p:cNvSpPr txBox="1"/>
          <p:nvPr/>
        </p:nvSpPr>
        <p:spPr>
          <a:xfrm>
            <a:off x="22860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4" name="Text 12"/>
          <p:cNvSpPr txBox="1"/>
          <p:nvPr/>
        </p:nvSpPr>
        <p:spPr>
          <a:xfrm>
            <a:off x="2286000" y="2258568"/>
            <a:ext cx="1188720" cy="566928"/>
          </a:xfrm>
          <a:prstGeom prst="rect">
            <a:avLst/>
          </a:prstGeom>
          <a:noFill/>
          <a:ln/>
        </p:spPr>
        <p:txBody>
          <a:bodyPr wrap="square" lIns="0" tIns="0" rIns="0" bIns="0" rtlCol="0" anchor="t"/>
          <a:lstStyle/>
          <a:p>
            <a:pPr indent="0" marL="0">
              <a:buNone/>
            </a:pPr>
            <a:r>
              <a:rPr lang="en-US" sz="1450" b="1" dirty="0">
                <a:solidFill>
                  <a:srgbClr val="15181D"/>
                </a:solidFill>
                <a:latin typeface="Segoe UI Semibold" pitchFamily="34" charset="0"/>
                <a:ea typeface="Segoe UI Semibold" pitchFamily="34" charset="-122"/>
                <a:cs typeface="Segoe UI Semibold" pitchFamily="34" charset="-120"/>
              </a:rPr>
              <a:t>Set up</a:t>
            </a:r>
            <a:endParaRPr lang="en-US" sz="1450" dirty="0"/>
          </a:p>
        </p:txBody>
      </p:sp>
      <p:sp>
        <p:nvSpPr>
          <p:cNvPr id="15" name="Text 13"/>
          <p:cNvSpPr txBox="1"/>
          <p:nvPr/>
        </p:nvSpPr>
        <p:spPr>
          <a:xfrm>
            <a:off x="2286000" y="2807208"/>
            <a:ext cx="1188720" cy="256032"/>
          </a:xfrm>
          <a:prstGeom prst="rect">
            <a:avLst/>
          </a:prstGeom>
          <a:noFill/>
          <a:ln/>
        </p:spPr>
        <p:txBody>
          <a:bodyPr wrap="square" lIns="0" tIns="0" rIns="0" bIns="0" rtlCol="0" anchor="t"/>
          <a:lstStyle/>
          <a:p>
            <a:pPr indent="0" marL="0">
              <a:buNone/>
            </a:pPr>
            <a:r>
              <a:rPr lang="en-US" sz="1150" dirty="0">
                <a:solidFill>
                  <a:srgbClr val="5B6470"/>
                </a:solidFill>
                <a:latin typeface="Consolas" pitchFamily="34" charset="0"/>
                <a:ea typeface="Consolas" pitchFamily="34" charset="-122"/>
                <a:cs typeface="Consolas" pitchFamily="34" charset="-120"/>
              </a:rPr>
              <a:t>Cell 2</a:t>
            </a:r>
            <a:endParaRPr lang="en-US" sz="1150" dirty="0"/>
          </a:p>
        </p:txBody>
      </p:sp>
      <p:sp>
        <p:nvSpPr>
          <p:cNvPr id="16" name="Text 14"/>
          <p:cNvSpPr txBox="1"/>
          <p:nvPr/>
        </p:nvSpPr>
        <p:spPr>
          <a:xfrm>
            <a:off x="2286000" y="3081528"/>
            <a:ext cx="1188720" cy="566928"/>
          </a:xfrm>
          <a:prstGeom prst="rect">
            <a:avLst/>
          </a:prstGeom>
          <a:noFill/>
          <a:ln/>
        </p:spPr>
        <p:txBody>
          <a:bodyPr wrap="square" lIns="0" tIns="0" rIns="0" bIns="0" rtlCol="0" anchor="t"/>
          <a:lstStyle/>
          <a:p>
            <a:pPr indent="0" marL="0">
              <a:buNone/>
            </a:pPr>
            <a:r>
              <a:rPr lang="en-US" sz="1200" dirty="0">
                <a:solidFill>
                  <a:srgbClr val="2D333B"/>
                </a:solidFill>
                <a:latin typeface="Segoe UI" pitchFamily="34" charset="0"/>
                <a:ea typeface="Segoe UI" pitchFamily="34" charset="-122"/>
                <a:cs typeface="Segoe UI" pitchFamily="34" charset="-120"/>
              </a:rPr>
              <a:t>Project folders, git init</a:t>
            </a:r>
            <a:endParaRPr lang="en-US" sz="1200" dirty="0"/>
          </a:p>
        </p:txBody>
      </p:sp>
      <p:sp>
        <p:nvSpPr>
          <p:cNvPr id="17" name="Shape 15"/>
          <p:cNvSpPr/>
          <p:nvPr/>
        </p:nvSpPr>
        <p:spPr>
          <a:xfrm>
            <a:off x="3584448" y="2766060"/>
            <a:ext cx="146304" cy="0"/>
          </a:xfrm>
          <a:prstGeom prst="line">
            <a:avLst/>
          </a:prstGeom>
          <a:noFill/>
          <a:ln w="22225">
            <a:solidFill>
              <a:srgbClr val="B7C0CA"/>
            </a:solidFill>
            <a:prstDash val="solid"/>
            <a:tailEnd type="triangle"/>
          </a:ln>
        </p:spPr>
      </p:sp>
      <p:sp>
        <p:nvSpPr>
          <p:cNvPr id="18" name="Shape 16"/>
          <p:cNvSpPr/>
          <p:nvPr/>
        </p:nvSpPr>
        <p:spPr>
          <a:xfrm>
            <a:off x="3749040" y="1600200"/>
            <a:ext cx="1417320" cy="2331720"/>
          </a:xfrm>
          <a:prstGeom prst="roundRect">
            <a:avLst>
              <a:gd name="adj" fmla="val 5161"/>
            </a:avLst>
          </a:prstGeom>
          <a:solidFill>
            <a:srgbClr val="EEF6E0"/>
          </a:solidFill>
          <a:ln w="6350">
            <a:solidFill>
              <a:srgbClr val="EEF6E0"/>
            </a:solidFill>
            <a:prstDash val="solid"/>
          </a:ln>
        </p:spPr>
      </p:sp>
      <p:sp>
        <p:nvSpPr>
          <p:cNvPr id="19" name="Shape 17"/>
          <p:cNvSpPr/>
          <p:nvPr/>
        </p:nvSpPr>
        <p:spPr>
          <a:xfrm>
            <a:off x="3886200" y="1755648"/>
            <a:ext cx="384048" cy="384048"/>
          </a:xfrm>
          <a:prstGeom prst="ellipse">
            <a:avLst/>
          </a:prstGeom>
          <a:solidFill>
            <a:srgbClr val="76B900"/>
          </a:solidFill>
          <a:ln w="6350">
            <a:solidFill>
              <a:srgbClr val="76B900"/>
            </a:solidFill>
            <a:prstDash val="solid"/>
          </a:ln>
        </p:spPr>
      </p:sp>
      <p:sp>
        <p:nvSpPr>
          <p:cNvPr id="20" name="Text 18"/>
          <p:cNvSpPr txBox="1"/>
          <p:nvPr/>
        </p:nvSpPr>
        <p:spPr>
          <a:xfrm>
            <a:off x="38862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1" name="Text 19"/>
          <p:cNvSpPr txBox="1"/>
          <p:nvPr/>
        </p:nvSpPr>
        <p:spPr>
          <a:xfrm>
            <a:off x="3886200" y="2258568"/>
            <a:ext cx="1188720" cy="566928"/>
          </a:xfrm>
          <a:prstGeom prst="rect">
            <a:avLst/>
          </a:prstGeom>
          <a:noFill/>
          <a:ln/>
        </p:spPr>
        <p:txBody>
          <a:bodyPr wrap="square" lIns="0" tIns="0" rIns="0" bIns="0" rtlCol="0" anchor="t"/>
          <a:lstStyle/>
          <a:p>
            <a:pPr indent="0" marL="0">
              <a:buNone/>
            </a:pPr>
            <a:r>
              <a:rPr lang="en-US" sz="1450" b="1" dirty="0">
                <a:solidFill>
                  <a:srgbClr val="15181D"/>
                </a:solidFill>
                <a:latin typeface="Segoe UI Semibold" pitchFamily="34" charset="0"/>
                <a:ea typeface="Segoe UI Semibold" pitchFamily="34" charset="-122"/>
                <a:cs typeface="Segoe UI Semibold" pitchFamily="34" charset="-120"/>
              </a:rPr>
              <a:t>Write code</a:t>
            </a:r>
            <a:endParaRPr lang="en-US" sz="1450" dirty="0"/>
          </a:p>
        </p:txBody>
      </p:sp>
      <p:sp>
        <p:nvSpPr>
          <p:cNvPr id="22" name="Text 20"/>
          <p:cNvSpPr txBox="1"/>
          <p:nvPr/>
        </p:nvSpPr>
        <p:spPr>
          <a:xfrm>
            <a:off x="3886200" y="2807208"/>
            <a:ext cx="1188720" cy="256032"/>
          </a:xfrm>
          <a:prstGeom prst="rect">
            <a:avLst/>
          </a:prstGeom>
          <a:noFill/>
          <a:ln/>
        </p:spPr>
        <p:txBody>
          <a:bodyPr wrap="square" lIns="0" tIns="0" rIns="0" bIns="0" rtlCol="0" anchor="t"/>
          <a:lstStyle/>
          <a:p>
            <a:pPr indent="0" marL="0">
              <a:buNone/>
            </a:pPr>
            <a:r>
              <a:rPr lang="en-US" sz="1150" dirty="0">
                <a:solidFill>
                  <a:srgbClr val="5B6470"/>
                </a:solidFill>
                <a:latin typeface="Consolas" pitchFamily="34" charset="0"/>
                <a:ea typeface="Consolas" pitchFamily="34" charset="-122"/>
                <a:cs typeface="Consolas" pitchFamily="34" charset="-120"/>
              </a:rPr>
              <a:t>Cells 3–4</a:t>
            </a:r>
            <a:endParaRPr lang="en-US" sz="1150" dirty="0"/>
          </a:p>
        </p:txBody>
      </p:sp>
      <p:sp>
        <p:nvSpPr>
          <p:cNvPr id="23" name="Text 21"/>
          <p:cNvSpPr txBox="1"/>
          <p:nvPr/>
        </p:nvSpPr>
        <p:spPr>
          <a:xfrm>
            <a:off x="3886200" y="3081528"/>
            <a:ext cx="1188720" cy="566928"/>
          </a:xfrm>
          <a:prstGeom prst="rect">
            <a:avLst/>
          </a:prstGeom>
          <a:noFill/>
          <a:ln/>
        </p:spPr>
        <p:txBody>
          <a:bodyPr wrap="square" lIns="0" tIns="0" rIns="0" bIns="0" rtlCol="0" anchor="t"/>
          <a:lstStyle/>
          <a:p>
            <a:pPr indent="0" marL="0">
              <a:buNone/>
            </a:pPr>
            <a:r>
              <a:rPr lang="en-US" sz="1200" dirty="0">
                <a:solidFill>
                  <a:srgbClr val="2D333B"/>
                </a:solidFill>
                <a:latin typeface="Segoe UI" pitchFamily="34" charset="0"/>
                <a:ea typeface="Segoe UI" pitchFamily="34" charset="-122"/>
                <a:cs typeface="Segoe UI" pitchFamily="34" charset="-120"/>
              </a:rPr>
              <a:t>%%writefile the .c and .cu sources</a:t>
            </a:r>
            <a:endParaRPr lang="en-US" sz="1200" dirty="0"/>
          </a:p>
        </p:txBody>
      </p:sp>
      <p:sp>
        <p:nvSpPr>
          <p:cNvPr id="24" name="Text 22"/>
          <p:cNvSpPr txBox="1"/>
          <p:nvPr/>
        </p:nvSpPr>
        <p:spPr>
          <a:xfrm>
            <a:off x="3886200" y="3602736"/>
            <a:ext cx="1188720" cy="237744"/>
          </a:xfrm>
          <a:prstGeom prst="rect">
            <a:avLst/>
          </a:prstGeom>
          <a:noFill/>
          <a:ln/>
        </p:spPr>
        <p:txBody>
          <a:bodyPr wrap="square" lIns="0" tIns="0" rIns="0" bIns="0" rtlCol="0" anchor="t"/>
          <a:lstStyle/>
          <a:p>
            <a:pPr indent="0" marL="0">
              <a:buNone/>
            </a:pPr>
            <a:r>
              <a:rPr lang="en-US" sz="1050" b="1" dirty="0">
                <a:solidFill>
                  <a:srgbClr val="3F7A00"/>
                </a:solidFill>
                <a:latin typeface="Segoe UI Semibold" pitchFamily="34" charset="0"/>
                <a:ea typeface="Segoe UI Semibold" pitchFamily="34" charset="-122"/>
                <a:cs typeface="Segoe UI Semibold" pitchFamily="34" charset="-120"/>
              </a:rPr>
              <a:t>CP1 · CP2</a:t>
            </a:r>
            <a:endParaRPr lang="en-US" sz="1050" dirty="0"/>
          </a:p>
        </p:txBody>
      </p:sp>
      <p:sp>
        <p:nvSpPr>
          <p:cNvPr id="25" name="Shape 23"/>
          <p:cNvSpPr/>
          <p:nvPr/>
        </p:nvSpPr>
        <p:spPr>
          <a:xfrm>
            <a:off x="5184648" y="2766060"/>
            <a:ext cx="146304" cy="0"/>
          </a:xfrm>
          <a:prstGeom prst="line">
            <a:avLst/>
          </a:prstGeom>
          <a:noFill/>
          <a:ln w="22225">
            <a:solidFill>
              <a:srgbClr val="B7C0CA"/>
            </a:solidFill>
            <a:prstDash val="solid"/>
            <a:tailEnd type="triangle"/>
          </a:ln>
        </p:spPr>
      </p:sp>
      <p:sp>
        <p:nvSpPr>
          <p:cNvPr id="26" name="Shape 24"/>
          <p:cNvSpPr/>
          <p:nvPr/>
        </p:nvSpPr>
        <p:spPr>
          <a:xfrm>
            <a:off x="5349240" y="1600200"/>
            <a:ext cx="1417320" cy="2331720"/>
          </a:xfrm>
          <a:prstGeom prst="roundRect">
            <a:avLst>
              <a:gd name="adj" fmla="val 5161"/>
            </a:avLst>
          </a:prstGeom>
          <a:solidFill>
            <a:srgbClr val="EEF6E0"/>
          </a:solidFill>
          <a:ln w="6350">
            <a:solidFill>
              <a:srgbClr val="EEF6E0"/>
            </a:solidFill>
            <a:prstDash val="solid"/>
          </a:ln>
        </p:spPr>
      </p:sp>
      <p:sp>
        <p:nvSpPr>
          <p:cNvPr id="27" name="Shape 25"/>
          <p:cNvSpPr/>
          <p:nvPr/>
        </p:nvSpPr>
        <p:spPr>
          <a:xfrm>
            <a:off x="5486400" y="1755648"/>
            <a:ext cx="384048" cy="384048"/>
          </a:xfrm>
          <a:prstGeom prst="ellipse">
            <a:avLst/>
          </a:prstGeom>
          <a:solidFill>
            <a:srgbClr val="76B900"/>
          </a:solidFill>
          <a:ln w="6350">
            <a:solidFill>
              <a:srgbClr val="76B900"/>
            </a:solidFill>
            <a:prstDash val="solid"/>
          </a:ln>
        </p:spPr>
      </p:sp>
      <p:sp>
        <p:nvSpPr>
          <p:cNvPr id="28" name="Text 26"/>
          <p:cNvSpPr txBox="1"/>
          <p:nvPr/>
        </p:nvSpPr>
        <p:spPr>
          <a:xfrm>
            <a:off x="54864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9" name="Text 27"/>
          <p:cNvSpPr txBox="1"/>
          <p:nvPr/>
        </p:nvSpPr>
        <p:spPr>
          <a:xfrm>
            <a:off x="5486400" y="2258568"/>
            <a:ext cx="1188720" cy="566928"/>
          </a:xfrm>
          <a:prstGeom prst="rect">
            <a:avLst/>
          </a:prstGeom>
          <a:noFill/>
          <a:ln/>
        </p:spPr>
        <p:txBody>
          <a:bodyPr wrap="square" lIns="0" tIns="0" rIns="0" bIns="0" rtlCol="0" anchor="t"/>
          <a:lstStyle/>
          <a:p>
            <a:pPr indent="0" marL="0">
              <a:buNone/>
            </a:pPr>
            <a:r>
              <a:rPr lang="en-US" sz="1450" b="1" dirty="0">
                <a:solidFill>
                  <a:srgbClr val="15181D"/>
                </a:solidFill>
                <a:latin typeface="Segoe UI Semibold" pitchFamily="34" charset="0"/>
                <a:ea typeface="Segoe UI Semibold" pitchFamily="34" charset="-122"/>
                <a:cs typeface="Segoe UI Semibold" pitchFamily="34" charset="-120"/>
              </a:rPr>
              <a:t>Compile and check</a:t>
            </a:r>
            <a:endParaRPr lang="en-US" sz="1450" dirty="0"/>
          </a:p>
        </p:txBody>
      </p:sp>
      <p:sp>
        <p:nvSpPr>
          <p:cNvPr id="30" name="Text 28"/>
          <p:cNvSpPr txBox="1"/>
          <p:nvPr/>
        </p:nvSpPr>
        <p:spPr>
          <a:xfrm>
            <a:off x="5486400" y="2807208"/>
            <a:ext cx="1188720" cy="256032"/>
          </a:xfrm>
          <a:prstGeom prst="rect">
            <a:avLst/>
          </a:prstGeom>
          <a:noFill/>
          <a:ln/>
        </p:spPr>
        <p:txBody>
          <a:bodyPr wrap="square" lIns="0" tIns="0" rIns="0" bIns="0" rtlCol="0" anchor="t"/>
          <a:lstStyle/>
          <a:p>
            <a:pPr indent="0" marL="0">
              <a:buNone/>
            </a:pPr>
            <a:r>
              <a:rPr lang="en-US" sz="1150" dirty="0">
                <a:solidFill>
                  <a:srgbClr val="5B6470"/>
                </a:solidFill>
                <a:latin typeface="Consolas" pitchFamily="34" charset="0"/>
                <a:ea typeface="Consolas" pitchFamily="34" charset="-122"/>
                <a:cs typeface="Consolas" pitchFamily="34" charset="-120"/>
              </a:rPr>
              <a:t>Cell 5</a:t>
            </a:r>
            <a:endParaRPr lang="en-US" sz="1150" dirty="0"/>
          </a:p>
        </p:txBody>
      </p:sp>
      <p:sp>
        <p:nvSpPr>
          <p:cNvPr id="31" name="Text 29"/>
          <p:cNvSpPr txBox="1"/>
          <p:nvPr/>
        </p:nvSpPr>
        <p:spPr>
          <a:xfrm>
            <a:off x="5486400" y="3081528"/>
            <a:ext cx="1188720" cy="566928"/>
          </a:xfrm>
          <a:prstGeom prst="rect">
            <a:avLst/>
          </a:prstGeom>
          <a:noFill/>
          <a:ln/>
        </p:spPr>
        <p:txBody>
          <a:bodyPr wrap="square" lIns="0" tIns="0" rIns="0" bIns="0" rtlCol="0" anchor="t"/>
          <a:lstStyle/>
          <a:p>
            <a:pPr indent="0" marL="0">
              <a:buNone/>
            </a:pPr>
            <a:r>
              <a:rPr lang="en-US" sz="1200" dirty="0">
                <a:solidFill>
                  <a:srgbClr val="2D333B"/>
                </a:solidFill>
                <a:latin typeface="Segoe UI" pitchFamily="34" charset="0"/>
                <a:ea typeface="Segoe UI" pitchFamily="34" charset="-122"/>
                <a:cs typeface="Segoe UI" pitchFamily="34" charset="-120"/>
              </a:rPr>
              <a:t>gcc / nvcc -O2, run at N = 10⁷</a:t>
            </a:r>
            <a:endParaRPr lang="en-US" sz="1200" dirty="0"/>
          </a:p>
        </p:txBody>
      </p:sp>
      <p:sp>
        <p:nvSpPr>
          <p:cNvPr id="32" name="Text 30"/>
          <p:cNvSpPr txBox="1"/>
          <p:nvPr/>
        </p:nvSpPr>
        <p:spPr>
          <a:xfrm>
            <a:off x="5486400" y="3602736"/>
            <a:ext cx="1188720" cy="237744"/>
          </a:xfrm>
          <a:prstGeom prst="rect">
            <a:avLst/>
          </a:prstGeom>
          <a:noFill/>
          <a:ln/>
        </p:spPr>
        <p:txBody>
          <a:bodyPr wrap="square" lIns="0" tIns="0" rIns="0" bIns="0" rtlCol="0" anchor="t"/>
          <a:lstStyle/>
          <a:p>
            <a:pPr indent="0" marL="0">
              <a:buNone/>
            </a:pPr>
            <a:r>
              <a:rPr lang="en-US" sz="1050" b="1" dirty="0">
                <a:solidFill>
                  <a:srgbClr val="3F7A00"/>
                </a:solidFill>
                <a:latin typeface="Segoe UI Semibold" pitchFamily="34" charset="0"/>
                <a:ea typeface="Segoe UI Semibold" pitchFamily="34" charset="-122"/>
                <a:cs typeface="Segoe UI Semibold" pitchFamily="34" charset="-120"/>
              </a:rPr>
              <a:t>CP2</a:t>
            </a:r>
            <a:endParaRPr lang="en-US" sz="1050" dirty="0"/>
          </a:p>
        </p:txBody>
      </p:sp>
      <p:sp>
        <p:nvSpPr>
          <p:cNvPr id="33" name="Shape 31"/>
          <p:cNvSpPr/>
          <p:nvPr/>
        </p:nvSpPr>
        <p:spPr>
          <a:xfrm>
            <a:off x="6784848" y="2766060"/>
            <a:ext cx="146304" cy="0"/>
          </a:xfrm>
          <a:prstGeom prst="line">
            <a:avLst/>
          </a:prstGeom>
          <a:noFill/>
          <a:ln w="22225">
            <a:solidFill>
              <a:srgbClr val="B7C0CA"/>
            </a:solidFill>
            <a:prstDash val="solid"/>
            <a:tailEnd type="triangle"/>
          </a:ln>
        </p:spPr>
      </p:sp>
      <p:sp>
        <p:nvSpPr>
          <p:cNvPr id="34" name="Shape 32"/>
          <p:cNvSpPr/>
          <p:nvPr/>
        </p:nvSpPr>
        <p:spPr>
          <a:xfrm>
            <a:off x="6949440" y="1600200"/>
            <a:ext cx="1417320" cy="2331720"/>
          </a:xfrm>
          <a:prstGeom prst="roundRect">
            <a:avLst>
              <a:gd name="adj" fmla="val 5161"/>
            </a:avLst>
          </a:prstGeom>
          <a:solidFill>
            <a:srgbClr val="EEF6E0"/>
          </a:solidFill>
          <a:ln w="6350">
            <a:solidFill>
              <a:srgbClr val="EEF6E0"/>
            </a:solidFill>
            <a:prstDash val="solid"/>
          </a:ln>
        </p:spPr>
      </p:sp>
      <p:sp>
        <p:nvSpPr>
          <p:cNvPr id="35" name="Shape 33"/>
          <p:cNvSpPr/>
          <p:nvPr/>
        </p:nvSpPr>
        <p:spPr>
          <a:xfrm>
            <a:off x="7086600" y="1755648"/>
            <a:ext cx="384048" cy="384048"/>
          </a:xfrm>
          <a:prstGeom prst="ellipse">
            <a:avLst/>
          </a:prstGeom>
          <a:solidFill>
            <a:srgbClr val="76B900"/>
          </a:solidFill>
          <a:ln w="6350">
            <a:solidFill>
              <a:srgbClr val="76B900"/>
            </a:solidFill>
            <a:prstDash val="solid"/>
          </a:ln>
        </p:spPr>
      </p:sp>
      <p:sp>
        <p:nvSpPr>
          <p:cNvPr id="36" name="Text 34"/>
          <p:cNvSpPr txBox="1"/>
          <p:nvPr/>
        </p:nvSpPr>
        <p:spPr>
          <a:xfrm>
            <a:off x="70866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7" name="Text 35"/>
          <p:cNvSpPr txBox="1"/>
          <p:nvPr/>
        </p:nvSpPr>
        <p:spPr>
          <a:xfrm>
            <a:off x="7086600" y="2258568"/>
            <a:ext cx="1188720" cy="566928"/>
          </a:xfrm>
          <a:prstGeom prst="rect">
            <a:avLst/>
          </a:prstGeom>
          <a:noFill/>
          <a:ln/>
        </p:spPr>
        <p:txBody>
          <a:bodyPr wrap="square" lIns="0" tIns="0" rIns="0" bIns="0" rtlCol="0" anchor="t"/>
          <a:lstStyle/>
          <a:p>
            <a:pPr indent="0" marL="0">
              <a:buNone/>
            </a:pPr>
            <a:r>
              <a:rPr lang="en-US" sz="1450" b="1" dirty="0">
                <a:solidFill>
                  <a:srgbClr val="15181D"/>
                </a:solidFill>
                <a:latin typeface="Segoe UI Semibold" pitchFamily="34" charset="0"/>
                <a:ea typeface="Segoe UI Semibold" pitchFamily="34" charset="-122"/>
                <a:cs typeface="Segoe UI Semibold" pitchFamily="34" charset="-120"/>
              </a:rPr>
              <a:t>Benchmark</a:t>
            </a:r>
            <a:endParaRPr lang="en-US" sz="1450" dirty="0"/>
          </a:p>
        </p:txBody>
      </p:sp>
      <p:sp>
        <p:nvSpPr>
          <p:cNvPr id="38" name="Text 36"/>
          <p:cNvSpPr txBox="1"/>
          <p:nvPr/>
        </p:nvSpPr>
        <p:spPr>
          <a:xfrm>
            <a:off x="7086600" y="2807208"/>
            <a:ext cx="1188720" cy="256032"/>
          </a:xfrm>
          <a:prstGeom prst="rect">
            <a:avLst/>
          </a:prstGeom>
          <a:noFill/>
          <a:ln/>
        </p:spPr>
        <p:txBody>
          <a:bodyPr wrap="square" lIns="0" tIns="0" rIns="0" bIns="0" rtlCol="0" anchor="t"/>
          <a:lstStyle/>
          <a:p>
            <a:pPr indent="0" marL="0">
              <a:buNone/>
            </a:pPr>
            <a:r>
              <a:rPr lang="en-US" sz="1150" dirty="0">
                <a:solidFill>
                  <a:srgbClr val="5B6470"/>
                </a:solidFill>
                <a:latin typeface="Consolas" pitchFamily="34" charset="0"/>
                <a:ea typeface="Consolas" pitchFamily="34" charset="-122"/>
                <a:cs typeface="Consolas" pitchFamily="34" charset="-120"/>
              </a:rPr>
              <a:t>Cells 6–7</a:t>
            </a:r>
            <a:endParaRPr lang="en-US" sz="1150" dirty="0"/>
          </a:p>
        </p:txBody>
      </p:sp>
      <p:sp>
        <p:nvSpPr>
          <p:cNvPr id="39" name="Text 37"/>
          <p:cNvSpPr txBox="1"/>
          <p:nvPr/>
        </p:nvSpPr>
        <p:spPr>
          <a:xfrm>
            <a:off x="7086600" y="3081528"/>
            <a:ext cx="1188720" cy="566928"/>
          </a:xfrm>
          <a:prstGeom prst="rect">
            <a:avLst/>
          </a:prstGeom>
          <a:noFill/>
          <a:ln/>
        </p:spPr>
        <p:txBody>
          <a:bodyPr wrap="square" lIns="0" tIns="0" rIns="0" bIns="0" rtlCol="0" anchor="t"/>
          <a:lstStyle/>
          <a:p>
            <a:pPr indent="0" marL="0">
              <a:buNone/>
            </a:pPr>
            <a:r>
              <a:rPr lang="en-US" sz="1200" dirty="0">
                <a:solidFill>
                  <a:srgbClr val="2D333B"/>
                </a:solidFill>
                <a:latin typeface="Segoe UI" pitchFamily="34" charset="0"/>
                <a:ea typeface="Segoe UI" pitchFamily="34" charset="-122"/>
                <a:cs typeface="Segoe UI" pitchFamily="34" charset="-120"/>
              </a:rPr>
              <a:t>5 sizes → timing_data.csv</a:t>
            </a:r>
            <a:endParaRPr lang="en-US" sz="1200" dirty="0"/>
          </a:p>
        </p:txBody>
      </p:sp>
      <p:sp>
        <p:nvSpPr>
          <p:cNvPr id="40" name="Text 38"/>
          <p:cNvSpPr txBox="1"/>
          <p:nvPr/>
        </p:nvSpPr>
        <p:spPr>
          <a:xfrm>
            <a:off x="7086600" y="3602736"/>
            <a:ext cx="1188720" cy="237744"/>
          </a:xfrm>
          <a:prstGeom prst="rect">
            <a:avLst/>
          </a:prstGeom>
          <a:noFill/>
          <a:ln/>
        </p:spPr>
        <p:txBody>
          <a:bodyPr wrap="square" lIns="0" tIns="0" rIns="0" bIns="0" rtlCol="0" anchor="t"/>
          <a:lstStyle/>
          <a:p>
            <a:pPr indent="0" marL="0">
              <a:buNone/>
            </a:pPr>
            <a:r>
              <a:rPr lang="en-US" sz="1050" b="1" dirty="0">
                <a:solidFill>
                  <a:srgbClr val="3F7A00"/>
                </a:solidFill>
                <a:latin typeface="Segoe UI Semibold" pitchFamily="34" charset="0"/>
                <a:ea typeface="Segoe UI Semibold" pitchFamily="34" charset="-122"/>
                <a:cs typeface="Segoe UI Semibold" pitchFamily="34" charset="-120"/>
              </a:rPr>
              <a:t>CP3</a:t>
            </a:r>
            <a:endParaRPr lang="en-US" sz="1050" dirty="0"/>
          </a:p>
        </p:txBody>
      </p:sp>
      <p:sp>
        <p:nvSpPr>
          <p:cNvPr id="41" name="Shape 39"/>
          <p:cNvSpPr/>
          <p:nvPr/>
        </p:nvSpPr>
        <p:spPr>
          <a:xfrm>
            <a:off x="8385048" y="2766060"/>
            <a:ext cx="146304" cy="0"/>
          </a:xfrm>
          <a:prstGeom prst="line">
            <a:avLst/>
          </a:prstGeom>
          <a:noFill/>
          <a:ln w="22225">
            <a:solidFill>
              <a:srgbClr val="B7C0CA"/>
            </a:solidFill>
            <a:prstDash val="solid"/>
            <a:tailEnd type="triangle"/>
          </a:ln>
        </p:spPr>
      </p:sp>
      <p:sp>
        <p:nvSpPr>
          <p:cNvPr id="42" name="Shape 40"/>
          <p:cNvSpPr/>
          <p:nvPr/>
        </p:nvSpPr>
        <p:spPr>
          <a:xfrm>
            <a:off x="8549640" y="1600200"/>
            <a:ext cx="1417320" cy="2331720"/>
          </a:xfrm>
          <a:prstGeom prst="roundRect">
            <a:avLst>
              <a:gd name="adj" fmla="val 5161"/>
            </a:avLst>
          </a:prstGeom>
          <a:solidFill>
            <a:srgbClr val="EEF6E0"/>
          </a:solidFill>
          <a:ln w="6350">
            <a:solidFill>
              <a:srgbClr val="EEF6E0"/>
            </a:solidFill>
            <a:prstDash val="solid"/>
          </a:ln>
        </p:spPr>
      </p:sp>
      <p:sp>
        <p:nvSpPr>
          <p:cNvPr id="43" name="Shape 41"/>
          <p:cNvSpPr/>
          <p:nvPr/>
        </p:nvSpPr>
        <p:spPr>
          <a:xfrm>
            <a:off x="8686800" y="1755648"/>
            <a:ext cx="384048" cy="384048"/>
          </a:xfrm>
          <a:prstGeom prst="ellipse">
            <a:avLst/>
          </a:prstGeom>
          <a:solidFill>
            <a:srgbClr val="76B900"/>
          </a:solidFill>
          <a:ln w="6350">
            <a:solidFill>
              <a:srgbClr val="76B900"/>
            </a:solidFill>
            <a:prstDash val="solid"/>
          </a:ln>
        </p:spPr>
      </p:sp>
      <p:sp>
        <p:nvSpPr>
          <p:cNvPr id="44" name="Text 42"/>
          <p:cNvSpPr txBox="1"/>
          <p:nvPr/>
        </p:nvSpPr>
        <p:spPr>
          <a:xfrm>
            <a:off x="86868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5" name="Text 43"/>
          <p:cNvSpPr txBox="1"/>
          <p:nvPr/>
        </p:nvSpPr>
        <p:spPr>
          <a:xfrm>
            <a:off x="8686800" y="2258568"/>
            <a:ext cx="1188720" cy="566928"/>
          </a:xfrm>
          <a:prstGeom prst="rect">
            <a:avLst/>
          </a:prstGeom>
          <a:noFill/>
          <a:ln/>
        </p:spPr>
        <p:txBody>
          <a:bodyPr wrap="square" lIns="0" tIns="0" rIns="0" bIns="0" rtlCol="0" anchor="t"/>
          <a:lstStyle/>
          <a:p>
            <a:pPr indent="0" marL="0">
              <a:buNone/>
            </a:pPr>
            <a:r>
              <a:rPr lang="en-US" sz="1450" b="1" dirty="0">
                <a:solidFill>
                  <a:srgbClr val="15181D"/>
                </a:solidFill>
                <a:latin typeface="Segoe UI Semibold" pitchFamily="34" charset="0"/>
                <a:ea typeface="Segoe UI Semibold" pitchFamily="34" charset="-122"/>
                <a:cs typeface="Segoe UI Semibold" pitchFamily="34" charset="-120"/>
              </a:rPr>
              <a:t>Analyse</a:t>
            </a:r>
            <a:endParaRPr lang="en-US" sz="1450" dirty="0"/>
          </a:p>
        </p:txBody>
      </p:sp>
      <p:sp>
        <p:nvSpPr>
          <p:cNvPr id="46" name="Text 44"/>
          <p:cNvSpPr txBox="1"/>
          <p:nvPr/>
        </p:nvSpPr>
        <p:spPr>
          <a:xfrm>
            <a:off x="8686800" y="2807208"/>
            <a:ext cx="1188720" cy="256032"/>
          </a:xfrm>
          <a:prstGeom prst="rect">
            <a:avLst/>
          </a:prstGeom>
          <a:noFill/>
          <a:ln/>
        </p:spPr>
        <p:txBody>
          <a:bodyPr wrap="square" lIns="0" tIns="0" rIns="0" bIns="0" rtlCol="0" anchor="t"/>
          <a:lstStyle/>
          <a:p>
            <a:pPr indent="0" marL="0">
              <a:buNone/>
            </a:pPr>
            <a:r>
              <a:rPr lang="en-US" sz="1150" dirty="0">
                <a:solidFill>
                  <a:srgbClr val="5B6470"/>
                </a:solidFill>
                <a:latin typeface="Consolas" pitchFamily="34" charset="0"/>
                <a:ea typeface="Consolas" pitchFamily="34" charset="-122"/>
                <a:cs typeface="Consolas" pitchFamily="34" charset="-120"/>
              </a:rPr>
              <a:t>Cells 8–9</a:t>
            </a:r>
            <a:endParaRPr lang="en-US" sz="1150" dirty="0"/>
          </a:p>
        </p:txBody>
      </p:sp>
      <p:sp>
        <p:nvSpPr>
          <p:cNvPr id="47" name="Text 45"/>
          <p:cNvSpPr txBox="1"/>
          <p:nvPr/>
        </p:nvSpPr>
        <p:spPr>
          <a:xfrm>
            <a:off x="8686800" y="3081528"/>
            <a:ext cx="1188720" cy="566928"/>
          </a:xfrm>
          <a:prstGeom prst="rect">
            <a:avLst/>
          </a:prstGeom>
          <a:noFill/>
          <a:ln/>
        </p:spPr>
        <p:txBody>
          <a:bodyPr wrap="square" lIns="0" tIns="0" rIns="0" bIns="0" rtlCol="0" anchor="t"/>
          <a:lstStyle/>
          <a:p>
            <a:pPr indent="0" marL="0">
              <a:buNone/>
            </a:pPr>
            <a:r>
              <a:rPr lang="en-US" sz="1200" dirty="0">
                <a:solidFill>
                  <a:srgbClr val="2D333B"/>
                </a:solidFill>
                <a:latin typeface="Segoe UI" pitchFamily="34" charset="0"/>
                <a:ea typeface="Segoe UI" pitchFamily="34" charset="-122"/>
                <a:cs typeface="Segoe UI" pitchFamily="34" charset="-120"/>
              </a:rPr>
              <a:t>pandas metrics, 9 figures</a:t>
            </a:r>
            <a:endParaRPr lang="en-US" sz="1200" dirty="0"/>
          </a:p>
        </p:txBody>
      </p:sp>
      <p:sp>
        <p:nvSpPr>
          <p:cNvPr id="48" name="Text 46"/>
          <p:cNvSpPr txBox="1"/>
          <p:nvPr/>
        </p:nvSpPr>
        <p:spPr>
          <a:xfrm>
            <a:off x="8686800" y="3602736"/>
            <a:ext cx="1188720" cy="237744"/>
          </a:xfrm>
          <a:prstGeom prst="rect">
            <a:avLst/>
          </a:prstGeom>
          <a:noFill/>
          <a:ln/>
        </p:spPr>
        <p:txBody>
          <a:bodyPr wrap="square" lIns="0" tIns="0" rIns="0" bIns="0" rtlCol="0" anchor="t"/>
          <a:lstStyle/>
          <a:p>
            <a:pPr indent="0" marL="0">
              <a:buNone/>
            </a:pPr>
            <a:r>
              <a:rPr lang="en-US" sz="1050" b="1" dirty="0">
                <a:solidFill>
                  <a:srgbClr val="3F7A00"/>
                </a:solidFill>
                <a:latin typeface="Segoe UI Semibold" pitchFamily="34" charset="0"/>
                <a:ea typeface="Segoe UI Semibold" pitchFamily="34" charset="-122"/>
                <a:cs typeface="Segoe UI Semibold" pitchFamily="34" charset="-120"/>
              </a:rPr>
              <a:t>CP4</a:t>
            </a:r>
            <a:endParaRPr lang="en-US" sz="1050" dirty="0"/>
          </a:p>
        </p:txBody>
      </p:sp>
      <p:sp>
        <p:nvSpPr>
          <p:cNvPr id="49" name="Shape 47"/>
          <p:cNvSpPr/>
          <p:nvPr/>
        </p:nvSpPr>
        <p:spPr>
          <a:xfrm>
            <a:off x="9985248" y="2766060"/>
            <a:ext cx="146304" cy="0"/>
          </a:xfrm>
          <a:prstGeom prst="line">
            <a:avLst/>
          </a:prstGeom>
          <a:noFill/>
          <a:ln w="22225">
            <a:solidFill>
              <a:srgbClr val="B7C0CA"/>
            </a:solidFill>
            <a:prstDash val="solid"/>
            <a:tailEnd type="triangle"/>
          </a:ln>
        </p:spPr>
      </p:sp>
      <p:sp>
        <p:nvSpPr>
          <p:cNvPr id="50" name="Shape 48"/>
          <p:cNvSpPr/>
          <p:nvPr/>
        </p:nvSpPr>
        <p:spPr>
          <a:xfrm>
            <a:off x="10149840" y="1600200"/>
            <a:ext cx="1417320" cy="2331720"/>
          </a:xfrm>
          <a:prstGeom prst="roundRect">
            <a:avLst>
              <a:gd name="adj" fmla="val 5161"/>
            </a:avLst>
          </a:prstGeom>
          <a:solidFill>
            <a:srgbClr val="F3F5F7"/>
          </a:solidFill>
          <a:ln w="6350">
            <a:solidFill>
              <a:srgbClr val="F3F5F7"/>
            </a:solidFill>
            <a:prstDash val="solid"/>
          </a:ln>
        </p:spPr>
      </p:sp>
      <p:sp>
        <p:nvSpPr>
          <p:cNvPr id="51" name="Shape 49"/>
          <p:cNvSpPr/>
          <p:nvPr/>
        </p:nvSpPr>
        <p:spPr>
          <a:xfrm>
            <a:off x="10287000" y="1755648"/>
            <a:ext cx="384048" cy="384048"/>
          </a:xfrm>
          <a:prstGeom prst="ellipse">
            <a:avLst/>
          </a:prstGeom>
          <a:solidFill>
            <a:srgbClr val="64748B"/>
          </a:solidFill>
          <a:ln w="6350">
            <a:solidFill>
              <a:srgbClr val="64748B"/>
            </a:solidFill>
            <a:prstDash val="solid"/>
          </a:ln>
        </p:spPr>
      </p:sp>
      <p:sp>
        <p:nvSpPr>
          <p:cNvPr id="52" name="Text 50"/>
          <p:cNvSpPr txBox="1"/>
          <p:nvPr/>
        </p:nvSpPr>
        <p:spPr>
          <a:xfrm>
            <a:off x="102870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53" name="Text 51"/>
          <p:cNvSpPr txBox="1"/>
          <p:nvPr/>
        </p:nvSpPr>
        <p:spPr>
          <a:xfrm>
            <a:off x="10287000" y="2258568"/>
            <a:ext cx="1188720" cy="566928"/>
          </a:xfrm>
          <a:prstGeom prst="rect">
            <a:avLst/>
          </a:prstGeom>
          <a:noFill/>
          <a:ln/>
        </p:spPr>
        <p:txBody>
          <a:bodyPr wrap="square" lIns="0" tIns="0" rIns="0" bIns="0" rtlCol="0" anchor="t"/>
          <a:lstStyle/>
          <a:p>
            <a:pPr indent="0" marL="0">
              <a:buNone/>
            </a:pPr>
            <a:r>
              <a:rPr lang="en-US" sz="1450" b="1" dirty="0">
                <a:solidFill>
                  <a:srgbClr val="15181D"/>
                </a:solidFill>
                <a:latin typeface="Segoe UI Semibold" pitchFamily="34" charset="0"/>
                <a:ea typeface="Segoe UI Semibold" pitchFamily="34" charset="-122"/>
                <a:cs typeface="Segoe UI Semibold" pitchFamily="34" charset="-120"/>
              </a:rPr>
              <a:t>Package</a:t>
            </a:r>
            <a:endParaRPr lang="en-US" sz="1450" dirty="0"/>
          </a:p>
        </p:txBody>
      </p:sp>
      <p:sp>
        <p:nvSpPr>
          <p:cNvPr id="54" name="Text 52"/>
          <p:cNvSpPr txBox="1"/>
          <p:nvPr/>
        </p:nvSpPr>
        <p:spPr>
          <a:xfrm>
            <a:off x="10287000" y="2807208"/>
            <a:ext cx="1188720" cy="256032"/>
          </a:xfrm>
          <a:prstGeom prst="rect">
            <a:avLst/>
          </a:prstGeom>
          <a:noFill/>
          <a:ln/>
        </p:spPr>
        <p:txBody>
          <a:bodyPr wrap="square" lIns="0" tIns="0" rIns="0" bIns="0" rtlCol="0" anchor="t"/>
          <a:lstStyle/>
          <a:p>
            <a:pPr indent="0" marL="0">
              <a:buNone/>
            </a:pPr>
            <a:r>
              <a:rPr lang="en-US" sz="1150" dirty="0">
                <a:solidFill>
                  <a:srgbClr val="5B6470"/>
                </a:solidFill>
                <a:latin typeface="Consolas" pitchFamily="34" charset="0"/>
                <a:ea typeface="Consolas" pitchFamily="34" charset="-122"/>
                <a:cs typeface="Consolas" pitchFamily="34" charset="-120"/>
              </a:rPr>
              <a:t>Cell 10</a:t>
            </a:r>
            <a:endParaRPr lang="en-US" sz="1150" dirty="0"/>
          </a:p>
        </p:txBody>
      </p:sp>
      <p:sp>
        <p:nvSpPr>
          <p:cNvPr id="55" name="Text 53"/>
          <p:cNvSpPr txBox="1"/>
          <p:nvPr/>
        </p:nvSpPr>
        <p:spPr>
          <a:xfrm>
            <a:off x="10287000" y="3081528"/>
            <a:ext cx="1188720" cy="566928"/>
          </a:xfrm>
          <a:prstGeom prst="rect">
            <a:avLst/>
          </a:prstGeom>
          <a:noFill/>
          <a:ln/>
        </p:spPr>
        <p:txBody>
          <a:bodyPr wrap="square" lIns="0" tIns="0" rIns="0" bIns="0" rtlCol="0" anchor="t"/>
          <a:lstStyle/>
          <a:p>
            <a:pPr indent="0" marL="0">
              <a:buNone/>
            </a:pPr>
            <a:r>
              <a:rPr lang="en-US" sz="1200" dirty="0">
                <a:solidFill>
                  <a:srgbClr val="2D333B"/>
                </a:solidFill>
                <a:latin typeface="Segoe UI" pitchFamily="34" charset="0"/>
                <a:ea typeface="Segoe UI" pitchFamily="34" charset="-122"/>
                <a:cs typeface="Segoe UI" pitchFamily="34" charset="-120"/>
              </a:rPr>
              <a:t>zip and download</a:t>
            </a:r>
            <a:endParaRPr lang="en-US" sz="1200" dirty="0"/>
          </a:p>
        </p:txBody>
      </p:sp>
      <p:sp>
        <p:nvSpPr>
          <p:cNvPr id="56" name="Text 54"/>
          <p:cNvSpPr txBox="1"/>
          <p:nvPr/>
        </p:nvSpPr>
        <p:spPr>
          <a:xfrm>
            <a:off x="548640" y="4251960"/>
            <a:ext cx="5486400" cy="320040"/>
          </a:xfrm>
          <a:prstGeom prst="rect">
            <a:avLst/>
          </a:prstGeom>
          <a:noFill/>
          <a:ln/>
        </p:spPr>
        <p:txBody>
          <a:bodyPr wrap="square" lIns="0" tIns="0" rIns="0" bIns="0" rtlCol="0" anchor="t"/>
          <a:lstStyle/>
          <a:p>
            <a:pPr indent="0" marL="0">
              <a:buNone/>
            </a:pPr>
            <a:r>
              <a:rPr lang="en-US" sz="1600" b="1" dirty="0">
                <a:solidFill>
                  <a:srgbClr val="15181D"/>
                </a:solidFill>
                <a:latin typeface="Segoe UI Semibold" pitchFamily="34" charset="0"/>
                <a:ea typeface="Segoe UI Semibold" pitchFamily="34" charset="-122"/>
                <a:cs typeface="Segoe UI Semibold" pitchFamily="34" charset="-120"/>
              </a:rPr>
              <a:t>What the run produced</a:t>
            </a:r>
            <a:endParaRPr lang="en-US" sz="1600" dirty="0"/>
          </a:p>
        </p:txBody>
      </p:sp>
      <p:sp>
        <p:nvSpPr>
          <p:cNvPr id="57" name="Shape 55"/>
          <p:cNvSpPr/>
          <p:nvPr/>
        </p:nvSpPr>
        <p:spPr>
          <a:xfrm>
            <a:off x="548640" y="4663440"/>
            <a:ext cx="2103120" cy="914400"/>
          </a:xfrm>
          <a:prstGeom prst="roundRect">
            <a:avLst>
              <a:gd name="adj" fmla="val 8000"/>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58" name="Text 56"/>
          <p:cNvSpPr txBox="1"/>
          <p:nvPr/>
        </p:nvSpPr>
        <p:spPr>
          <a:xfrm>
            <a:off x="713232" y="4754880"/>
            <a:ext cx="1828800" cy="320040"/>
          </a:xfrm>
          <a:prstGeom prst="rect">
            <a:avLst/>
          </a:prstGeom>
          <a:noFill/>
          <a:ln/>
        </p:spPr>
        <p:txBody>
          <a:bodyPr wrap="square" lIns="0" tIns="0" rIns="0" bIns="0" rtlCol="0" anchor="t"/>
          <a:lstStyle/>
          <a:p>
            <a:pPr indent="0" marL="0">
              <a:buNone/>
            </a:pPr>
            <a:r>
              <a:rPr lang="en-US" sz="1350" b="1" dirty="0">
                <a:solidFill>
                  <a:srgbClr val="3F7A00"/>
                </a:solidFill>
                <a:latin typeface="Consolas" pitchFamily="34" charset="0"/>
                <a:ea typeface="Consolas" pitchFamily="34" charset="-122"/>
                <a:cs typeface="Consolas" pitchFamily="34" charset="-120"/>
              </a:rPr>
              <a:t>Screenshot 01</a:t>
            </a:r>
            <a:endParaRPr lang="en-US" sz="1350" dirty="0"/>
          </a:p>
        </p:txBody>
      </p:sp>
      <p:sp>
        <p:nvSpPr>
          <p:cNvPr id="59" name="Text 57"/>
          <p:cNvSpPr txBox="1"/>
          <p:nvPr/>
        </p:nvSpPr>
        <p:spPr>
          <a:xfrm>
            <a:off x="713232" y="5074920"/>
            <a:ext cx="1828800" cy="41148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GPU and toolchain versions</a:t>
            </a:r>
            <a:endParaRPr lang="en-US" sz="1200" dirty="0"/>
          </a:p>
        </p:txBody>
      </p:sp>
      <p:sp>
        <p:nvSpPr>
          <p:cNvPr id="60" name="Shape 58"/>
          <p:cNvSpPr/>
          <p:nvPr/>
        </p:nvSpPr>
        <p:spPr>
          <a:xfrm>
            <a:off x="2802636" y="4663440"/>
            <a:ext cx="2103120" cy="914400"/>
          </a:xfrm>
          <a:prstGeom prst="roundRect">
            <a:avLst>
              <a:gd name="adj" fmla="val 8000"/>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61" name="Text 59"/>
          <p:cNvSpPr txBox="1"/>
          <p:nvPr/>
        </p:nvSpPr>
        <p:spPr>
          <a:xfrm>
            <a:off x="2967228" y="4754880"/>
            <a:ext cx="1828800" cy="320040"/>
          </a:xfrm>
          <a:prstGeom prst="rect">
            <a:avLst/>
          </a:prstGeom>
          <a:noFill/>
          <a:ln/>
        </p:spPr>
        <p:txBody>
          <a:bodyPr wrap="square" lIns="0" tIns="0" rIns="0" bIns="0" rtlCol="0" anchor="t"/>
          <a:lstStyle/>
          <a:p>
            <a:pPr indent="0" marL="0">
              <a:buNone/>
            </a:pPr>
            <a:r>
              <a:rPr lang="en-US" sz="1350" b="1" dirty="0">
                <a:solidFill>
                  <a:srgbClr val="3F7A00"/>
                </a:solidFill>
                <a:latin typeface="Consolas" pitchFamily="34" charset="0"/>
                <a:ea typeface="Consolas" pitchFamily="34" charset="-122"/>
                <a:cs typeface="Consolas" pitchFamily="34" charset="-120"/>
              </a:rPr>
              <a:t>src/</a:t>
            </a:r>
            <a:endParaRPr lang="en-US" sz="1350" dirty="0"/>
          </a:p>
        </p:txBody>
      </p:sp>
      <p:sp>
        <p:nvSpPr>
          <p:cNvPr id="62" name="Text 60"/>
          <p:cNvSpPr txBox="1"/>
          <p:nvPr/>
        </p:nvSpPr>
        <p:spPr>
          <a:xfrm>
            <a:off x="2967228" y="5074920"/>
            <a:ext cx="1828800" cy="41148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vector_cpu.c, vector_cuda.cu</a:t>
            </a:r>
            <a:endParaRPr lang="en-US" sz="1200" dirty="0"/>
          </a:p>
        </p:txBody>
      </p:sp>
      <p:sp>
        <p:nvSpPr>
          <p:cNvPr id="63" name="Shape 61"/>
          <p:cNvSpPr/>
          <p:nvPr/>
        </p:nvSpPr>
        <p:spPr>
          <a:xfrm>
            <a:off x="5056632" y="4663440"/>
            <a:ext cx="2103120" cy="914400"/>
          </a:xfrm>
          <a:prstGeom prst="roundRect">
            <a:avLst>
              <a:gd name="adj" fmla="val 8000"/>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64" name="Text 62"/>
          <p:cNvSpPr txBox="1"/>
          <p:nvPr/>
        </p:nvSpPr>
        <p:spPr>
          <a:xfrm>
            <a:off x="5221224" y="4754880"/>
            <a:ext cx="1828800" cy="320040"/>
          </a:xfrm>
          <a:prstGeom prst="rect">
            <a:avLst/>
          </a:prstGeom>
          <a:noFill/>
          <a:ln/>
        </p:spPr>
        <p:txBody>
          <a:bodyPr wrap="square" lIns="0" tIns="0" rIns="0" bIns="0" rtlCol="0" anchor="t"/>
          <a:lstStyle/>
          <a:p>
            <a:pPr indent="0" marL="0">
              <a:buNone/>
            </a:pPr>
            <a:r>
              <a:rPr lang="en-US" sz="1350" b="1" dirty="0">
                <a:solidFill>
                  <a:srgbClr val="3F7A00"/>
                </a:solidFill>
                <a:latin typeface="Consolas" pitchFamily="34" charset="0"/>
                <a:ea typeface="Consolas" pitchFamily="34" charset="-122"/>
                <a:cs typeface="Consolas" pitchFamily="34" charset="-120"/>
              </a:rPr>
              <a:t>Screenshot 02</a:t>
            </a:r>
            <a:endParaRPr lang="en-US" sz="1350" dirty="0"/>
          </a:p>
        </p:txBody>
      </p:sp>
      <p:sp>
        <p:nvSpPr>
          <p:cNvPr id="65" name="Text 63"/>
          <p:cNvSpPr txBox="1"/>
          <p:nvPr/>
        </p:nvSpPr>
        <p:spPr>
          <a:xfrm>
            <a:off x="5221224" y="5074920"/>
            <a:ext cx="1828800" cy="41148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3.00 / 2.00 on CPU and GPU</a:t>
            </a:r>
            <a:endParaRPr lang="en-US" sz="1200" dirty="0"/>
          </a:p>
        </p:txBody>
      </p:sp>
      <p:sp>
        <p:nvSpPr>
          <p:cNvPr id="66" name="Shape 64"/>
          <p:cNvSpPr/>
          <p:nvPr/>
        </p:nvSpPr>
        <p:spPr>
          <a:xfrm>
            <a:off x="7310628" y="4663440"/>
            <a:ext cx="2103120" cy="914400"/>
          </a:xfrm>
          <a:prstGeom prst="roundRect">
            <a:avLst>
              <a:gd name="adj" fmla="val 8000"/>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67" name="Text 65"/>
          <p:cNvSpPr txBox="1"/>
          <p:nvPr/>
        </p:nvSpPr>
        <p:spPr>
          <a:xfrm>
            <a:off x="7475220" y="4754880"/>
            <a:ext cx="1828800" cy="320040"/>
          </a:xfrm>
          <a:prstGeom prst="rect">
            <a:avLst/>
          </a:prstGeom>
          <a:noFill/>
          <a:ln/>
        </p:spPr>
        <p:txBody>
          <a:bodyPr wrap="square" lIns="0" tIns="0" rIns="0" bIns="0" rtlCol="0" anchor="t"/>
          <a:lstStyle/>
          <a:p>
            <a:pPr indent="0" marL="0">
              <a:buNone/>
            </a:pPr>
            <a:r>
              <a:rPr lang="en-US" sz="1350" b="1" dirty="0">
                <a:solidFill>
                  <a:srgbClr val="3F7A00"/>
                </a:solidFill>
                <a:latin typeface="Consolas" pitchFamily="34" charset="0"/>
                <a:ea typeface="Consolas" pitchFamily="34" charset="-122"/>
                <a:cs typeface="Consolas" pitchFamily="34" charset="-120"/>
              </a:rPr>
              <a:t>timing_data.csv</a:t>
            </a:r>
            <a:endParaRPr lang="en-US" sz="1350" dirty="0"/>
          </a:p>
        </p:txBody>
      </p:sp>
      <p:sp>
        <p:nvSpPr>
          <p:cNvPr id="68" name="Text 66"/>
          <p:cNvSpPr txBox="1"/>
          <p:nvPr/>
        </p:nvSpPr>
        <p:spPr>
          <a:xfrm>
            <a:off x="7475220" y="5074920"/>
            <a:ext cx="1828800" cy="41148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5 sizes × 5 timings</a:t>
            </a:r>
            <a:endParaRPr lang="en-US" sz="1200" dirty="0"/>
          </a:p>
        </p:txBody>
      </p:sp>
      <p:sp>
        <p:nvSpPr>
          <p:cNvPr id="69" name="Shape 67"/>
          <p:cNvSpPr/>
          <p:nvPr/>
        </p:nvSpPr>
        <p:spPr>
          <a:xfrm>
            <a:off x="9564624" y="4663440"/>
            <a:ext cx="2103120" cy="914400"/>
          </a:xfrm>
          <a:prstGeom prst="roundRect">
            <a:avLst>
              <a:gd name="adj" fmla="val 8000"/>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70" name="Text 68"/>
          <p:cNvSpPr txBox="1"/>
          <p:nvPr/>
        </p:nvSpPr>
        <p:spPr>
          <a:xfrm>
            <a:off x="9729216" y="4754880"/>
            <a:ext cx="1828800" cy="320040"/>
          </a:xfrm>
          <a:prstGeom prst="rect">
            <a:avLst/>
          </a:prstGeom>
          <a:noFill/>
          <a:ln/>
        </p:spPr>
        <p:txBody>
          <a:bodyPr wrap="square" lIns="0" tIns="0" rIns="0" bIns="0" rtlCol="0" anchor="t"/>
          <a:lstStyle/>
          <a:p>
            <a:pPr indent="0" marL="0">
              <a:buNone/>
            </a:pPr>
            <a:r>
              <a:rPr lang="en-US" sz="1350" b="1" dirty="0">
                <a:solidFill>
                  <a:srgbClr val="3F7A00"/>
                </a:solidFill>
                <a:latin typeface="Consolas" pitchFamily="34" charset="0"/>
                <a:ea typeface="Consolas" pitchFamily="34" charset="-122"/>
                <a:cs typeface="Consolas" pitchFamily="34" charset="-120"/>
              </a:rPr>
              <a:t>graphs/01–09</a:t>
            </a:r>
            <a:endParaRPr lang="en-US" sz="1350" dirty="0"/>
          </a:p>
        </p:txBody>
      </p:sp>
      <p:sp>
        <p:nvSpPr>
          <p:cNvPr id="71" name="Text 69"/>
          <p:cNvSpPr txBox="1"/>
          <p:nvPr/>
        </p:nvSpPr>
        <p:spPr>
          <a:xfrm>
            <a:off x="9729216" y="5074920"/>
            <a:ext cx="1828800" cy="41148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execution time, speedup, PCIe…</a:t>
            </a:r>
            <a:endParaRPr lang="en-US" sz="1200" dirty="0"/>
          </a:p>
        </p:txBody>
      </p:sp>
      <p:sp>
        <p:nvSpPr>
          <p:cNvPr id="72" name="Text 70"/>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250" i="1" dirty="0">
                <a:solidFill>
                  <a:srgbClr val="5B6470"/>
                </a:solidFill>
                <a:latin typeface="Segoe UI" pitchFamily="34" charset="0"/>
                <a:ea typeface="Segoe UI" pitchFamily="34" charset="-122"/>
                <a:cs typeface="Segoe UI" pitchFamily="34" charset="-120"/>
              </a:rPr>
              <a:t>In Colab, a leading ! runs a shell command and %%writefile saves a cell as a file, so the whole experiment lives in one notebook (notebook/pgc_codes.ipynb).</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The CPU baseline: two simple loops on one core</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1  ·  SEQUENTIAL ALGORITHM</a:t>
            </a:r>
            <a:endParaRPr lang="en-US" sz="1100" dirty="0"/>
          </a:p>
        </p:txBody>
      </p:sp>
      <p:sp>
        <p:nvSpPr>
          <p:cNvPr id="4" name="Shape 2"/>
          <p:cNvSpPr/>
          <p:nvPr/>
        </p:nvSpPr>
        <p:spPr>
          <a:xfrm>
            <a:off x="548640" y="1463040"/>
            <a:ext cx="5852160" cy="2011680"/>
          </a:xfrm>
          <a:prstGeom prst="roundRect">
            <a:avLst>
              <a:gd name="adj" fmla="val 3636"/>
            </a:avLst>
          </a:prstGeom>
          <a:solidFill>
            <a:srgbClr val="1E2227"/>
          </a:solidFill>
          <a:ln w="6350">
            <a:solidFill>
              <a:srgbClr val="1E2227"/>
            </a:solidFill>
            <a:prstDash val="solid"/>
          </a:ln>
          <a:effectLst>
            <a:outerShdw sx="100000" sy="100000" kx="0" ky="0" algn="bl" rotWithShape="0" blurRad="88900" dist="25400" dir="5400000">
              <a:srgbClr val="000000">
                <a:alpha val="12000"/>
              </a:srgbClr>
            </a:outerShdw>
          </a:effectLst>
        </p:spPr>
      </p:sp>
      <p:sp>
        <p:nvSpPr>
          <p:cNvPr id="5" name="Text 3"/>
          <p:cNvSpPr txBox="1"/>
          <p:nvPr/>
        </p:nvSpPr>
        <p:spPr>
          <a:xfrm>
            <a:off x="777240" y="1645920"/>
            <a:ext cx="5486400" cy="1691640"/>
          </a:xfrm>
          <a:prstGeom prst="rect">
            <a:avLst/>
          </a:prstGeom>
          <a:noFill/>
          <a:ln/>
        </p:spPr>
        <p:txBody>
          <a:bodyPr wrap="square" lIns="0" tIns="0" rIns="0" bIns="0" rtlCol="0" anchor="t"/>
          <a:lstStyle/>
          <a:p>
            <a:pPr indent="0" marL="0">
              <a:lnSpc>
                <a:spcPct val="115000"/>
              </a:lnSpc>
              <a:buNone/>
            </a:pPr>
            <a:r>
              <a:rPr lang="en-US" sz="1400" dirty="0">
                <a:solidFill>
                  <a:srgbClr val="7EE787"/>
                </a:solidFill>
                <a:latin typeface="Consolas" pitchFamily="34" charset="0"/>
                <a:ea typeface="Consolas" pitchFamily="34" charset="-122"/>
                <a:cs typeface="Consolas" pitchFamily="34" charset="-120"/>
              </a:rPr>
              <a:t>Algorithm 1</a:t>
            </a:r>
            <a:pPr indent="0" marL="0">
              <a:lnSpc>
                <a:spcPct val="115000"/>
              </a:lnSpc>
              <a:buNone/>
            </a:pPr>
            <a:r>
              <a:rPr lang="en-US" sz="1400" dirty="0">
                <a:solidFill>
                  <a:srgbClr val="8B949E"/>
                </a:solidFill>
                <a:latin typeface="Consolas" pitchFamily="34" charset="0"/>
                <a:ea typeface="Consolas" pitchFamily="34" charset="-122"/>
                <a:cs typeface="Consolas" pitchFamily="34" charset="-120"/>
              </a:rPr>
              <a:t>: Sequential vector operations</a:t>
            </a:r>
            <a:endParaRPr lang="en-US" sz="1400" dirty="0"/>
          </a:p>
          <a:p>
            <a:pPr indent="0" marL="0">
              <a:lnSpc>
                <a:spcPct val="115000"/>
              </a:lnSpc>
              <a:buNone/>
            </a:pPr>
            <a:r>
              <a:rPr lang="en-US" sz="1400" dirty="0">
                <a:solidFill>
                  <a:srgbClr val="79C0FF"/>
                </a:solidFill>
                <a:latin typeface="Consolas" pitchFamily="34" charset="0"/>
                <a:ea typeface="Consolas" pitchFamily="34" charset="-122"/>
                <a:cs typeface="Consolas" pitchFamily="34" charset="-120"/>
              </a:rPr>
              <a:t>Input : </a:t>
            </a:r>
            <a:pPr indent="0" marL="0">
              <a:lnSpc>
                <a:spcPct val="115000"/>
              </a:lnSpc>
              <a:buNone/>
            </a:pPr>
            <a:r>
              <a:rPr lang="en-US" sz="1400" dirty="0">
                <a:solidFill>
                  <a:srgbClr val="E6EDF3"/>
                </a:solidFill>
                <a:latin typeface="Consolas" pitchFamily="34" charset="0"/>
                <a:ea typeface="Consolas" pitchFamily="34" charset="-122"/>
                <a:cs typeface="Consolas" pitchFamily="34" charset="-120"/>
              </a:rPr>
              <a:t>A[0..N-1], B[0..N-1]</a:t>
            </a:r>
            <a:endParaRPr lang="en-US" sz="1400" dirty="0"/>
          </a:p>
          <a:p>
            <a:pPr indent="0" marL="0">
              <a:lnSpc>
                <a:spcPct val="115000"/>
              </a:lnSpc>
              <a:buNone/>
            </a:pPr>
            <a:r>
              <a:rPr lang="en-US" sz="1400" dirty="0">
                <a:solidFill>
                  <a:srgbClr val="79C0FF"/>
                </a:solidFill>
                <a:latin typeface="Consolas" pitchFamily="34" charset="0"/>
                <a:ea typeface="Consolas" pitchFamily="34" charset="-122"/>
                <a:cs typeface="Consolas" pitchFamily="34" charset="-120"/>
              </a:rPr>
              <a:t>Output: </a:t>
            </a:r>
            <a:pPr indent="0" marL="0">
              <a:lnSpc>
                <a:spcPct val="115000"/>
              </a:lnSpc>
              <a:buNone/>
            </a:pPr>
            <a:r>
              <a:rPr lang="en-US" sz="1400" dirty="0">
                <a:solidFill>
                  <a:srgbClr val="E6EDF3"/>
                </a:solidFill>
                <a:latin typeface="Consolas" pitchFamily="34" charset="0"/>
                <a:ea typeface="Consolas" pitchFamily="34" charset="-122"/>
                <a:cs typeface="Consolas" pitchFamily="34" charset="-120"/>
              </a:rPr>
              <a:t>C_add[0..N-1], C_mul[0..N-1]</a:t>
            </a:r>
            <a:endParaRPr lang="en-US" sz="1400" dirty="0"/>
          </a:p>
          <a:p>
            <a:pPr indent="0" marL="0">
              <a:lnSpc>
                <a:spcPct val="115000"/>
              </a:lnSpc>
              <a:buNone/>
            </a:pPr>
            <a:r>
              <a:rPr lang="en-US" sz="1400" dirty="0">
                <a:solidFill>
                  <a:srgbClr val="FF7B72"/>
                </a:solidFill>
                <a:latin typeface="Consolas" pitchFamily="34" charset="0"/>
                <a:ea typeface="Consolas" pitchFamily="34" charset="-122"/>
                <a:cs typeface="Consolas" pitchFamily="34" charset="-120"/>
              </a:rPr>
              <a:t>1: for </a:t>
            </a:r>
            <a:pPr indent="0" marL="0">
              <a:lnSpc>
                <a:spcPct val="115000"/>
              </a:lnSpc>
              <a:buNone/>
            </a:pPr>
            <a:r>
              <a:rPr lang="en-US" sz="1400" dirty="0">
                <a:solidFill>
                  <a:srgbClr val="E6EDF3"/>
                </a:solidFill>
                <a:latin typeface="Consolas" pitchFamily="34" charset="0"/>
                <a:ea typeface="Consolas" pitchFamily="34" charset="-122"/>
                <a:cs typeface="Consolas" pitchFamily="34" charset="-120"/>
              </a:rPr>
              <a:t>i ← 0 to N-1 </a:t>
            </a:r>
            <a:pPr indent="0" marL="0">
              <a:lnSpc>
                <a:spcPct val="115000"/>
              </a:lnSpc>
              <a:buNone/>
            </a:pPr>
            <a:r>
              <a:rPr lang="en-US" sz="1400" dirty="0">
                <a:solidFill>
                  <a:srgbClr val="FF7B72"/>
                </a:solidFill>
                <a:latin typeface="Consolas" pitchFamily="34" charset="0"/>
                <a:ea typeface="Consolas" pitchFamily="34" charset="-122"/>
                <a:cs typeface="Consolas" pitchFamily="34" charset="-120"/>
              </a:rPr>
              <a:t>do </a:t>
            </a:r>
            <a:pPr indent="0" marL="0">
              <a:lnSpc>
                <a:spcPct val="115000"/>
              </a:lnSpc>
              <a:buNone/>
            </a:pPr>
            <a:r>
              <a:rPr lang="en-US" sz="1400" dirty="0">
                <a:solidFill>
                  <a:srgbClr val="E6EDF3"/>
                </a:solidFill>
                <a:latin typeface="Consolas" pitchFamily="34" charset="0"/>
                <a:ea typeface="Consolas" pitchFamily="34" charset="-122"/>
                <a:cs typeface="Consolas" pitchFamily="34" charset="-120"/>
              </a:rPr>
              <a:t>C_add[i] ← A[i] + B[i]</a:t>
            </a:r>
            <a:endParaRPr lang="en-US" sz="1400" dirty="0"/>
          </a:p>
          <a:p>
            <a:pPr indent="0" marL="0">
              <a:lnSpc>
                <a:spcPct val="115000"/>
              </a:lnSpc>
              <a:buNone/>
            </a:pPr>
            <a:r>
              <a:rPr lang="en-US" sz="1400" dirty="0">
                <a:solidFill>
                  <a:srgbClr val="FF7B72"/>
                </a:solidFill>
                <a:latin typeface="Consolas" pitchFamily="34" charset="0"/>
                <a:ea typeface="Consolas" pitchFamily="34" charset="-122"/>
                <a:cs typeface="Consolas" pitchFamily="34" charset="-120"/>
              </a:rPr>
              <a:t>2: for </a:t>
            </a:r>
            <a:pPr indent="0" marL="0">
              <a:lnSpc>
                <a:spcPct val="115000"/>
              </a:lnSpc>
              <a:buNone/>
            </a:pPr>
            <a:r>
              <a:rPr lang="en-US" sz="1400" dirty="0">
                <a:solidFill>
                  <a:srgbClr val="E6EDF3"/>
                </a:solidFill>
                <a:latin typeface="Consolas" pitchFamily="34" charset="0"/>
                <a:ea typeface="Consolas" pitchFamily="34" charset="-122"/>
                <a:cs typeface="Consolas" pitchFamily="34" charset="-120"/>
              </a:rPr>
              <a:t>i ← 0 to N-1 </a:t>
            </a:r>
            <a:pPr indent="0" marL="0">
              <a:lnSpc>
                <a:spcPct val="115000"/>
              </a:lnSpc>
              <a:buNone/>
            </a:pPr>
            <a:r>
              <a:rPr lang="en-US" sz="1400" dirty="0">
                <a:solidFill>
                  <a:srgbClr val="FF7B72"/>
                </a:solidFill>
                <a:latin typeface="Consolas" pitchFamily="34" charset="0"/>
                <a:ea typeface="Consolas" pitchFamily="34" charset="-122"/>
                <a:cs typeface="Consolas" pitchFamily="34" charset="-120"/>
              </a:rPr>
              <a:t>do </a:t>
            </a:r>
            <a:pPr indent="0" marL="0">
              <a:lnSpc>
                <a:spcPct val="115000"/>
              </a:lnSpc>
              <a:buNone/>
            </a:pPr>
            <a:r>
              <a:rPr lang="en-US" sz="1400" dirty="0">
                <a:solidFill>
                  <a:srgbClr val="E6EDF3"/>
                </a:solidFill>
                <a:latin typeface="Consolas" pitchFamily="34" charset="0"/>
                <a:ea typeface="Consolas" pitchFamily="34" charset="-122"/>
                <a:cs typeface="Consolas" pitchFamily="34" charset="-120"/>
              </a:rPr>
              <a:t>C_mul[i] ← A[i] × B[i]</a:t>
            </a:r>
            <a:endParaRPr lang="en-US" sz="1400" dirty="0"/>
          </a:p>
        </p:txBody>
      </p:sp>
      <p:sp>
        <p:nvSpPr>
          <p:cNvPr id="6" name="Shape 4"/>
          <p:cNvSpPr/>
          <p:nvPr/>
        </p:nvSpPr>
        <p:spPr>
          <a:xfrm>
            <a:off x="548640" y="3813048"/>
            <a:ext cx="329184" cy="329184"/>
          </a:xfrm>
          <a:prstGeom prst="ellipse">
            <a:avLst/>
          </a:prstGeom>
          <a:solidFill>
            <a:srgbClr val="76B900"/>
          </a:solidFill>
          <a:ln w="6350">
            <a:solidFill>
              <a:srgbClr val="76B900"/>
            </a:solidFill>
            <a:prstDash val="solid"/>
          </a:ln>
        </p:spPr>
      </p:sp>
      <p:sp>
        <p:nvSpPr>
          <p:cNvPr id="7" name="Text 5"/>
          <p:cNvSpPr txBox="1"/>
          <p:nvPr/>
        </p:nvSpPr>
        <p:spPr>
          <a:xfrm>
            <a:off x="548640" y="3813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8" name="Text 6"/>
          <p:cNvSpPr txBox="1"/>
          <p:nvPr/>
        </p:nvSpPr>
        <p:spPr>
          <a:xfrm>
            <a:off x="1024128" y="3794760"/>
            <a:ext cx="5376672" cy="704088"/>
          </a:xfrm>
          <a:prstGeom prst="rect">
            <a:avLst/>
          </a:prstGeom>
          <a:noFill/>
          <a:ln/>
        </p:spPr>
        <p:txBody>
          <a:bodyPr wrap="square" lIns="0" tIns="0" rIns="0" bIns="0" rtlCol="0" anchor="t"/>
          <a:lstStyle/>
          <a:p>
            <a:pPr indent="0" marL="0">
              <a:buNone/>
            </a:pPr>
            <a:r>
              <a:rPr lang="en-US" sz="1400" b="1" dirty="0">
                <a:solidFill>
                  <a:srgbClr val="15181D"/>
                </a:solidFill>
                <a:latin typeface="Segoe UI" pitchFamily="34" charset="0"/>
                <a:ea typeface="Segoe UI" pitchFamily="34" charset="-122"/>
                <a:cs typeface="Segoe UI" pitchFamily="34" charset="-120"/>
              </a:rPr>
              <a:t>Timed per loop. </a:t>
            </a:r>
            <a:pPr indent="0" marL="0">
              <a:buNone/>
            </a:pPr>
            <a:r>
              <a:rPr lang="en-US" sz="1400" dirty="0">
                <a:solidFill>
                  <a:srgbClr val="2D333B"/>
                </a:solidFill>
                <a:latin typeface="Segoe UI" pitchFamily="34" charset="0"/>
                <a:ea typeface="Segoe UI" pitchFamily="34" charset="-122"/>
                <a:cs typeface="Segoe UI" pitchFamily="34" charset="-120"/>
              </a:rPr>
              <a:t>clock() wraps each loop separately in src/vector_cpu.c.</a:t>
            </a:r>
            <a:endParaRPr lang="en-US" sz="1400" dirty="0"/>
          </a:p>
        </p:txBody>
      </p:sp>
      <p:sp>
        <p:nvSpPr>
          <p:cNvPr id="9" name="Shape 7"/>
          <p:cNvSpPr/>
          <p:nvPr/>
        </p:nvSpPr>
        <p:spPr>
          <a:xfrm>
            <a:off x="548640" y="4590288"/>
            <a:ext cx="329184" cy="329184"/>
          </a:xfrm>
          <a:prstGeom prst="ellipse">
            <a:avLst/>
          </a:prstGeom>
          <a:solidFill>
            <a:srgbClr val="76B900"/>
          </a:solidFill>
          <a:ln w="6350">
            <a:solidFill>
              <a:srgbClr val="76B900"/>
            </a:solidFill>
            <a:prstDash val="solid"/>
          </a:ln>
        </p:spPr>
      </p:sp>
      <p:sp>
        <p:nvSpPr>
          <p:cNvPr id="10" name="Text 8"/>
          <p:cNvSpPr txBox="1"/>
          <p:nvPr/>
        </p:nvSpPr>
        <p:spPr>
          <a:xfrm>
            <a:off x="548640" y="45902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1" name="Text 9"/>
          <p:cNvSpPr txBox="1"/>
          <p:nvPr/>
        </p:nvSpPr>
        <p:spPr>
          <a:xfrm>
            <a:off x="1024128" y="4572000"/>
            <a:ext cx="5376672" cy="704088"/>
          </a:xfrm>
          <a:prstGeom prst="rect">
            <a:avLst/>
          </a:prstGeom>
          <a:noFill/>
          <a:ln/>
        </p:spPr>
        <p:txBody>
          <a:bodyPr wrap="square" lIns="0" tIns="0" rIns="0" bIns="0" rtlCol="0" anchor="t"/>
          <a:lstStyle/>
          <a:p>
            <a:pPr indent="0" marL="0">
              <a:buNone/>
            </a:pPr>
            <a:r>
              <a:rPr lang="en-US" sz="1400" b="1" dirty="0">
                <a:solidFill>
                  <a:srgbClr val="15181D"/>
                </a:solidFill>
                <a:latin typeface="Segoe UI" pitchFamily="34" charset="0"/>
                <a:ea typeface="Segoe UI" pitchFamily="34" charset="-122"/>
                <a:cs typeface="Segoe UI" pitchFamily="34" charset="-120"/>
              </a:rPr>
              <a:t>Total CPU time </a:t>
            </a:r>
            <a:pPr indent="0" marL="0">
              <a:buNone/>
            </a:pPr>
            <a:r>
              <a:rPr lang="en-US" sz="1400" dirty="0">
                <a:solidFill>
                  <a:srgbClr val="2D333B"/>
                </a:solidFill>
                <a:latin typeface="Segoe UI" pitchFamily="34" charset="0"/>
                <a:ea typeface="Segoe UI" pitchFamily="34" charset="-122"/>
                <a:cs typeface="Segoe UI" pitchFamily="34" charset="-120"/>
              </a:rPr>
              <a:t>= addition time + multiplication time.</a:t>
            </a:r>
            <a:endParaRPr lang="en-US" sz="1400" dirty="0"/>
          </a:p>
        </p:txBody>
      </p:sp>
      <p:sp>
        <p:nvSpPr>
          <p:cNvPr id="12" name="Shape 10"/>
          <p:cNvSpPr/>
          <p:nvPr/>
        </p:nvSpPr>
        <p:spPr>
          <a:xfrm>
            <a:off x="548640" y="5367528"/>
            <a:ext cx="329184" cy="329184"/>
          </a:xfrm>
          <a:prstGeom prst="ellipse">
            <a:avLst/>
          </a:prstGeom>
          <a:solidFill>
            <a:srgbClr val="76B900"/>
          </a:solidFill>
          <a:ln w="6350">
            <a:solidFill>
              <a:srgbClr val="76B900"/>
            </a:solidFill>
            <a:prstDash val="solid"/>
          </a:ln>
        </p:spPr>
      </p:sp>
      <p:sp>
        <p:nvSpPr>
          <p:cNvPr id="13" name="Text 11"/>
          <p:cNvSpPr txBox="1"/>
          <p:nvPr/>
        </p:nvSpPr>
        <p:spPr>
          <a:xfrm>
            <a:off x="548640" y="53675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14" name="Text 12"/>
          <p:cNvSpPr txBox="1"/>
          <p:nvPr/>
        </p:nvSpPr>
        <p:spPr>
          <a:xfrm>
            <a:off x="1024128" y="5349240"/>
            <a:ext cx="5376672" cy="704088"/>
          </a:xfrm>
          <a:prstGeom prst="rect">
            <a:avLst/>
          </a:prstGeom>
          <a:noFill/>
          <a:ln/>
        </p:spPr>
        <p:txBody>
          <a:bodyPr wrap="square" lIns="0" tIns="0" rIns="0" bIns="0" rtlCol="0" anchor="t"/>
          <a:lstStyle/>
          <a:p>
            <a:pPr indent="0" marL="0">
              <a:buNone/>
            </a:pPr>
            <a:r>
              <a:rPr lang="en-US" sz="1400" b="1" dirty="0">
                <a:solidFill>
                  <a:srgbClr val="15181D"/>
                </a:solidFill>
                <a:latin typeface="Segoe UI" pitchFamily="34" charset="0"/>
                <a:ea typeface="Segoe UI" pitchFamily="34" charset="-122"/>
                <a:cs typeface="Segoe UI" pitchFamily="34" charset="-120"/>
              </a:rPr>
              <a:t>One core, no OpenMP, </a:t>
            </a:r>
            <a:pPr indent="0" marL="0">
              <a:buNone/>
            </a:pPr>
            <a:r>
              <a:rPr lang="en-US" sz="1400" dirty="0">
                <a:solidFill>
                  <a:srgbClr val="2D333B"/>
                </a:solidFill>
                <a:latin typeface="Segoe UI" pitchFamily="34" charset="0"/>
                <a:ea typeface="Segoe UI" pitchFamily="34" charset="-122"/>
                <a:cs typeface="Segoe UI" pitchFamily="34" charset="-120"/>
              </a:rPr>
              <a:t>on purpose: a clean sequential reference T₁ for the speedups.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12280" y="1463040"/>
          <a:ext cx="4828032" cy="914400"/>
        </p:xfrm>
        <a:graphic>
          <a:graphicData uri="http://schemas.openxmlformats.org/drawingml/2006/table">
            <a:tbl>
              <a:tblPr/>
              <a:tblGrid>
                <a:gridCol w="1536192"/>
                <a:gridCol w="1051560"/>
                <a:gridCol w="1051560"/>
                <a:gridCol w="1188720"/>
              </a:tblGrid>
              <a:tr h="411480">
                <a:tc>
                  <a:txBody>
                    <a:bodyP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Version</a:t>
                      </a:r>
                      <a:endParaRPr lang="en-US" sz="13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Work W(N)</a:t>
                      </a:r>
                      <a:endParaRPr lang="en-US" sz="13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Span D(N)</a:t>
                      </a:r>
                      <a:endParaRPr lang="en-US" sz="13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Time on P</a:t>
                      </a:r>
                      <a:endParaRPr lang="en-US" sz="13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r>
              <a:tr h="411480">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Sequential CPU</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O(N)</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O(N)</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Θ(N)</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411480">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Parallel GPU</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O(N)</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O(1)</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O(N/P + 1)</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6" name="Shape 13"/>
          <p:cNvSpPr/>
          <p:nvPr/>
        </p:nvSpPr>
        <p:spPr>
          <a:xfrm>
            <a:off x="6812280" y="2880360"/>
            <a:ext cx="4828032" cy="1508760"/>
          </a:xfrm>
          <a:prstGeom prst="roundRect">
            <a:avLst>
              <a:gd name="adj" fmla="val 4848"/>
            </a:avLst>
          </a:prstGeom>
          <a:solidFill>
            <a:srgbClr val="FBE6E3"/>
          </a:solidFill>
          <a:ln w="6350">
            <a:solidFill>
              <a:srgbClr val="FBE6E3"/>
            </a:solidFill>
            <a:prstDash val="solid"/>
          </a:ln>
          <a:effectLst>
            <a:outerShdw sx="100000" sy="100000" kx="0" ky="0" algn="bl" rotWithShape="0" blurRad="88900" dist="25400" dir="5400000">
              <a:srgbClr val="000000">
                <a:alpha val="12000"/>
              </a:srgbClr>
            </a:outerShdw>
          </a:effectLst>
        </p:spPr>
      </p:sp>
      <p:sp>
        <p:nvSpPr>
          <p:cNvPr id="17" name="Text 14"/>
          <p:cNvSpPr txBox="1"/>
          <p:nvPr/>
        </p:nvSpPr>
        <p:spPr>
          <a:xfrm>
            <a:off x="7040880" y="3044952"/>
            <a:ext cx="4370832" cy="548640"/>
          </a:xfrm>
          <a:prstGeom prst="rect">
            <a:avLst/>
          </a:prstGeom>
          <a:noFill/>
          <a:ln/>
        </p:spPr>
        <p:txBody>
          <a:bodyPr wrap="square" lIns="0" tIns="0" rIns="0" bIns="0" rtlCol="0" anchor="ctr"/>
          <a:lstStyle/>
          <a:p>
            <a:pPr indent="0" marL="0">
              <a:buNone/>
            </a:pPr>
            <a:r>
              <a:rPr lang="en-US" sz="2400" b="1" dirty="0">
                <a:solidFill>
                  <a:srgbClr val="D33A2C"/>
                </a:solidFill>
                <a:latin typeface="Segoe UI Semibold" pitchFamily="34" charset="0"/>
                <a:ea typeface="Segoe UI Semibold" pitchFamily="34" charset="-122"/>
                <a:cs typeface="Segoe UI Semibold" pitchFamily="34" charset="-120"/>
              </a:rPr>
              <a:t>250× data → 241.9× time</a:t>
            </a:r>
            <a:endParaRPr lang="en-US" sz="2400" dirty="0"/>
          </a:p>
        </p:txBody>
      </p:sp>
      <p:sp>
        <p:nvSpPr>
          <p:cNvPr id="18" name="Text 15"/>
          <p:cNvSpPr txBox="1"/>
          <p:nvPr/>
        </p:nvSpPr>
        <p:spPr>
          <a:xfrm>
            <a:off x="7040880" y="3611880"/>
            <a:ext cx="4370832" cy="68580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Measured CPU time from N = 100 K to 25 M (0.517 → 125.05 ms): linear growth, as Θ(N) predicts.</a:t>
            </a:r>
            <a:endParaRPr lang="en-US" sz="1300" dirty="0"/>
          </a:p>
        </p:txBody>
      </p:sp>
      <p:sp>
        <p:nvSpPr>
          <p:cNvPr id="19" name="Shape 16"/>
          <p:cNvSpPr/>
          <p:nvPr/>
        </p:nvSpPr>
        <p:spPr>
          <a:xfrm>
            <a:off x="6812280" y="4617720"/>
            <a:ext cx="4828032" cy="1508760"/>
          </a:xfrm>
          <a:prstGeom prst="roundRect">
            <a:avLst>
              <a:gd name="adj" fmla="val 4848"/>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20" name="Text 17"/>
          <p:cNvSpPr txBox="1"/>
          <p:nvPr/>
        </p:nvSpPr>
        <p:spPr>
          <a:xfrm>
            <a:off x="7040880" y="4782312"/>
            <a:ext cx="4370832" cy="548640"/>
          </a:xfrm>
          <a:prstGeom prst="rect">
            <a:avLst/>
          </a:prstGeom>
          <a:noFill/>
          <a:ln/>
        </p:spPr>
        <p:txBody>
          <a:bodyPr wrap="square" lIns="0" tIns="0" rIns="0" bIns="0" rtlCol="0" anchor="ctr"/>
          <a:lstStyle/>
          <a:p>
            <a:pPr indent="0" marL="0">
              <a:buNone/>
            </a:pPr>
            <a:r>
              <a:rPr lang="en-US" sz="2400" b="1" dirty="0">
                <a:solidFill>
                  <a:srgbClr val="3F7A00"/>
                </a:solidFill>
                <a:latin typeface="Segoe UI Semibold" pitchFamily="34" charset="0"/>
                <a:ea typeface="Segoe UI Semibold" pitchFamily="34" charset="-122"/>
                <a:cs typeface="Segoe UI Semibold" pitchFamily="34" charset="-120"/>
              </a:rPr>
              <a:t>Work-efficient</a:t>
            </a:r>
            <a:endParaRPr lang="en-US" sz="2400" dirty="0"/>
          </a:p>
        </p:txBody>
      </p:sp>
      <p:sp>
        <p:nvSpPr>
          <p:cNvPr id="21" name="Text 18"/>
          <p:cNvSpPr txBox="1"/>
          <p:nvPr/>
        </p:nvSpPr>
        <p:spPr>
          <a:xfrm>
            <a:off x="7040880" y="5349240"/>
            <a:ext cx="4370832" cy="68580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The GPU version does the same O(N) work as the CPU, with a critical path of one step per thread (Brent's theorem gives O(N/P + 1)).</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One thread per element, 256 threads per block</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1  ·  PARALLEL DESIGN</a:t>
            </a:r>
            <a:endParaRPr lang="en-US" sz="1100" dirty="0"/>
          </a:p>
        </p:txBody>
      </p:sp>
      <p:sp>
        <p:nvSpPr>
          <p:cNvPr id="4" name="Shape 2"/>
          <p:cNvSpPr/>
          <p:nvPr/>
        </p:nvSpPr>
        <p:spPr>
          <a:xfrm>
            <a:off x="548640" y="1463040"/>
            <a:ext cx="1417320" cy="1024128"/>
          </a:xfrm>
          <a:prstGeom prst="roundRect">
            <a:avLst>
              <a:gd name="adj" fmla="val 7143"/>
            </a:avLst>
          </a:prstGeom>
          <a:solidFill>
            <a:srgbClr val="EEF6E0"/>
          </a:solidFill>
          <a:ln w="6350">
            <a:solidFill>
              <a:srgbClr val="EEF6E0"/>
            </a:solidFill>
            <a:prstDash val="solid"/>
          </a:ln>
        </p:spPr>
      </p:sp>
      <p:sp>
        <p:nvSpPr>
          <p:cNvPr id="5" name="Text 3"/>
          <p:cNvSpPr txBox="1"/>
          <p:nvPr/>
        </p:nvSpPr>
        <p:spPr>
          <a:xfrm>
            <a:off x="667512" y="1527048"/>
            <a:ext cx="1280160" cy="256032"/>
          </a:xfrm>
          <a:prstGeom prst="rect">
            <a:avLst/>
          </a:prstGeom>
          <a:noFill/>
          <a:ln/>
        </p:spPr>
        <p:txBody>
          <a:bodyPr wrap="square" lIns="0" tIns="0" rIns="0" bIns="0" rtlCol="0" anchor="t"/>
          <a:lstStyle/>
          <a:p>
            <a:pPr indent="0" marL="0">
              <a:buNone/>
            </a:pPr>
            <a:r>
              <a:rPr lang="en-US" sz="1200" b="1" dirty="0">
                <a:solidFill>
                  <a:srgbClr val="15181D"/>
                </a:solidFill>
                <a:latin typeface="Segoe UI Semibold" pitchFamily="34" charset="0"/>
                <a:ea typeface="Segoe UI Semibold" pitchFamily="34" charset="-122"/>
                <a:cs typeface="Segoe UI Semibold" pitchFamily="34" charset="-120"/>
              </a:rPr>
              <a:t>Block 0</a:t>
            </a:r>
            <a:endParaRPr lang="en-US" sz="1200" dirty="0"/>
          </a:p>
        </p:txBody>
      </p:sp>
      <p:sp>
        <p:nvSpPr>
          <p:cNvPr id="6" name="Shape 4"/>
          <p:cNvSpPr/>
          <p:nvPr/>
        </p:nvSpPr>
        <p:spPr>
          <a:xfrm>
            <a:off x="667512" y="1828800"/>
            <a:ext cx="256032" cy="237744"/>
          </a:xfrm>
          <a:prstGeom prst="roundRect">
            <a:avLst>
              <a:gd name="adj" fmla="val 11538"/>
            </a:avLst>
          </a:prstGeom>
          <a:solidFill>
            <a:srgbClr val="76B900"/>
          </a:solidFill>
          <a:ln w="9525">
            <a:solidFill>
              <a:srgbClr val="76B900"/>
            </a:solidFill>
            <a:prstDash val="solid"/>
          </a:ln>
        </p:spPr>
      </p:sp>
      <p:sp>
        <p:nvSpPr>
          <p:cNvPr id="7" name="Shape 5"/>
          <p:cNvSpPr/>
          <p:nvPr/>
        </p:nvSpPr>
        <p:spPr>
          <a:xfrm>
            <a:off x="996696" y="1828800"/>
            <a:ext cx="256032" cy="237744"/>
          </a:xfrm>
          <a:prstGeom prst="roundRect">
            <a:avLst>
              <a:gd name="adj" fmla="val 11538"/>
            </a:avLst>
          </a:prstGeom>
          <a:solidFill>
            <a:srgbClr val="76B900"/>
          </a:solidFill>
          <a:ln w="9525">
            <a:solidFill>
              <a:srgbClr val="76B900"/>
            </a:solidFill>
            <a:prstDash val="solid"/>
          </a:ln>
        </p:spPr>
      </p:sp>
      <p:sp>
        <p:nvSpPr>
          <p:cNvPr id="8" name="Shape 6"/>
          <p:cNvSpPr/>
          <p:nvPr/>
        </p:nvSpPr>
        <p:spPr>
          <a:xfrm>
            <a:off x="1325880" y="1828800"/>
            <a:ext cx="256032" cy="237744"/>
          </a:xfrm>
          <a:prstGeom prst="roundRect">
            <a:avLst>
              <a:gd name="adj" fmla="val 11538"/>
            </a:avLst>
          </a:prstGeom>
          <a:solidFill>
            <a:srgbClr val="76B900"/>
          </a:solidFill>
          <a:ln w="9525">
            <a:solidFill>
              <a:srgbClr val="76B900"/>
            </a:solidFill>
            <a:prstDash val="solid"/>
          </a:ln>
        </p:spPr>
      </p:sp>
      <p:sp>
        <p:nvSpPr>
          <p:cNvPr id="9" name="Shape 7"/>
          <p:cNvSpPr/>
          <p:nvPr/>
        </p:nvSpPr>
        <p:spPr>
          <a:xfrm>
            <a:off x="1655064" y="1828800"/>
            <a:ext cx="256032" cy="237744"/>
          </a:xfrm>
          <a:prstGeom prst="roundRect">
            <a:avLst>
              <a:gd name="adj" fmla="val 11538"/>
            </a:avLst>
          </a:prstGeom>
          <a:solidFill>
            <a:srgbClr val="76B900"/>
          </a:solidFill>
          <a:ln w="9525">
            <a:solidFill>
              <a:srgbClr val="76B900"/>
            </a:solidFill>
            <a:prstDash val="solid"/>
          </a:ln>
        </p:spPr>
      </p:sp>
      <p:sp>
        <p:nvSpPr>
          <p:cNvPr id="10" name="Shape 8"/>
          <p:cNvSpPr/>
          <p:nvPr/>
        </p:nvSpPr>
        <p:spPr>
          <a:xfrm>
            <a:off x="667512" y="2139696"/>
            <a:ext cx="256032" cy="237744"/>
          </a:xfrm>
          <a:prstGeom prst="roundRect">
            <a:avLst>
              <a:gd name="adj" fmla="val 11538"/>
            </a:avLst>
          </a:prstGeom>
          <a:solidFill>
            <a:srgbClr val="76B900"/>
          </a:solidFill>
          <a:ln w="9525">
            <a:solidFill>
              <a:srgbClr val="76B900"/>
            </a:solidFill>
            <a:prstDash val="solid"/>
          </a:ln>
        </p:spPr>
      </p:sp>
      <p:sp>
        <p:nvSpPr>
          <p:cNvPr id="11" name="Shape 9"/>
          <p:cNvSpPr/>
          <p:nvPr/>
        </p:nvSpPr>
        <p:spPr>
          <a:xfrm>
            <a:off x="996696" y="2139696"/>
            <a:ext cx="256032" cy="237744"/>
          </a:xfrm>
          <a:prstGeom prst="roundRect">
            <a:avLst>
              <a:gd name="adj" fmla="val 11538"/>
            </a:avLst>
          </a:prstGeom>
          <a:solidFill>
            <a:srgbClr val="76B900"/>
          </a:solidFill>
          <a:ln w="9525">
            <a:solidFill>
              <a:srgbClr val="76B900"/>
            </a:solidFill>
            <a:prstDash val="solid"/>
          </a:ln>
        </p:spPr>
      </p:sp>
      <p:sp>
        <p:nvSpPr>
          <p:cNvPr id="12" name="Shape 10"/>
          <p:cNvSpPr/>
          <p:nvPr/>
        </p:nvSpPr>
        <p:spPr>
          <a:xfrm>
            <a:off x="1325880" y="2139696"/>
            <a:ext cx="256032" cy="237744"/>
          </a:xfrm>
          <a:prstGeom prst="roundRect">
            <a:avLst>
              <a:gd name="adj" fmla="val 11538"/>
            </a:avLst>
          </a:prstGeom>
          <a:solidFill>
            <a:srgbClr val="76B900"/>
          </a:solidFill>
          <a:ln w="9525">
            <a:solidFill>
              <a:srgbClr val="76B900"/>
            </a:solidFill>
            <a:prstDash val="solid"/>
          </a:ln>
        </p:spPr>
      </p:sp>
      <p:sp>
        <p:nvSpPr>
          <p:cNvPr id="13" name="Shape 11"/>
          <p:cNvSpPr/>
          <p:nvPr/>
        </p:nvSpPr>
        <p:spPr>
          <a:xfrm>
            <a:off x="1655064" y="2139696"/>
            <a:ext cx="256032" cy="237744"/>
          </a:xfrm>
          <a:prstGeom prst="roundRect">
            <a:avLst>
              <a:gd name="adj" fmla="val 11538"/>
            </a:avLst>
          </a:prstGeom>
          <a:solidFill>
            <a:srgbClr val="76B900"/>
          </a:solidFill>
          <a:ln w="9525">
            <a:solidFill>
              <a:srgbClr val="76B900"/>
            </a:solidFill>
            <a:prstDash val="solid"/>
          </a:ln>
        </p:spPr>
      </p:sp>
      <p:sp>
        <p:nvSpPr>
          <p:cNvPr id="14" name="Text 12"/>
          <p:cNvSpPr txBox="1"/>
          <p:nvPr/>
        </p:nvSpPr>
        <p:spPr>
          <a:xfrm>
            <a:off x="548640" y="2532888"/>
            <a:ext cx="1417320" cy="256032"/>
          </a:xfrm>
          <a:prstGeom prst="rect">
            <a:avLst/>
          </a:prstGeom>
          <a:noFill/>
          <a:ln/>
        </p:spPr>
        <p:txBody>
          <a:bodyPr wrap="square" lIns="0" tIns="0" rIns="0" bIns="0" rtlCol="0" anchor="t"/>
          <a:lstStyle/>
          <a:p>
            <a:pPr algn="ctr" indent="0" marL="0">
              <a:buNone/>
            </a:pPr>
            <a:r>
              <a:rPr lang="en-US" sz="1100" dirty="0">
                <a:solidFill>
                  <a:srgbClr val="5B6470"/>
                </a:solidFill>
                <a:latin typeface="Segoe UI" pitchFamily="34" charset="0"/>
                <a:ea typeface="Segoe UI" pitchFamily="34" charset="-122"/>
                <a:cs typeface="Segoe UI" pitchFamily="34" charset="-120"/>
              </a:rPr>
              <a:t>elements 0–255</a:t>
            </a:r>
            <a:endParaRPr lang="en-US" sz="1100" dirty="0"/>
          </a:p>
        </p:txBody>
      </p:sp>
      <p:sp>
        <p:nvSpPr>
          <p:cNvPr id="15" name="Shape 13"/>
          <p:cNvSpPr/>
          <p:nvPr/>
        </p:nvSpPr>
        <p:spPr>
          <a:xfrm>
            <a:off x="2103120" y="1463040"/>
            <a:ext cx="1417320" cy="1024128"/>
          </a:xfrm>
          <a:prstGeom prst="roundRect">
            <a:avLst>
              <a:gd name="adj" fmla="val 7143"/>
            </a:avLst>
          </a:prstGeom>
          <a:solidFill>
            <a:srgbClr val="EEF6E0"/>
          </a:solidFill>
          <a:ln w="6350">
            <a:solidFill>
              <a:srgbClr val="EEF6E0"/>
            </a:solidFill>
            <a:prstDash val="solid"/>
          </a:ln>
        </p:spPr>
      </p:sp>
      <p:sp>
        <p:nvSpPr>
          <p:cNvPr id="16" name="Text 14"/>
          <p:cNvSpPr txBox="1"/>
          <p:nvPr/>
        </p:nvSpPr>
        <p:spPr>
          <a:xfrm>
            <a:off x="2221992" y="1527048"/>
            <a:ext cx="1280160" cy="256032"/>
          </a:xfrm>
          <a:prstGeom prst="rect">
            <a:avLst/>
          </a:prstGeom>
          <a:noFill/>
          <a:ln/>
        </p:spPr>
        <p:txBody>
          <a:bodyPr wrap="square" lIns="0" tIns="0" rIns="0" bIns="0" rtlCol="0" anchor="t"/>
          <a:lstStyle/>
          <a:p>
            <a:pPr indent="0" marL="0">
              <a:buNone/>
            </a:pPr>
            <a:r>
              <a:rPr lang="en-US" sz="1200" b="1" dirty="0">
                <a:solidFill>
                  <a:srgbClr val="15181D"/>
                </a:solidFill>
                <a:latin typeface="Segoe UI Semibold" pitchFamily="34" charset="0"/>
                <a:ea typeface="Segoe UI Semibold" pitchFamily="34" charset="-122"/>
                <a:cs typeface="Segoe UI Semibold" pitchFamily="34" charset="-120"/>
              </a:rPr>
              <a:t>Block 1</a:t>
            </a:r>
            <a:endParaRPr lang="en-US" sz="1200" dirty="0"/>
          </a:p>
        </p:txBody>
      </p:sp>
      <p:sp>
        <p:nvSpPr>
          <p:cNvPr id="17" name="Shape 15"/>
          <p:cNvSpPr/>
          <p:nvPr/>
        </p:nvSpPr>
        <p:spPr>
          <a:xfrm>
            <a:off x="2221992" y="1828800"/>
            <a:ext cx="256032" cy="237744"/>
          </a:xfrm>
          <a:prstGeom prst="roundRect">
            <a:avLst>
              <a:gd name="adj" fmla="val 11538"/>
            </a:avLst>
          </a:prstGeom>
          <a:solidFill>
            <a:srgbClr val="76B900"/>
          </a:solidFill>
          <a:ln w="9525">
            <a:solidFill>
              <a:srgbClr val="76B900"/>
            </a:solidFill>
            <a:prstDash val="solid"/>
          </a:ln>
        </p:spPr>
      </p:sp>
      <p:sp>
        <p:nvSpPr>
          <p:cNvPr id="18" name="Shape 16"/>
          <p:cNvSpPr/>
          <p:nvPr/>
        </p:nvSpPr>
        <p:spPr>
          <a:xfrm>
            <a:off x="2551176" y="1828800"/>
            <a:ext cx="256032" cy="237744"/>
          </a:xfrm>
          <a:prstGeom prst="roundRect">
            <a:avLst>
              <a:gd name="adj" fmla="val 11538"/>
            </a:avLst>
          </a:prstGeom>
          <a:solidFill>
            <a:srgbClr val="76B900"/>
          </a:solidFill>
          <a:ln w="9525">
            <a:solidFill>
              <a:srgbClr val="76B900"/>
            </a:solidFill>
            <a:prstDash val="solid"/>
          </a:ln>
        </p:spPr>
      </p:sp>
      <p:sp>
        <p:nvSpPr>
          <p:cNvPr id="19" name="Shape 17"/>
          <p:cNvSpPr/>
          <p:nvPr/>
        </p:nvSpPr>
        <p:spPr>
          <a:xfrm>
            <a:off x="2880360" y="1828800"/>
            <a:ext cx="256032" cy="237744"/>
          </a:xfrm>
          <a:prstGeom prst="roundRect">
            <a:avLst>
              <a:gd name="adj" fmla="val 11538"/>
            </a:avLst>
          </a:prstGeom>
          <a:solidFill>
            <a:srgbClr val="76B900"/>
          </a:solidFill>
          <a:ln w="9525">
            <a:solidFill>
              <a:srgbClr val="76B900"/>
            </a:solidFill>
            <a:prstDash val="solid"/>
          </a:ln>
        </p:spPr>
      </p:sp>
      <p:sp>
        <p:nvSpPr>
          <p:cNvPr id="20" name="Shape 18"/>
          <p:cNvSpPr/>
          <p:nvPr/>
        </p:nvSpPr>
        <p:spPr>
          <a:xfrm>
            <a:off x="3209544" y="1828800"/>
            <a:ext cx="256032" cy="237744"/>
          </a:xfrm>
          <a:prstGeom prst="roundRect">
            <a:avLst>
              <a:gd name="adj" fmla="val 11538"/>
            </a:avLst>
          </a:prstGeom>
          <a:solidFill>
            <a:srgbClr val="76B900"/>
          </a:solidFill>
          <a:ln w="9525">
            <a:solidFill>
              <a:srgbClr val="76B900"/>
            </a:solidFill>
            <a:prstDash val="solid"/>
          </a:ln>
        </p:spPr>
      </p:sp>
      <p:sp>
        <p:nvSpPr>
          <p:cNvPr id="21" name="Shape 19"/>
          <p:cNvSpPr/>
          <p:nvPr/>
        </p:nvSpPr>
        <p:spPr>
          <a:xfrm>
            <a:off x="2221992" y="2139696"/>
            <a:ext cx="256032" cy="237744"/>
          </a:xfrm>
          <a:prstGeom prst="roundRect">
            <a:avLst>
              <a:gd name="adj" fmla="val 11538"/>
            </a:avLst>
          </a:prstGeom>
          <a:solidFill>
            <a:srgbClr val="76B900"/>
          </a:solidFill>
          <a:ln w="9525">
            <a:solidFill>
              <a:srgbClr val="76B900"/>
            </a:solidFill>
            <a:prstDash val="solid"/>
          </a:ln>
        </p:spPr>
      </p:sp>
      <p:sp>
        <p:nvSpPr>
          <p:cNvPr id="22" name="Shape 20"/>
          <p:cNvSpPr/>
          <p:nvPr/>
        </p:nvSpPr>
        <p:spPr>
          <a:xfrm>
            <a:off x="2551176" y="2139696"/>
            <a:ext cx="256032" cy="237744"/>
          </a:xfrm>
          <a:prstGeom prst="roundRect">
            <a:avLst>
              <a:gd name="adj" fmla="val 11538"/>
            </a:avLst>
          </a:prstGeom>
          <a:solidFill>
            <a:srgbClr val="76B900"/>
          </a:solidFill>
          <a:ln w="9525">
            <a:solidFill>
              <a:srgbClr val="76B900"/>
            </a:solidFill>
            <a:prstDash val="solid"/>
          </a:ln>
        </p:spPr>
      </p:sp>
      <p:sp>
        <p:nvSpPr>
          <p:cNvPr id="23" name="Shape 21"/>
          <p:cNvSpPr/>
          <p:nvPr/>
        </p:nvSpPr>
        <p:spPr>
          <a:xfrm>
            <a:off x="2880360" y="2139696"/>
            <a:ext cx="256032" cy="237744"/>
          </a:xfrm>
          <a:prstGeom prst="roundRect">
            <a:avLst>
              <a:gd name="adj" fmla="val 11538"/>
            </a:avLst>
          </a:prstGeom>
          <a:solidFill>
            <a:srgbClr val="76B900"/>
          </a:solidFill>
          <a:ln w="9525">
            <a:solidFill>
              <a:srgbClr val="76B900"/>
            </a:solidFill>
            <a:prstDash val="solid"/>
          </a:ln>
        </p:spPr>
      </p:sp>
      <p:sp>
        <p:nvSpPr>
          <p:cNvPr id="24" name="Shape 22"/>
          <p:cNvSpPr/>
          <p:nvPr/>
        </p:nvSpPr>
        <p:spPr>
          <a:xfrm>
            <a:off x="3209544" y="2139696"/>
            <a:ext cx="256032" cy="237744"/>
          </a:xfrm>
          <a:prstGeom prst="roundRect">
            <a:avLst>
              <a:gd name="adj" fmla="val 11538"/>
            </a:avLst>
          </a:prstGeom>
          <a:solidFill>
            <a:srgbClr val="76B900"/>
          </a:solidFill>
          <a:ln w="9525">
            <a:solidFill>
              <a:srgbClr val="76B900"/>
            </a:solidFill>
            <a:prstDash val="solid"/>
          </a:ln>
        </p:spPr>
      </p:sp>
      <p:sp>
        <p:nvSpPr>
          <p:cNvPr id="25" name="Text 23"/>
          <p:cNvSpPr txBox="1"/>
          <p:nvPr/>
        </p:nvSpPr>
        <p:spPr>
          <a:xfrm>
            <a:off x="2103120" y="2532888"/>
            <a:ext cx="1417320" cy="256032"/>
          </a:xfrm>
          <a:prstGeom prst="rect">
            <a:avLst/>
          </a:prstGeom>
          <a:noFill/>
          <a:ln/>
        </p:spPr>
        <p:txBody>
          <a:bodyPr wrap="square" lIns="0" tIns="0" rIns="0" bIns="0" rtlCol="0" anchor="t"/>
          <a:lstStyle/>
          <a:p>
            <a:pPr algn="ctr" indent="0" marL="0">
              <a:buNone/>
            </a:pPr>
            <a:r>
              <a:rPr lang="en-US" sz="1100" dirty="0">
                <a:solidFill>
                  <a:srgbClr val="5B6470"/>
                </a:solidFill>
                <a:latin typeface="Segoe UI" pitchFamily="34" charset="0"/>
                <a:ea typeface="Segoe UI" pitchFamily="34" charset="-122"/>
                <a:cs typeface="Segoe UI" pitchFamily="34" charset="-120"/>
              </a:rPr>
              <a:t>elements 256–511</a:t>
            </a:r>
            <a:endParaRPr lang="en-US" sz="1100" dirty="0"/>
          </a:p>
        </p:txBody>
      </p:sp>
      <p:sp>
        <p:nvSpPr>
          <p:cNvPr id="26" name="Shape 24"/>
          <p:cNvSpPr/>
          <p:nvPr/>
        </p:nvSpPr>
        <p:spPr>
          <a:xfrm>
            <a:off x="3657600" y="1463040"/>
            <a:ext cx="1417320" cy="1024128"/>
          </a:xfrm>
          <a:prstGeom prst="roundRect">
            <a:avLst>
              <a:gd name="adj" fmla="val 7143"/>
            </a:avLst>
          </a:prstGeom>
          <a:solidFill>
            <a:srgbClr val="EEF6E0"/>
          </a:solidFill>
          <a:ln w="6350">
            <a:solidFill>
              <a:srgbClr val="EEF6E0"/>
            </a:solidFill>
            <a:prstDash val="solid"/>
          </a:ln>
        </p:spPr>
      </p:sp>
      <p:sp>
        <p:nvSpPr>
          <p:cNvPr id="27" name="Text 25"/>
          <p:cNvSpPr txBox="1"/>
          <p:nvPr/>
        </p:nvSpPr>
        <p:spPr>
          <a:xfrm>
            <a:off x="3776472" y="1527048"/>
            <a:ext cx="1280160" cy="256032"/>
          </a:xfrm>
          <a:prstGeom prst="rect">
            <a:avLst/>
          </a:prstGeom>
          <a:noFill/>
          <a:ln/>
        </p:spPr>
        <p:txBody>
          <a:bodyPr wrap="square" lIns="0" tIns="0" rIns="0" bIns="0" rtlCol="0" anchor="t"/>
          <a:lstStyle/>
          <a:p>
            <a:pPr indent="0" marL="0">
              <a:buNone/>
            </a:pPr>
            <a:r>
              <a:rPr lang="en-US" sz="1200" b="1" dirty="0">
                <a:solidFill>
                  <a:srgbClr val="15181D"/>
                </a:solidFill>
                <a:latin typeface="Segoe UI Semibold" pitchFamily="34" charset="0"/>
                <a:ea typeface="Segoe UI Semibold" pitchFamily="34" charset="-122"/>
                <a:cs typeface="Segoe UI Semibold" pitchFamily="34" charset="-120"/>
              </a:rPr>
              <a:t>Block 2</a:t>
            </a:r>
            <a:endParaRPr lang="en-US" sz="1200" dirty="0"/>
          </a:p>
        </p:txBody>
      </p:sp>
      <p:sp>
        <p:nvSpPr>
          <p:cNvPr id="28" name="Shape 26"/>
          <p:cNvSpPr/>
          <p:nvPr/>
        </p:nvSpPr>
        <p:spPr>
          <a:xfrm>
            <a:off x="3776472" y="1828800"/>
            <a:ext cx="256032" cy="237744"/>
          </a:xfrm>
          <a:prstGeom prst="roundRect">
            <a:avLst>
              <a:gd name="adj" fmla="val 11538"/>
            </a:avLst>
          </a:prstGeom>
          <a:solidFill>
            <a:srgbClr val="76B900"/>
          </a:solidFill>
          <a:ln w="9525">
            <a:solidFill>
              <a:srgbClr val="76B900"/>
            </a:solidFill>
            <a:prstDash val="solid"/>
          </a:ln>
        </p:spPr>
      </p:sp>
      <p:sp>
        <p:nvSpPr>
          <p:cNvPr id="29" name="Shape 27"/>
          <p:cNvSpPr/>
          <p:nvPr/>
        </p:nvSpPr>
        <p:spPr>
          <a:xfrm>
            <a:off x="4105656" y="1828800"/>
            <a:ext cx="256032" cy="237744"/>
          </a:xfrm>
          <a:prstGeom prst="roundRect">
            <a:avLst>
              <a:gd name="adj" fmla="val 11538"/>
            </a:avLst>
          </a:prstGeom>
          <a:solidFill>
            <a:srgbClr val="76B900"/>
          </a:solidFill>
          <a:ln w="9525">
            <a:solidFill>
              <a:srgbClr val="76B900"/>
            </a:solidFill>
            <a:prstDash val="solid"/>
          </a:ln>
        </p:spPr>
      </p:sp>
      <p:sp>
        <p:nvSpPr>
          <p:cNvPr id="30" name="Shape 28"/>
          <p:cNvSpPr/>
          <p:nvPr/>
        </p:nvSpPr>
        <p:spPr>
          <a:xfrm>
            <a:off x="4434840" y="1828800"/>
            <a:ext cx="256032" cy="237744"/>
          </a:xfrm>
          <a:prstGeom prst="roundRect">
            <a:avLst>
              <a:gd name="adj" fmla="val 11538"/>
            </a:avLst>
          </a:prstGeom>
          <a:solidFill>
            <a:srgbClr val="76B900"/>
          </a:solidFill>
          <a:ln w="9525">
            <a:solidFill>
              <a:srgbClr val="76B900"/>
            </a:solidFill>
            <a:prstDash val="solid"/>
          </a:ln>
        </p:spPr>
      </p:sp>
      <p:sp>
        <p:nvSpPr>
          <p:cNvPr id="31" name="Shape 29"/>
          <p:cNvSpPr/>
          <p:nvPr/>
        </p:nvSpPr>
        <p:spPr>
          <a:xfrm>
            <a:off x="4764024" y="1828800"/>
            <a:ext cx="256032" cy="237744"/>
          </a:xfrm>
          <a:prstGeom prst="roundRect">
            <a:avLst>
              <a:gd name="adj" fmla="val 11538"/>
            </a:avLst>
          </a:prstGeom>
          <a:solidFill>
            <a:srgbClr val="76B900"/>
          </a:solidFill>
          <a:ln w="9525">
            <a:solidFill>
              <a:srgbClr val="76B900"/>
            </a:solidFill>
            <a:prstDash val="solid"/>
          </a:ln>
        </p:spPr>
      </p:sp>
      <p:sp>
        <p:nvSpPr>
          <p:cNvPr id="32" name="Shape 30"/>
          <p:cNvSpPr/>
          <p:nvPr/>
        </p:nvSpPr>
        <p:spPr>
          <a:xfrm>
            <a:off x="3776472" y="2139696"/>
            <a:ext cx="256032" cy="237744"/>
          </a:xfrm>
          <a:prstGeom prst="roundRect">
            <a:avLst>
              <a:gd name="adj" fmla="val 11538"/>
            </a:avLst>
          </a:prstGeom>
          <a:solidFill>
            <a:srgbClr val="76B900"/>
          </a:solidFill>
          <a:ln w="9525">
            <a:solidFill>
              <a:srgbClr val="76B900"/>
            </a:solidFill>
            <a:prstDash val="solid"/>
          </a:ln>
        </p:spPr>
      </p:sp>
      <p:sp>
        <p:nvSpPr>
          <p:cNvPr id="33" name="Shape 31"/>
          <p:cNvSpPr/>
          <p:nvPr/>
        </p:nvSpPr>
        <p:spPr>
          <a:xfrm>
            <a:off x="4105656" y="2139696"/>
            <a:ext cx="256032" cy="237744"/>
          </a:xfrm>
          <a:prstGeom prst="roundRect">
            <a:avLst>
              <a:gd name="adj" fmla="val 11538"/>
            </a:avLst>
          </a:prstGeom>
          <a:solidFill>
            <a:srgbClr val="76B900"/>
          </a:solidFill>
          <a:ln w="9525">
            <a:solidFill>
              <a:srgbClr val="76B900"/>
            </a:solidFill>
            <a:prstDash val="solid"/>
          </a:ln>
        </p:spPr>
      </p:sp>
      <p:sp>
        <p:nvSpPr>
          <p:cNvPr id="34" name="Shape 32"/>
          <p:cNvSpPr/>
          <p:nvPr/>
        </p:nvSpPr>
        <p:spPr>
          <a:xfrm>
            <a:off x="4434840" y="2139696"/>
            <a:ext cx="256032" cy="237744"/>
          </a:xfrm>
          <a:prstGeom prst="roundRect">
            <a:avLst>
              <a:gd name="adj" fmla="val 11538"/>
            </a:avLst>
          </a:prstGeom>
          <a:solidFill>
            <a:srgbClr val="76B900"/>
          </a:solidFill>
          <a:ln w="9525">
            <a:solidFill>
              <a:srgbClr val="76B900"/>
            </a:solidFill>
            <a:prstDash val="solid"/>
          </a:ln>
        </p:spPr>
      </p:sp>
      <p:sp>
        <p:nvSpPr>
          <p:cNvPr id="35" name="Shape 33"/>
          <p:cNvSpPr/>
          <p:nvPr/>
        </p:nvSpPr>
        <p:spPr>
          <a:xfrm>
            <a:off x="4764024" y="2139696"/>
            <a:ext cx="256032" cy="237744"/>
          </a:xfrm>
          <a:prstGeom prst="roundRect">
            <a:avLst>
              <a:gd name="adj" fmla="val 11538"/>
            </a:avLst>
          </a:prstGeom>
          <a:solidFill>
            <a:srgbClr val="76B900"/>
          </a:solidFill>
          <a:ln w="9525">
            <a:solidFill>
              <a:srgbClr val="76B900"/>
            </a:solidFill>
            <a:prstDash val="solid"/>
          </a:ln>
        </p:spPr>
      </p:sp>
      <p:sp>
        <p:nvSpPr>
          <p:cNvPr id="36" name="Text 34"/>
          <p:cNvSpPr txBox="1"/>
          <p:nvPr/>
        </p:nvSpPr>
        <p:spPr>
          <a:xfrm>
            <a:off x="3657600" y="2532888"/>
            <a:ext cx="1417320" cy="256032"/>
          </a:xfrm>
          <a:prstGeom prst="rect">
            <a:avLst/>
          </a:prstGeom>
          <a:noFill/>
          <a:ln/>
        </p:spPr>
        <p:txBody>
          <a:bodyPr wrap="square" lIns="0" tIns="0" rIns="0" bIns="0" rtlCol="0" anchor="t"/>
          <a:lstStyle/>
          <a:p>
            <a:pPr algn="ctr" indent="0" marL="0">
              <a:buNone/>
            </a:pPr>
            <a:r>
              <a:rPr lang="en-US" sz="1100" dirty="0">
                <a:solidFill>
                  <a:srgbClr val="5B6470"/>
                </a:solidFill>
                <a:latin typeface="Segoe UI" pitchFamily="34" charset="0"/>
                <a:ea typeface="Segoe UI" pitchFamily="34" charset="-122"/>
                <a:cs typeface="Segoe UI" pitchFamily="34" charset="-120"/>
              </a:rPr>
              <a:t>elements 512–767</a:t>
            </a:r>
            <a:endParaRPr lang="en-US" sz="1100" dirty="0"/>
          </a:p>
        </p:txBody>
      </p:sp>
      <p:sp>
        <p:nvSpPr>
          <p:cNvPr id="37" name="Shape 35"/>
          <p:cNvSpPr/>
          <p:nvPr/>
        </p:nvSpPr>
        <p:spPr>
          <a:xfrm>
            <a:off x="5532120" y="1463040"/>
            <a:ext cx="1417320" cy="1024128"/>
          </a:xfrm>
          <a:prstGeom prst="roundRect">
            <a:avLst>
              <a:gd name="adj" fmla="val 7143"/>
            </a:avLst>
          </a:prstGeom>
          <a:solidFill>
            <a:srgbClr val="F3F5F7"/>
          </a:solidFill>
          <a:ln w="6350">
            <a:solidFill>
              <a:srgbClr val="F3F5F7"/>
            </a:solidFill>
            <a:prstDash val="solid"/>
          </a:ln>
        </p:spPr>
      </p:sp>
      <p:sp>
        <p:nvSpPr>
          <p:cNvPr id="38" name="Text 36"/>
          <p:cNvSpPr txBox="1"/>
          <p:nvPr/>
        </p:nvSpPr>
        <p:spPr>
          <a:xfrm>
            <a:off x="5650992" y="1527048"/>
            <a:ext cx="1280160" cy="256032"/>
          </a:xfrm>
          <a:prstGeom prst="rect">
            <a:avLst/>
          </a:prstGeom>
          <a:noFill/>
          <a:ln/>
        </p:spPr>
        <p:txBody>
          <a:bodyPr wrap="square" lIns="0" tIns="0" rIns="0" bIns="0" rtlCol="0" anchor="t"/>
          <a:lstStyle/>
          <a:p>
            <a:pPr indent="0" marL="0">
              <a:buNone/>
            </a:pPr>
            <a:r>
              <a:rPr lang="en-US" sz="1200" b="1" dirty="0">
                <a:solidFill>
                  <a:srgbClr val="15181D"/>
                </a:solidFill>
                <a:latin typeface="Segoe UI Semibold" pitchFamily="34" charset="0"/>
                <a:ea typeface="Segoe UI Semibold" pitchFamily="34" charset="-122"/>
                <a:cs typeface="Segoe UI Semibold" pitchFamily="34" charset="-120"/>
              </a:rPr>
              <a:t>Last block</a:t>
            </a:r>
            <a:endParaRPr lang="en-US" sz="1200" dirty="0"/>
          </a:p>
        </p:txBody>
      </p:sp>
      <p:sp>
        <p:nvSpPr>
          <p:cNvPr id="39" name="Shape 37"/>
          <p:cNvSpPr/>
          <p:nvPr/>
        </p:nvSpPr>
        <p:spPr>
          <a:xfrm>
            <a:off x="5650992" y="1828800"/>
            <a:ext cx="256032" cy="237744"/>
          </a:xfrm>
          <a:prstGeom prst="roundRect">
            <a:avLst>
              <a:gd name="adj" fmla="val 11538"/>
            </a:avLst>
          </a:prstGeom>
          <a:solidFill>
            <a:srgbClr val="76B900"/>
          </a:solidFill>
          <a:ln w="9525">
            <a:solidFill>
              <a:srgbClr val="76B900"/>
            </a:solidFill>
            <a:prstDash val="solid"/>
          </a:ln>
        </p:spPr>
      </p:sp>
      <p:sp>
        <p:nvSpPr>
          <p:cNvPr id="40" name="Shape 38"/>
          <p:cNvSpPr/>
          <p:nvPr/>
        </p:nvSpPr>
        <p:spPr>
          <a:xfrm>
            <a:off x="5980176" y="1828800"/>
            <a:ext cx="256032" cy="237744"/>
          </a:xfrm>
          <a:prstGeom prst="roundRect">
            <a:avLst>
              <a:gd name="adj" fmla="val 11538"/>
            </a:avLst>
          </a:prstGeom>
          <a:solidFill>
            <a:srgbClr val="76B900"/>
          </a:solidFill>
          <a:ln w="9525">
            <a:solidFill>
              <a:srgbClr val="76B900"/>
            </a:solidFill>
            <a:prstDash val="solid"/>
          </a:ln>
        </p:spPr>
      </p:sp>
      <p:sp>
        <p:nvSpPr>
          <p:cNvPr id="41" name="Shape 39"/>
          <p:cNvSpPr/>
          <p:nvPr/>
        </p:nvSpPr>
        <p:spPr>
          <a:xfrm>
            <a:off x="6309360" y="1828800"/>
            <a:ext cx="256032" cy="237744"/>
          </a:xfrm>
          <a:prstGeom prst="roundRect">
            <a:avLst>
              <a:gd name="adj" fmla="val 11538"/>
            </a:avLst>
          </a:prstGeom>
          <a:solidFill>
            <a:srgbClr val="76B900"/>
          </a:solidFill>
          <a:ln w="9525">
            <a:solidFill>
              <a:srgbClr val="76B900"/>
            </a:solidFill>
            <a:prstDash val="solid"/>
          </a:ln>
        </p:spPr>
      </p:sp>
      <p:sp>
        <p:nvSpPr>
          <p:cNvPr id="42" name="Shape 40"/>
          <p:cNvSpPr/>
          <p:nvPr/>
        </p:nvSpPr>
        <p:spPr>
          <a:xfrm>
            <a:off x="6638544" y="1828800"/>
            <a:ext cx="256032" cy="237744"/>
          </a:xfrm>
          <a:prstGeom prst="roundRect">
            <a:avLst>
              <a:gd name="adj" fmla="val 11538"/>
            </a:avLst>
          </a:prstGeom>
          <a:solidFill>
            <a:srgbClr val="76B900"/>
          </a:solidFill>
          <a:ln w="9525">
            <a:solidFill>
              <a:srgbClr val="76B900"/>
            </a:solidFill>
            <a:prstDash val="solid"/>
          </a:ln>
        </p:spPr>
      </p:sp>
      <p:sp>
        <p:nvSpPr>
          <p:cNvPr id="43" name="Shape 41"/>
          <p:cNvSpPr/>
          <p:nvPr/>
        </p:nvSpPr>
        <p:spPr>
          <a:xfrm>
            <a:off x="5650992" y="2139696"/>
            <a:ext cx="256032" cy="237744"/>
          </a:xfrm>
          <a:prstGeom prst="roundRect">
            <a:avLst>
              <a:gd name="adj" fmla="val 11538"/>
            </a:avLst>
          </a:prstGeom>
          <a:solidFill>
            <a:srgbClr val="76B900"/>
          </a:solidFill>
          <a:ln w="9525">
            <a:solidFill>
              <a:srgbClr val="76B900"/>
            </a:solidFill>
            <a:prstDash val="solid"/>
          </a:ln>
        </p:spPr>
      </p:sp>
      <p:sp>
        <p:nvSpPr>
          <p:cNvPr id="44" name="Shape 42"/>
          <p:cNvSpPr/>
          <p:nvPr/>
        </p:nvSpPr>
        <p:spPr>
          <a:xfrm>
            <a:off x="5980176" y="2139696"/>
            <a:ext cx="256032" cy="237744"/>
          </a:xfrm>
          <a:prstGeom prst="roundRect">
            <a:avLst>
              <a:gd name="adj" fmla="val 11538"/>
            </a:avLst>
          </a:prstGeom>
          <a:solidFill>
            <a:srgbClr val="76B900"/>
          </a:solidFill>
          <a:ln w="9525">
            <a:solidFill>
              <a:srgbClr val="76B900"/>
            </a:solidFill>
            <a:prstDash val="solid"/>
          </a:ln>
        </p:spPr>
      </p:sp>
      <p:sp>
        <p:nvSpPr>
          <p:cNvPr id="45" name="Shape 43"/>
          <p:cNvSpPr/>
          <p:nvPr/>
        </p:nvSpPr>
        <p:spPr>
          <a:xfrm>
            <a:off x="6309360" y="2139696"/>
            <a:ext cx="256032" cy="237744"/>
          </a:xfrm>
          <a:prstGeom prst="roundRect">
            <a:avLst>
              <a:gd name="adj" fmla="val 11538"/>
            </a:avLst>
          </a:prstGeom>
          <a:solidFill>
            <a:srgbClr val="FFFFFF"/>
          </a:solidFill>
          <a:ln w="9525">
            <a:solidFill>
              <a:srgbClr val="9AA4AF"/>
            </a:solidFill>
            <a:prstDash val="dash"/>
          </a:ln>
        </p:spPr>
      </p:sp>
      <p:sp>
        <p:nvSpPr>
          <p:cNvPr id="46" name="Shape 44"/>
          <p:cNvSpPr/>
          <p:nvPr/>
        </p:nvSpPr>
        <p:spPr>
          <a:xfrm>
            <a:off x="6638544" y="2139696"/>
            <a:ext cx="256032" cy="237744"/>
          </a:xfrm>
          <a:prstGeom prst="roundRect">
            <a:avLst>
              <a:gd name="adj" fmla="val 11538"/>
            </a:avLst>
          </a:prstGeom>
          <a:solidFill>
            <a:srgbClr val="FFFFFF"/>
          </a:solidFill>
          <a:ln w="9525">
            <a:solidFill>
              <a:srgbClr val="9AA4AF"/>
            </a:solidFill>
            <a:prstDash val="dash"/>
          </a:ln>
        </p:spPr>
      </p:sp>
      <p:sp>
        <p:nvSpPr>
          <p:cNvPr id="47" name="Text 45"/>
          <p:cNvSpPr txBox="1"/>
          <p:nvPr/>
        </p:nvSpPr>
        <p:spPr>
          <a:xfrm>
            <a:off x="5532120" y="2532888"/>
            <a:ext cx="1417320" cy="256032"/>
          </a:xfrm>
          <a:prstGeom prst="rect">
            <a:avLst/>
          </a:prstGeom>
          <a:noFill/>
          <a:ln/>
        </p:spPr>
        <p:txBody>
          <a:bodyPr wrap="square" lIns="0" tIns="0" rIns="0" bIns="0" rtlCol="0" anchor="t"/>
          <a:lstStyle/>
          <a:p>
            <a:pPr algn="ctr" indent="0" marL="0">
              <a:buNone/>
            </a:pPr>
            <a:r>
              <a:rPr lang="en-US" sz="1100" dirty="0">
                <a:solidFill>
                  <a:srgbClr val="5B6470"/>
                </a:solidFill>
                <a:latin typeface="Segoe UI" pitchFamily="34" charset="0"/>
                <a:ea typeface="Segoe UI" pitchFamily="34" charset="-122"/>
                <a:cs typeface="Segoe UI" pitchFamily="34" charset="-120"/>
              </a:rPr>
              <a:t>partly idle</a:t>
            </a:r>
            <a:endParaRPr lang="en-US" sz="1100" dirty="0"/>
          </a:p>
        </p:txBody>
      </p:sp>
      <p:sp>
        <p:nvSpPr>
          <p:cNvPr id="48" name="Text 46"/>
          <p:cNvSpPr txBox="1"/>
          <p:nvPr/>
        </p:nvSpPr>
        <p:spPr>
          <a:xfrm>
            <a:off x="5074920" y="1691640"/>
            <a:ext cx="457200" cy="457200"/>
          </a:xfrm>
          <a:prstGeom prst="rect">
            <a:avLst/>
          </a:prstGeom>
          <a:noFill/>
          <a:ln/>
        </p:spPr>
        <p:txBody>
          <a:bodyPr wrap="square" lIns="0" tIns="0" rIns="0" bIns="0" rtlCol="0" anchor="t"/>
          <a:lstStyle/>
          <a:p>
            <a:pPr algn="ctr" indent="0" marL="0">
              <a:buNone/>
            </a:pPr>
            <a:r>
              <a:rPr lang="en-US" sz="2600" dirty="0">
                <a:solidFill>
                  <a:srgbClr val="8A94A0"/>
                </a:solidFill>
                <a:latin typeface="Segoe UI" pitchFamily="34" charset="0"/>
                <a:ea typeface="Segoe UI" pitchFamily="34" charset="-122"/>
                <a:cs typeface="Segoe UI" pitchFamily="34" charset="-120"/>
              </a:rPr>
              <a:t>…</a:t>
            </a:r>
            <a:endParaRPr lang="en-US" sz="2600" dirty="0"/>
          </a:p>
        </p:txBody>
      </p:sp>
      <p:sp>
        <p:nvSpPr>
          <p:cNvPr id="49" name="Text 47"/>
          <p:cNvSpPr txBox="1"/>
          <p:nvPr/>
        </p:nvSpPr>
        <p:spPr>
          <a:xfrm>
            <a:off x="548640" y="2788920"/>
            <a:ext cx="6400800" cy="292608"/>
          </a:xfrm>
          <a:prstGeom prst="rect">
            <a:avLst/>
          </a:prstGeom>
          <a:noFill/>
          <a:ln/>
        </p:spPr>
        <p:txBody>
          <a:bodyPr wrap="square" lIns="0" tIns="0" rIns="0" bIns="0" rtlCol="0" anchor="t"/>
          <a:lstStyle/>
          <a:p>
            <a:pPr indent="0" marL="0">
              <a:buNone/>
            </a:pPr>
            <a:r>
              <a:rPr lang="en-US" sz="1150" i="1" dirty="0">
                <a:solidFill>
                  <a:srgbClr val="5B6470"/>
                </a:solidFill>
                <a:latin typeface="Segoe UI" pitchFamily="34" charset="0"/>
                <a:ea typeface="Segoe UI" pitchFamily="34" charset="-122"/>
                <a:cs typeface="Segoe UI" pitchFamily="34" charset="-120"/>
              </a:rPr>
              <a:t>Each square = one warp of 32 threads; 8 warps = 256 threads. Dashed = threads with idx ≥ N.</a:t>
            </a:r>
            <a:endParaRPr lang="en-US" sz="1150" dirty="0"/>
          </a:p>
        </p:txBody>
      </p:sp>
      <p:sp>
        <p:nvSpPr>
          <p:cNvPr id="50" name="Shape 48"/>
          <p:cNvSpPr/>
          <p:nvPr/>
        </p:nvSpPr>
        <p:spPr>
          <a:xfrm>
            <a:off x="548640" y="3200400"/>
            <a:ext cx="6400800" cy="621792"/>
          </a:xfrm>
          <a:prstGeom prst="roundRect">
            <a:avLst>
              <a:gd name="adj" fmla="val 11765"/>
            </a:avLst>
          </a:prstGeom>
          <a:solidFill>
            <a:srgbClr val="1E2227"/>
          </a:solidFill>
          <a:ln w="6350">
            <a:solidFill>
              <a:srgbClr val="1E2227"/>
            </a:solidFill>
            <a:prstDash val="solid"/>
          </a:ln>
          <a:effectLst>
            <a:outerShdw sx="100000" sy="100000" kx="0" ky="0" algn="bl" rotWithShape="0" blurRad="88900" dist="25400" dir="5400000">
              <a:srgbClr val="000000">
                <a:alpha val="12000"/>
              </a:srgbClr>
            </a:outerShdw>
          </a:effectLst>
        </p:spPr>
      </p:sp>
      <p:sp>
        <p:nvSpPr>
          <p:cNvPr id="51" name="Text 49"/>
          <p:cNvSpPr txBox="1"/>
          <p:nvPr/>
        </p:nvSpPr>
        <p:spPr>
          <a:xfrm>
            <a:off x="777240" y="3383280"/>
            <a:ext cx="6035040" cy="301752"/>
          </a:xfrm>
          <a:prstGeom prst="rect">
            <a:avLst/>
          </a:prstGeom>
          <a:noFill/>
          <a:ln/>
        </p:spPr>
        <p:txBody>
          <a:bodyPr wrap="square" lIns="0" tIns="0" rIns="0" bIns="0" rtlCol="0" anchor="t"/>
          <a:lstStyle/>
          <a:p>
            <a:pPr indent="0" marL="0">
              <a:lnSpc>
                <a:spcPct val="105000"/>
              </a:lnSpc>
              <a:buNone/>
            </a:pPr>
            <a:r>
              <a:rPr lang="en-US" sz="1700" dirty="0">
                <a:solidFill>
                  <a:srgbClr val="79C0FF"/>
                </a:solidFill>
                <a:latin typeface="Consolas" pitchFamily="34" charset="0"/>
                <a:ea typeface="Consolas" pitchFamily="34" charset="-122"/>
                <a:cs typeface="Consolas" pitchFamily="34" charset="-120"/>
              </a:rPr>
              <a:t>idx</a:t>
            </a:r>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 = blockIdx.x × blockDim.x + threadIdx.x</a:t>
            </a:r>
            <a:endParaRPr lang="en-US" sz="1700" dirty="0"/>
          </a:p>
        </p:txBody>
      </p:sp>
      <p:sp>
        <p:nvSpPr>
          <p:cNvPr id="52" name="Text 50"/>
          <p:cNvSpPr txBox="1"/>
          <p:nvPr/>
        </p:nvSpPr>
        <p:spPr>
          <a:xfrm>
            <a:off x="548640" y="3904488"/>
            <a:ext cx="6400800" cy="320040"/>
          </a:xfrm>
          <a:prstGeom prst="rect">
            <a:avLst/>
          </a:prstGeom>
          <a:noFill/>
          <a:ln/>
        </p:spPr>
        <p:txBody>
          <a:bodyPr wrap="square" lIns="0" tIns="0" rIns="0" bIns="0" rtlCol="0" anchor="t"/>
          <a:lstStyle/>
          <a:p>
            <a:pPr indent="0" marL="0">
              <a:buNone/>
            </a:pPr>
            <a:r>
              <a:rPr lang="en-US" sz="1350" b="1" dirty="0">
                <a:solidFill>
                  <a:srgbClr val="15181D"/>
                </a:solidFill>
                <a:latin typeface="Segoe UI" pitchFamily="34" charset="0"/>
                <a:ea typeface="Segoe UI" pitchFamily="34" charset="-122"/>
                <a:cs typeface="Segoe UI" pitchFamily="34" charset="-120"/>
              </a:rPr>
              <a:t>Example: </a:t>
            </a:r>
            <a:pPr indent="0" marL="0">
              <a:buNone/>
            </a:pPr>
            <a:r>
              <a:rPr lang="en-US" sz="1350" dirty="0">
                <a:solidFill>
                  <a:srgbClr val="15181D"/>
                </a:solidFill>
                <a:latin typeface="Segoe UI" pitchFamily="34" charset="0"/>
                <a:ea typeface="Segoe UI" pitchFamily="34" charset="-122"/>
                <a:cs typeface="Segoe UI" pitchFamily="34" charset="-120"/>
              </a:rPr>
              <a:t>thread 17 of block 3 handles element 3 × 256 + 17 = 785.</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4389120"/>
          <a:ext cx="6400800" cy="914400"/>
        </p:xfrm>
        <a:graphic>
          <a:graphicData uri="http://schemas.openxmlformats.org/drawingml/2006/table">
            <a:tbl>
              <a:tblPr/>
              <a:tblGrid>
                <a:gridCol w="1463040"/>
                <a:gridCol w="1645920"/>
                <a:gridCol w="1737360"/>
                <a:gridCol w="1554480"/>
              </a:tblGrid>
              <a:tr h="347472">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N</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Blocks ⌈N / 256⌉</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Threads launched</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Extra (guarded)</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r>
              <a:tr h="347472">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391</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100,096</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96</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347472">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3,907</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1,000,192</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192</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47472">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39,063</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10,000,128</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128</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347472">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25,000,000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97,657</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25,000,192</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192</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54" name="Shape 51"/>
          <p:cNvSpPr/>
          <p:nvPr/>
        </p:nvSpPr>
        <p:spPr>
          <a:xfrm>
            <a:off x="7360920" y="1463040"/>
            <a:ext cx="4279392" cy="2788920"/>
          </a:xfrm>
          <a:prstGeom prst="roundRect">
            <a:avLst>
              <a:gd name="adj" fmla="val 2623"/>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55" name="Text 52"/>
          <p:cNvSpPr txBox="1"/>
          <p:nvPr/>
        </p:nvSpPr>
        <p:spPr>
          <a:xfrm>
            <a:off x="7589520" y="1600200"/>
            <a:ext cx="3840480" cy="365760"/>
          </a:xfrm>
          <a:prstGeom prst="rect">
            <a:avLst/>
          </a:prstGeom>
          <a:noFill/>
          <a:ln/>
        </p:spPr>
        <p:txBody>
          <a:bodyPr wrap="square" lIns="0" tIns="0" rIns="0" bIns="0" rtlCol="0" anchor="t"/>
          <a:lstStyle/>
          <a:p>
            <a:pPr indent="0" marL="0">
              <a:buNone/>
            </a:pPr>
            <a:r>
              <a:rPr lang="en-US" sz="1600" b="1" dirty="0">
                <a:solidFill>
                  <a:srgbClr val="15181D"/>
                </a:solidFill>
                <a:latin typeface="Segoe UI Semibold" pitchFamily="34" charset="0"/>
                <a:ea typeface="Segoe UI Semibold" pitchFamily="34" charset="-122"/>
                <a:cs typeface="Segoe UI Semibold" pitchFamily="34" charset="-120"/>
              </a:rPr>
              <a:t>Why 256 threads per block</a:t>
            </a:r>
            <a:endParaRPr lang="en-US" sz="1600" dirty="0"/>
          </a:p>
        </p:txBody>
      </p:sp>
      <p:sp>
        <p:nvSpPr>
          <p:cNvPr id="56" name="Shape 53"/>
          <p:cNvSpPr/>
          <p:nvPr/>
        </p:nvSpPr>
        <p:spPr>
          <a:xfrm>
            <a:off x="7589520" y="2075688"/>
            <a:ext cx="329184" cy="329184"/>
          </a:xfrm>
          <a:prstGeom prst="ellipse">
            <a:avLst/>
          </a:prstGeom>
          <a:solidFill>
            <a:srgbClr val="76B900"/>
          </a:solidFill>
          <a:ln w="6350">
            <a:solidFill>
              <a:srgbClr val="76B900"/>
            </a:solidFill>
            <a:prstDash val="solid"/>
          </a:ln>
        </p:spPr>
      </p:sp>
      <p:sp>
        <p:nvSpPr>
          <p:cNvPr id="57" name="Text 54"/>
          <p:cNvSpPr txBox="1"/>
          <p:nvPr/>
        </p:nvSpPr>
        <p:spPr>
          <a:xfrm>
            <a:off x="7589520" y="20756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58" name="Text 55"/>
          <p:cNvSpPr txBox="1"/>
          <p:nvPr/>
        </p:nvSpPr>
        <p:spPr>
          <a:xfrm>
            <a:off x="8065008" y="2057400"/>
            <a:ext cx="3410712" cy="640080"/>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8 full warps: </a:t>
            </a:r>
            <a:pPr indent="0" marL="0">
              <a:buNone/>
            </a:pPr>
            <a:r>
              <a:rPr lang="en-US" sz="1300" dirty="0">
                <a:solidFill>
                  <a:srgbClr val="2D333B"/>
                </a:solidFill>
                <a:latin typeface="Segoe UI" pitchFamily="34" charset="0"/>
                <a:ea typeface="Segoe UI" pitchFamily="34" charset="-122"/>
                <a:cs typeface="Segoe UI" pitchFamily="34" charset="-120"/>
              </a:rPr>
              <a:t>256 is a multiple of 32, so no lane is wasted.</a:t>
            </a:r>
            <a:endParaRPr lang="en-US" sz="1300" dirty="0"/>
          </a:p>
        </p:txBody>
      </p:sp>
      <p:sp>
        <p:nvSpPr>
          <p:cNvPr id="59" name="Shape 56"/>
          <p:cNvSpPr/>
          <p:nvPr/>
        </p:nvSpPr>
        <p:spPr>
          <a:xfrm>
            <a:off x="7589520" y="2788920"/>
            <a:ext cx="329184" cy="329184"/>
          </a:xfrm>
          <a:prstGeom prst="ellipse">
            <a:avLst/>
          </a:prstGeom>
          <a:solidFill>
            <a:srgbClr val="76B900"/>
          </a:solidFill>
          <a:ln w="6350">
            <a:solidFill>
              <a:srgbClr val="76B900"/>
            </a:solidFill>
            <a:prstDash val="solid"/>
          </a:ln>
        </p:spPr>
      </p:sp>
      <p:sp>
        <p:nvSpPr>
          <p:cNvPr id="60" name="Text 57"/>
          <p:cNvSpPr txBox="1"/>
          <p:nvPr/>
        </p:nvSpPr>
        <p:spPr>
          <a:xfrm>
            <a:off x="7589520" y="27889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61" name="Text 58"/>
          <p:cNvSpPr txBox="1"/>
          <p:nvPr/>
        </p:nvSpPr>
        <p:spPr>
          <a:xfrm>
            <a:off x="8065008" y="2770632"/>
            <a:ext cx="3410712" cy="640080"/>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Full occupancy: </a:t>
            </a:r>
            <a:pPr indent="0" marL="0">
              <a:buNone/>
            </a:pPr>
            <a:r>
              <a:rPr lang="en-US" sz="1300" dirty="0">
                <a:solidFill>
                  <a:srgbClr val="2D333B"/>
                </a:solidFill>
                <a:latin typeface="Segoe UI" pitchFamily="34" charset="0"/>
                <a:ea typeface="Segoe UI" pitchFamily="34" charset="-122"/>
                <a:cs typeface="Segoe UI" pitchFamily="34" charset="-120"/>
              </a:rPr>
              <a:t>4 blocks × 256 fill a Turing SM's 1,024-thread limit.</a:t>
            </a:r>
            <a:endParaRPr lang="en-US" sz="1300" dirty="0"/>
          </a:p>
        </p:txBody>
      </p:sp>
      <p:sp>
        <p:nvSpPr>
          <p:cNvPr id="62" name="Shape 59"/>
          <p:cNvSpPr/>
          <p:nvPr/>
        </p:nvSpPr>
        <p:spPr>
          <a:xfrm>
            <a:off x="7589520" y="3502152"/>
            <a:ext cx="329184" cy="329184"/>
          </a:xfrm>
          <a:prstGeom prst="ellipse">
            <a:avLst/>
          </a:prstGeom>
          <a:solidFill>
            <a:srgbClr val="76B900"/>
          </a:solidFill>
          <a:ln w="6350">
            <a:solidFill>
              <a:srgbClr val="76B900"/>
            </a:solidFill>
            <a:prstDash val="solid"/>
          </a:ln>
        </p:spPr>
      </p:sp>
      <p:sp>
        <p:nvSpPr>
          <p:cNvPr id="63" name="Text 60"/>
          <p:cNvSpPr txBox="1"/>
          <p:nvPr/>
        </p:nvSpPr>
        <p:spPr>
          <a:xfrm>
            <a:off x="7589520" y="35021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64" name="Text 61"/>
          <p:cNvSpPr txBox="1"/>
          <p:nvPr/>
        </p:nvSpPr>
        <p:spPr>
          <a:xfrm>
            <a:off x="8065008" y="3483864"/>
            <a:ext cx="3410712" cy="640080"/>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Not 32: </a:t>
            </a:r>
            <a:pPr indent="0" marL="0">
              <a:buNone/>
            </a:pPr>
            <a:r>
              <a:rPr lang="en-US" sz="1300" dirty="0">
                <a:solidFill>
                  <a:srgbClr val="2D333B"/>
                </a:solidFill>
                <a:latin typeface="Segoe UI" pitchFamily="34" charset="0"/>
                <a:ea typeface="Segoe UI" pitchFamily="34" charset="-122"/>
                <a:cs typeface="Segoe UI" pitchFamily="34" charset="-120"/>
              </a:rPr>
              <a:t>the 16-blocks-per-SM limit would cap 32-thread blocks at 50 %.</a:t>
            </a:r>
            <a:endParaRPr lang="en-US" sz="1300" dirty="0"/>
          </a:p>
        </p:txBody>
      </p:sp>
      <p:sp>
        <p:nvSpPr>
          <p:cNvPr id="65" name="Shape 62"/>
          <p:cNvSpPr/>
          <p:nvPr/>
        </p:nvSpPr>
        <p:spPr>
          <a:xfrm>
            <a:off x="7360920" y="4434840"/>
            <a:ext cx="4279392" cy="1783080"/>
          </a:xfrm>
          <a:prstGeom prst="roundRect">
            <a:avLst>
              <a:gd name="adj" fmla="val 4103"/>
            </a:avLst>
          </a:prstGeom>
          <a:solidFill>
            <a:srgbClr val="FDEEDF"/>
          </a:solidFill>
          <a:ln w="6350">
            <a:solidFill>
              <a:srgbClr val="FDEEDF"/>
            </a:solidFill>
            <a:prstDash val="solid"/>
          </a:ln>
        </p:spPr>
      </p:sp>
      <p:sp>
        <p:nvSpPr>
          <p:cNvPr id="66" name="Text 63"/>
          <p:cNvSpPr txBox="1"/>
          <p:nvPr/>
        </p:nvSpPr>
        <p:spPr>
          <a:xfrm>
            <a:off x="7589520" y="4544568"/>
            <a:ext cx="3840480" cy="320040"/>
          </a:xfrm>
          <a:prstGeom prst="rect">
            <a:avLst/>
          </a:prstGeom>
          <a:noFill/>
          <a:ln/>
        </p:spPr>
        <p:txBody>
          <a:bodyPr wrap="square" lIns="0" tIns="0" rIns="0" bIns="0" rtlCol="0" anchor="t"/>
          <a:lstStyle/>
          <a:p>
            <a:pPr indent="0" marL="0">
              <a:buNone/>
            </a:pPr>
            <a:r>
              <a:rPr lang="en-US" sz="1600" b="1" dirty="0">
                <a:solidFill>
                  <a:srgbClr val="15181D"/>
                </a:solidFill>
                <a:latin typeface="Segoe UI Semibold" pitchFamily="34" charset="0"/>
                <a:ea typeface="Segoe UI Semibold" pitchFamily="34" charset="-122"/>
                <a:cs typeface="Segoe UI Semibold" pitchFamily="34" charset="-120"/>
              </a:rPr>
              <a:t>Boundary guard</a:t>
            </a:r>
            <a:endParaRPr lang="en-US" sz="1600" dirty="0"/>
          </a:p>
        </p:txBody>
      </p:sp>
      <p:sp>
        <p:nvSpPr>
          <p:cNvPr id="67" name="Text 64"/>
          <p:cNvSpPr txBox="1"/>
          <p:nvPr/>
        </p:nvSpPr>
        <p:spPr>
          <a:xfrm>
            <a:off x="7589520" y="4892040"/>
            <a:ext cx="3840480" cy="320040"/>
          </a:xfrm>
          <a:prstGeom prst="rect">
            <a:avLst/>
          </a:prstGeom>
          <a:noFill/>
          <a:ln/>
        </p:spPr>
        <p:txBody>
          <a:bodyPr wrap="square" lIns="0" tIns="0" rIns="0" bIns="0" rtlCol="0" anchor="t"/>
          <a:lstStyle/>
          <a:p>
            <a:pPr indent="0" marL="0">
              <a:buNone/>
            </a:pPr>
            <a:r>
              <a:rPr lang="en-US" sz="1400" b="1" dirty="0">
                <a:solidFill>
                  <a:srgbClr val="9A4A00"/>
                </a:solidFill>
                <a:latin typeface="Consolas" pitchFamily="34" charset="0"/>
                <a:ea typeface="Consolas" pitchFamily="34" charset="-122"/>
                <a:cs typeface="Consolas" pitchFamily="34" charset="-120"/>
              </a:rPr>
              <a:t>if (idx &lt; n) { … }</a:t>
            </a:r>
            <a:endParaRPr lang="en-US" sz="1400" dirty="0"/>
          </a:p>
        </p:txBody>
      </p:sp>
      <p:sp>
        <p:nvSpPr>
          <p:cNvPr id="68" name="Text 65"/>
          <p:cNvSpPr txBox="1"/>
          <p:nvPr/>
        </p:nvSpPr>
        <p:spPr>
          <a:xfrm>
            <a:off x="7589520" y="5239512"/>
            <a:ext cx="3886200" cy="896112"/>
          </a:xfrm>
          <a:prstGeom prst="rect">
            <a:avLst/>
          </a:prstGeom>
          <a:noFill/>
          <a:ln/>
        </p:spPr>
        <p:txBody>
          <a:bodyPr wrap="square" lIns="0" tIns="0" rIns="0" bIns="0" rtlCol="0" anchor="t"/>
          <a:lstStyle/>
          <a:p>
            <a:pPr indent="0" marL="0">
              <a:buNone/>
            </a:pPr>
            <a:r>
              <a:rPr lang="en-US" sz="1250" dirty="0">
                <a:solidFill>
                  <a:srgbClr val="2D333B"/>
                </a:solidFill>
                <a:latin typeface="Segoe UI" pitchFamily="34" charset="0"/>
                <a:ea typeface="Segoe UI" pitchFamily="34" charset="-122"/>
                <a:cs typeface="Segoe UI" pitchFamily="34" charset="-120"/>
              </a:rPr>
              <a:t>The grid is rounded up to whole blocks, so a few threads have no element. The guard stops them reading or writing past the arrays.</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Two kernels and a five-step memory life cycle</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2  ·  CUDA IMPLEMENTATION</a:t>
            </a:r>
            <a:endParaRPr lang="en-US" sz="1100" dirty="0"/>
          </a:p>
        </p:txBody>
      </p:sp>
      <p:sp>
        <p:nvSpPr>
          <p:cNvPr id="4" name="Shape 2"/>
          <p:cNvSpPr/>
          <p:nvPr/>
        </p:nvSpPr>
        <p:spPr>
          <a:xfrm>
            <a:off x="548640" y="1463040"/>
            <a:ext cx="5989320" cy="3520440"/>
          </a:xfrm>
          <a:prstGeom prst="roundRect">
            <a:avLst>
              <a:gd name="adj" fmla="val 2078"/>
            </a:avLst>
          </a:prstGeom>
          <a:solidFill>
            <a:srgbClr val="1E2227"/>
          </a:solidFill>
          <a:ln w="6350">
            <a:solidFill>
              <a:srgbClr val="1E2227"/>
            </a:solidFill>
            <a:prstDash val="solid"/>
          </a:ln>
          <a:effectLst>
            <a:outerShdw sx="100000" sy="100000" kx="0" ky="0" algn="bl" rotWithShape="0" blurRad="88900" dist="25400" dir="5400000">
              <a:srgbClr val="000000">
                <a:alpha val="12000"/>
              </a:srgbClr>
            </a:outerShdw>
          </a:effectLst>
        </p:spPr>
      </p:sp>
      <p:sp>
        <p:nvSpPr>
          <p:cNvPr id="5" name="Text 3"/>
          <p:cNvSpPr txBox="1"/>
          <p:nvPr/>
        </p:nvSpPr>
        <p:spPr>
          <a:xfrm>
            <a:off x="777240" y="1645920"/>
            <a:ext cx="5623560" cy="3200400"/>
          </a:xfrm>
          <a:prstGeom prst="rect">
            <a:avLst/>
          </a:prstGeom>
          <a:noFill/>
          <a:ln/>
        </p:spPr>
        <p:txBody>
          <a:bodyPr wrap="square" lIns="0" tIns="0" rIns="0" bIns="0" rtlCol="0" anchor="t"/>
          <a:lstStyle/>
          <a:p>
            <a:pPr indent="0" marL="0">
              <a:lnSpc>
                <a:spcPct val="105000"/>
              </a:lnSpc>
              <a:buNone/>
            </a:pPr>
            <a:r>
              <a:rPr lang="en-US" sz="1400" dirty="0">
                <a:solidFill>
                  <a:srgbClr val="FF7B72"/>
                </a:solidFill>
                <a:latin typeface="Consolas" pitchFamily="34" charset="0"/>
                <a:ea typeface="Consolas" pitchFamily="34" charset="-122"/>
                <a:cs typeface="Consolas" pitchFamily="34" charset="-120"/>
              </a:rPr>
              <a:t>__global__ void </a:t>
            </a:r>
            <a:pPr indent="0" marL="0">
              <a:lnSpc>
                <a:spcPct val="105000"/>
              </a:lnSpc>
              <a:buNone/>
            </a:pPr>
            <a:r>
              <a:rPr lang="en-US" sz="1400" dirty="0">
                <a:solidFill>
                  <a:srgbClr val="D2A8FF"/>
                </a:solidFill>
                <a:latin typeface="Consolas" pitchFamily="34" charset="0"/>
                <a:ea typeface="Consolas" pitchFamily="34" charset="-122"/>
                <a:cs typeface="Consolas" pitchFamily="34" charset="-120"/>
              </a:rPr>
              <a:t>vectorAddKernel</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(const float *A,</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const float *B, float *C, long n) {</a:t>
            </a:r>
            <a:endParaRPr lang="en-US" sz="1400" dirty="0"/>
          </a:p>
          <a:p>
            <a:pPr indent="0" marL="0">
              <a:lnSpc>
                <a:spcPct val="105000"/>
              </a:lnSpc>
              <a:buNone/>
            </a:pPr>
            <a:r>
              <a:rPr lang="en-US" sz="1400" dirty="0">
                <a:solidFill>
                  <a:srgbClr val="FF7B72"/>
                </a:solidFill>
                <a:latin typeface="Consolas" pitchFamily="34" charset="0"/>
                <a:ea typeface="Consolas" pitchFamily="34" charset="-122"/>
                <a:cs typeface="Consolas" pitchFamily="34" charset="-120"/>
              </a:rPr>
              <a:t>    long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idx = blockIdx.x * blockDim.x + threadIdx.x;</a:t>
            </a:r>
            <a:endParaRPr lang="en-US" sz="1400" dirty="0"/>
          </a:p>
          <a:p>
            <a:pPr indent="0" marL="0">
              <a:lnSpc>
                <a:spcPct val="105000"/>
              </a:lnSpc>
              <a:buNone/>
            </a:pPr>
            <a:r>
              <a:rPr lang="en-US" sz="1400" dirty="0">
                <a:solidFill>
                  <a:srgbClr val="FF7B72"/>
                </a:solidFill>
                <a:latin typeface="Consolas" pitchFamily="34" charset="0"/>
                <a:ea typeface="Consolas" pitchFamily="34" charset="-122"/>
                <a:cs typeface="Consolas" pitchFamily="34" charset="-120"/>
              </a:rPr>
              <a:t>    if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(idx &lt; n) C[idx] = A[idx] </a:t>
            </a:r>
            <a:pPr indent="0" marL="0">
              <a:lnSpc>
                <a:spcPct val="105000"/>
              </a:lnSpc>
              <a:buNone/>
            </a:pPr>
            <a:r>
              <a:rPr lang="en-US" sz="1400" dirty="0">
                <a:solidFill>
                  <a:srgbClr val="79C0FF"/>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B[idx];</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FF7B72"/>
                </a:solidFill>
                <a:latin typeface="Consolas" pitchFamily="34" charset="0"/>
                <a:ea typeface="Consolas" pitchFamily="34" charset="-122"/>
                <a:cs typeface="Consolas" pitchFamily="34" charset="-120"/>
              </a:rPr>
              <a:t>__global__ void </a:t>
            </a:r>
            <a:pPr indent="0" marL="0">
              <a:lnSpc>
                <a:spcPct val="105000"/>
              </a:lnSpc>
              <a:buNone/>
            </a:pPr>
            <a:r>
              <a:rPr lang="en-US" sz="1400" dirty="0">
                <a:solidFill>
                  <a:srgbClr val="D2A8FF"/>
                </a:solidFill>
                <a:latin typeface="Consolas" pitchFamily="34" charset="0"/>
                <a:ea typeface="Consolas" pitchFamily="34" charset="-122"/>
                <a:cs typeface="Consolas" pitchFamily="34" charset="-120"/>
              </a:rPr>
              <a:t>vectorMulKernel</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(const float *A,</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const float *B, float *C, long n) {</a:t>
            </a:r>
            <a:endParaRPr lang="en-US" sz="1400" dirty="0"/>
          </a:p>
          <a:p>
            <a:pPr indent="0" marL="0">
              <a:lnSpc>
                <a:spcPct val="105000"/>
              </a:lnSpc>
              <a:buNone/>
            </a:pPr>
            <a:r>
              <a:rPr lang="en-US" sz="1400" dirty="0">
                <a:solidFill>
                  <a:srgbClr val="FF7B72"/>
                </a:solidFill>
                <a:latin typeface="Consolas" pitchFamily="34" charset="0"/>
                <a:ea typeface="Consolas" pitchFamily="34" charset="-122"/>
                <a:cs typeface="Consolas" pitchFamily="34" charset="-120"/>
              </a:rPr>
              <a:t>    long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idx = blockIdx.x * blockDim.x + threadIdx.x;</a:t>
            </a:r>
            <a:endParaRPr lang="en-US" sz="1400" dirty="0"/>
          </a:p>
          <a:p>
            <a:pPr indent="0" marL="0">
              <a:lnSpc>
                <a:spcPct val="105000"/>
              </a:lnSpc>
              <a:buNone/>
            </a:pPr>
            <a:r>
              <a:rPr lang="en-US" sz="1400" dirty="0">
                <a:solidFill>
                  <a:srgbClr val="FF7B72"/>
                </a:solidFill>
                <a:latin typeface="Consolas" pitchFamily="34" charset="0"/>
                <a:ea typeface="Consolas" pitchFamily="34" charset="-122"/>
                <a:cs typeface="Consolas" pitchFamily="34" charset="-120"/>
              </a:rPr>
              <a:t>    if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(idx &lt; n) C[idx] = A[idx] </a:t>
            </a:r>
            <a:pPr indent="0" marL="0">
              <a:lnSpc>
                <a:spcPct val="105000"/>
              </a:lnSpc>
              <a:buNone/>
            </a:pPr>
            <a:r>
              <a:rPr lang="en-US" sz="1400" dirty="0">
                <a:solidFill>
                  <a:srgbClr val="79C0FF"/>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B[idx];</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8B949E"/>
                </a:solidFill>
                <a:latin typeface="Consolas" pitchFamily="34" charset="0"/>
                <a:ea typeface="Consolas" pitchFamily="34" charset="-122"/>
                <a:cs typeface="Consolas" pitchFamily="34" charset="-120"/>
              </a:rPr>
              <a:t>// launch: &lt;&lt;&lt;(N + 255) / 256, 256&gt;&gt;&gt;</a:t>
            </a:r>
            <a:endParaRPr lang="en-US" sz="1400" dirty="0"/>
          </a:p>
        </p:txBody>
      </p:sp>
      <p:sp>
        <p:nvSpPr>
          <p:cNvPr id="6" name="Text 4"/>
          <p:cNvSpPr txBox="1"/>
          <p:nvPr/>
        </p:nvSpPr>
        <p:spPr>
          <a:xfrm>
            <a:off x="548640" y="5166360"/>
            <a:ext cx="5989320" cy="685800"/>
          </a:xfrm>
          <a:prstGeom prst="rect">
            <a:avLst/>
          </a:prstGeom>
          <a:noFill/>
          <a:ln/>
        </p:spPr>
        <p:txBody>
          <a:bodyPr wrap="square" lIns="0" tIns="0" rIns="0" bIns="0" rtlCol="0" anchor="t"/>
          <a:lstStyle/>
          <a:p>
            <a:pPr indent="0" marL="0">
              <a:buNone/>
            </a:pPr>
            <a:r>
              <a:rPr lang="en-US" sz="1250" i="1" dirty="0">
                <a:solidFill>
                  <a:srgbClr val="5B6470"/>
                </a:solidFill>
                <a:latin typeface="Segoe UI" pitchFamily="34" charset="0"/>
                <a:ea typeface="Segoe UI" pitchFamily="34" charset="-122"/>
                <a:cs typeface="Segoe UI" pitchFamily="34" charset="-120"/>
              </a:rPr>
              <a:t>src/vector_cuda.cu (condensed). __global__ = runs on the GPU, launched from the host; inputs are const, so the kernels only read them.</a:t>
            </a:r>
            <a:endParaRPr lang="en-US" sz="1250" dirty="0"/>
          </a:p>
        </p:txBody>
      </p:sp>
      <p:sp>
        <p:nvSpPr>
          <p:cNvPr id="7" name="Shape 5"/>
          <p:cNvSpPr/>
          <p:nvPr/>
        </p:nvSpPr>
        <p:spPr>
          <a:xfrm>
            <a:off x="6949440" y="1463040"/>
            <a:ext cx="4690872" cy="731520"/>
          </a:xfrm>
          <a:prstGeom prst="roundRect">
            <a:avLst>
              <a:gd name="adj" fmla="val 10000"/>
            </a:avLst>
          </a:prstGeom>
          <a:solidFill>
            <a:srgbClr val="F3F5F7"/>
          </a:solidFill>
          <a:ln w="6350">
            <a:solidFill>
              <a:srgbClr val="F3F5F7"/>
            </a:solidFill>
            <a:prstDash val="solid"/>
          </a:ln>
        </p:spPr>
      </p:sp>
      <p:sp>
        <p:nvSpPr>
          <p:cNvPr id="8" name="Shape 6"/>
          <p:cNvSpPr/>
          <p:nvPr/>
        </p:nvSpPr>
        <p:spPr>
          <a:xfrm>
            <a:off x="7086600" y="1636776"/>
            <a:ext cx="384048" cy="384048"/>
          </a:xfrm>
          <a:prstGeom prst="ellipse">
            <a:avLst/>
          </a:prstGeom>
          <a:solidFill>
            <a:srgbClr val="64748B"/>
          </a:solidFill>
          <a:ln w="6350">
            <a:solidFill>
              <a:srgbClr val="64748B"/>
            </a:solidFill>
            <a:prstDash val="solid"/>
          </a:ln>
        </p:spPr>
      </p:sp>
      <p:sp>
        <p:nvSpPr>
          <p:cNvPr id="9" name="Text 7"/>
          <p:cNvSpPr txBox="1"/>
          <p:nvPr/>
        </p:nvSpPr>
        <p:spPr>
          <a:xfrm>
            <a:off x="7086600" y="1636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10" name="Text 8"/>
          <p:cNvSpPr txBox="1"/>
          <p:nvPr/>
        </p:nvSpPr>
        <p:spPr>
          <a:xfrm>
            <a:off x="7607808" y="1536192"/>
            <a:ext cx="1280160" cy="292608"/>
          </a:xfrm>
          <a:prstGeom prst="rect">
            <a:avLst/>
          </a:prstGeom>
          <a:noFill/>
          <a:ln/>
        </p:spPr>
        <p:txBody>
          <a:bodyPr wrap="square" lIns="0" tIns="0" rIns="0" bIns="0" rtlCol="0" anchor="t"/>
          <a:lstStyle/>
          <a:p>
            <a:pPr indent="0" marL="0">
              <a:buNone/>
            </a:pPr>
            <a:r>
              <a:rPr lang="en-US" sz="1400" b="1" dirty="0">
                <a:solidFill>
                  <a:srgbClr val="15181D"/>
                </a:solidFill>
                <a:latin typeface="Segoe UI Semibold" pitchFamily="34" charset="0"/>
                <a:ea typeface="Segoe UI Semibold" pitchFamily="34" charset="-122"/>
                <a:cs typeface="Segoe UI Semibold" pitchFamily="34" charset="-120"/>
              </a:rPr>
              <a:t>Allocate</a:t>
            </a:r>
            <a:endParaRPr lang="en-US" sz="1400" dirty="0"/>
          </a:p>
        </p:txBody>
      </p:sp>
      <p:sp>
        <p:nvSpPr>
          <p:cNvPr id="11" name="Text 9"/>
          <p:cNvSpPr txBox="1"/>
          <p:nvPr/>
        </p:nvSpPr>
        <p:spPr>
          <a:xfrm>
            <a:off x="8869680" y="1554480"/>
            <a:ext cx="2697480" cy="274320"/>
          </a:xfrm>
          <a:prstGeom prst="rect">
            <a:avLst/>
          </a:prstGeom>
          <a:noFill/>
          <a:ln/>
        </p:spPr>
        <p:txBody>
          <a:bodyPr wrap="square" lIns="0" tIns="0" rIns="0" bIns="0" rtlCol="0" anchor="t"/>
          <a:lstStyle/>
          <a:p>
            <a:pPr indent="0" marL="0">
              <a:buNone/>
            </a:pPr>
            <a:r>
              <a:rPr lang="en-US" sz="1150" dirty="0">
                <a:solidFill>
                  <a:srgbClr val="2D333B"/>
                </a:solidFill>
                <a:latin typeface="Consolas" pitchFamily="34" charset="0"/>
                <a:ea typeface="Consolas" pitchFamily="34" charset="-122"/>
                <a:cs typeface="Consolas" pitchFamily="34" charset="-120"/>
              </a:rPr>
              <a:t>cudaMalloc(&amp;d_A, bytes)</a:t>
            </a:r>
            <a:endParaRPr lang="en-US" sz="1150" dirty="0"/>
          </a:p>
        </p:txBody>
      </p:sp>
      <p:sp>
        <p:nvSpPr>
          <p:cNvPr id="12" name="Text 10"/>
          <p:cNvSpPr txBox="1"/>
          <p:nvPr/>
        </p:nvSpPr>
        <p:spPr>
          <a:xfrm>
            <a:off x="7607808" y="1847088"/>
            <a:ext cx="393192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Reserve d_A, d_B and one d_C on the GPU</a:t>
            </a:r>
            <a:endParaRPr lang="en-US" sz="1200" dirty="0"/>
          </a:p>
        </p:txBody>
      </p:sp>
      <p:sp>
        <p:nvSpPr>
          <p:cNvPr id="13" name="Shape 11"/>
          <p:cNvSpPr/>
          <p:nvPr/>
        </p:nvSpPr>
        <p:spPr>
          <a:xfrm>
            <a:off x="6949440" y="2313432"/>
            <a:ext cx="4690872" cy="731520"/>
          </a:xfrm>
          <a:prstGeom prst="roundRect">
            <a:avLst>
              <a:gd name="adj" fmla="val 10000"/>
            </a:avLst>
          </a:prstGeom>
          <a:solidFill>
            <a:srgbClr val="FDEEDF"/>
          </a:solidFill>
          <a:ln w="6350">
            <a:solidFill>
              <a:srgbClr val="FDEEDF"/>
            </a:solidFill>
            <a:prstDash val="solid"/>
          </a:ln>
        </p:spPr>
      </p:sp>
      <p:sp>
        <p:nvSpPr>
          <p:cNvPr id="14" name="Shape 12"/>
          <p:cNvSpPr/>
          <p:nvPr/>
        </p:nvSpPr>
        <p:spPr>
          <a:xfrm>
            <a:off x="7086600" y="2487168"/>
            <a:ext cx="384048" cy="384048"/>
          </a:xfrm>
          <a:prstGeom prst="ellipse">
            <a:avLst/>
          </a:prstGeom>
          <a:solidFill>
            <a:srgbClr val="E8710A"/>
          </a:solidFill>
          <a:ln w="6350">
            <a:solidFill>
              <a:srgbClr val="E8710A"/>
            </a:solidFill>
            <a:prstDash val="solid"/>
          </a:ln>
        </p:spPr>
      </p:sp>
      <p:sp>
        <p:nvSpPr>
          <p:cNvPr id="15" name="Text 13"/>
          <p:cNvSpPr txBox="1"/>
          <p:nvPr/>
        </p:nvSpPr>
        <p:spPr>
          <a:xfrm>
            <a:off x="708660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6" name="Text 14"/>
          <p:cNvSpPr txBox="1"/>
          <p:nvPr/>
        </p:nvSpPr>
        <p:spPr>
          <a:xfrm>
            <a:off x="7607808" y="2386584"/>
            <a:ext cx="1280160" cy="292608"/>
          </a:xfrm>
          <a:prstGeom prst="rect">
            <a:avLst/>
          </a:prstGeom>
          <a:noFill/>
          <a:ln/>
        </p:spPr>
        <p:txBody>
          <a:bodyPr wrap="square" lIns="0" tIns="0" rIns="0" bIns="0" rtlCol="0" anchor="t"/>
          <a:lstStyle/>
          <a:p>
            <a:pPr indent="0" marL="0">
              <a:buNone/>
            </a:pPr>
            <a:r>
              <a:rPr lang="en-US" sz="1400" b="1" dirty="0">
                <a:solidFill>
                  <a:srgbClr val="15181D"/>
                </a:solidFill>
                <a:latin typeface="Segoe UI Semibold" pitchFamily="34" charset="0"/>
                <a:ea typeface="Segoe UI Semibold" pitchFamily="34" charset="-122"/>
                <a:cs typeface="Segoe UI Semibold" pitchFamily="34" charset="-120"/>
              </a:rPr>
              <a:t>Copy in</a:t>
            </a:r>
            <a:endParaRPr lang="en-US" sz="1400" dirty="0"/>
          </a:p>
        </p:txBody>
      </p:sp>
      <p:sp>
        <p:nvSpPr>
          <p:cNvPr id="17" name="Text 15"/>
          <p:cNvSpPr txBox="1"/>
          <p:nvPr/>
        </p:nvSpPr>
        <p:spPr>
          <a:xfrm>
            <a:off x="8869680" y="2404872"/>
            <a:ext cx="2697480" cy="274320"/>
          </a:xfrm>
          <a:prstGeom prst="rect">
            <a:avLst/>
          </a:prstGeom>
          <a:noFill/>
          <a:ln/>
        </p:spPr>
        <p:txBody>
          <a:bodyPr wrap="square" lIns="0" tIns="0" rIns="0" bIns="0" rtlCol="0" anchor="t"/>
          <a:lstStyle/>
          <a:p>
            <a:pPr indent="0" marL="0">
              <a:buNone/>
            </a:pPr>
            <a:r>
              <a:rPr lang="en-US" sz="1150" dirty="0">
                <a:solidFill>
                  <a:srgbClr val="2D333B"/>
                </a:solidFill>
                <a:latin typeface="Consolas" pitchFamily="34" charset="0"/>
                <a:ea typeface="Consolas" pitchFamily="34" charset="-122"/>
                <a:cs typeface="Consolas" pitchFamily="34" charset="-120"/>
              </a:rPr>
              <a:t>cudaMemcpy(…, HostToDevice)</a:t>
            </a:r>
            <a:endParaRPr lang="en-US" sz="1150" dirty="0"/>
          </a:p>
        </p:txBody>
      </p:sp>
      <p:sp>
        <p:nvSpPr>
          <p:cNvPr id="18" name="Text 16"/>
          <p:cNvSpPr txBox="1"/>
          <p:nvPr/>
        </p:nvSpPr>
        <p:spPr>
          <a:xfrm>
            <a:off x="7607808" y="2697480"/>
            <a:ext cx="393192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Send A and B over PCIe</a:t>
            </a:r>
            <a:endParaRPr lang="en-US" sz="1200" dirty="0"/>
          </a:p>
        </p:txBody>
      </p:sp>
      <p:sp>
        <p:nvSpPr>
          <p:cNvPr id="19" name="Shape 17"/>
          <p:cNvSpPr/>
          <p:nvPr/>
        </p:nvSpPr>
        <p:spPr>
          <a:xfrm>
            <a:off x="6949440" y="3163824"/>
            <a:ext cx="4690872" cy="731520"/>
          </a:xfrm>
          <a:prstGeom prst="roundRect">
            <a:avLst>
              <a:gd name="adj" fmla="val 10000"/>
            </a:avLst>
          </a:prstGeom>
          <a:solidFill>
            <a:srgbClr val="EEF6E0"/>
          </a:solidFill>
          <a:ln w="6350">
            <a:solidFill>
              <a:srgbClr val="EEF6E0"/>
            </a:solidFill>
            <a:prstDash val="solid"/>
          </a:ln>
        </p:spPr>
      </p:sp>
      <p:sp>
        <p:nvSpPr>
          <p:cNvPr id="20" name="Shape 18"/>
          <p:cNvSpPr/>
          <p:nvPr/>
        </p:nvSpPr>
        <p:spPr>
          <a:xfrm>
            <a:off x="7086600" y="3337560"/>
            <a:ext cx="384048" cy="384048"/>
          </a:xfrm>
          <a:prstGeom prst="ellipse">
            <a:avLst/>
          </a:prstGeom>
          <a:solidFill>
            <a:srgbClr val="3F7A00"/>
          </a:solidFill>
          <a:ln w="6350">
            <a:solidFill>
              <a:srgbClr val="3F7A00"/>
            </a:solidFill>
            <a:prstDash val="solid"/>
          </a:ln>
        </p:spPr>
      </p:sp>
      <p:sp>
        <p:nvSpPr>
          <p:cNvPr id="21" name="Text 19"/>
          <p:cNvSpPr txBox="1"/>
          <p:nvPr/>
        </p:nvSpPr>
        <p:spPr>
          <a:xfrm>
            <a:off x="708660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22" name="Text 20"/>
          <p:cNvSpPr txBox="1"/>
          <p:nvPr/>
        </p:nvSpPr>
        <p:spPr>
          <a:xfrm>
            <a:off x="7607808" y="3236976"/>
            <a:ext cx="1280160" cy="292608"/>
          </a:xfrm>
          <a:prstGeom prst="rect">
            <a:avLst/>
          </a:prstGeom>
          <a:noFill/>
          <a:ln/>
        </p:spPr>
        <p:txBody>
          <a:bodyPr wrap="square" lIns="0" tIns="0" rIns="0" bIns="0" rtlCol="0" anchor="t"/>
          <a:lstStyle/>
          <a:p>
            <a:pPr indent="0" marL="0">
              <a:buNone/>
            </a:pPr>
            <a:r>
              <a:rPr lang="en-US" sz="1400" b="1" dirty="0">
                <a:solidFill>
                  <a:srgbClr val="15181D"/>
                </a:solidFill>
                <a:latin typeface="Segoe UI Semibold" pitchFamily="34" charset="0"/>
                <a:ea typeface="Segoe UI Semibold" pitchFamily="34" charset="-122"/>
                <a:cs typeface="Segoe UI Semibold" pitchFamily="34" charset="-120"/>
              </a:rPr>
              <a:t>Compute</a:t>
            </a:r>
            <a:endParaRPr lang="en-US" sz="1400" dirty="0"/>
          </a:p>
        </p:txBody>
      </p:sp>
      <p:sp>
        <p:nvSpPr>
          <p:cNvPr id="23" name="Text 21"/>
          <p:cNvSpPr txBox="1"/>
          <p:nvPr/>
        </p:nvSpPr>
        <p:spPr>
          <a:xfrm>
            <a:off x="8869680" y="3255264"/>
            <a:ext cx="2697480" cy="274320"/>
          </a:xfrm>
          <a:prstGeom prst="rect">
            <a:avLst/>
          </a:prstGeom>
          <a:noFill/>
          <a:ln/>
        </p:spPr>
        <p:txBody>
          <a:bodyPr wrap="square" lIns="0" tIns="0" rIns="0" bIns="0" rtlCol="0" anchor="t"/>
          <a:lstStyle/>
          <a:p>
            <a:pPr indent="0" marL="0">
              <a:buNone/>
            </a:pPr>
            <a:r>
              <a:rPr lang="en-US" sz="1150" dirty="0">
                <a:solidFill>
                  <a:srgbClr val="2D333B"/>
                </a:solidFill>
                <a:latin typeface="Consolas" pitchFamily="34" charset="0"/>
                <a:ea typeface="Consolas" pitchFamily="34" charset="-122"/>
                <a:cs typeface="Consolas" pitchFamily="34" charset="-120"/>
              </a:rPr>
              <a:t>kernel&lt;&lt;&lt;⌈N/256⌉, 256&gt;&gt;&gt;</a:t>
            </a:r>
            <a:endParaRPr lang="en-US" sz="1150" dirty="0"/>
          </a:p>
        </p:txBody>
      </p:sp>
      <p:sp>
        <p:nvSpPr>
          <p:cNvPr id="24" name="Text 22"/>
          <p:cNvSpPr txBox="1"/>
          <p:nvPr/>
        </p:nvSpPr>
        <p:spPr>
          <a:xfrm>
            <a:off x="7607808" y="3547872"/>
            <a:ext cx="393192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One thread per element</a:t>
            </a:r>
            <a:endParaRPr lang="en-US" sz="1200" dirty="0"/>
          </a:p>
        </p:txBody>
      </p:sp>
      <p:sp>
        <p:nvSpPr>
          <p:cNvPr id="25" name="Shape 23"/>
          <p:cNvSpPr/>
          <p:nvPr/>
        </p:nvSpPr>
        <p:spPr>
          <a:xfrm>
            <a:off x="6949440" y="4014216"/>
            <a:ext cx="4690872" cy="731520"/>
          </a:xfrm>
          <a:prstGeom prst="roundRect">
            <a:avLst>
              <a:gd name="adj" fmla="val 10000"/>
            </a:avLst>
          </a:prstGeom>
          <a:solidFill>
            <a:srgbClr val="FDEEDF"/>
          </a:solidFill>
          <a:ln w="6350">
            <a:solidFill>
              <a:srgbClr val="FDEEDF"/>
            </a:solidFill>
            <a:prstDash val="solid"/>
          </a:ln>
        </p:spPr>
      </p:sp>
      <p:sp>
        <p:nvSpPr>
          <p:cNvPr id="26" name="Shape 24"/>
          <p:cNvSpPr/>
          <p:nvPr/>
        </p:nvSpPr>
        <p:spPr>
          <a:xfrm>
            <a:off x="7086600" y="4187952"/>
            <a:ext cx="384048" cy="384048"/>
          </a:xfrm>
          <a:prstGeom prst="ellipse">
            <a:avLst/>
          </a:prstGeom>
          <a:solidFill>
            <a:srgbClr val="E8710A"/>
          </a:solidFill>
          <a:ln w="6350">
            <a:solidFill>
              <a:srgbClr val="E8710A"/>
            </a:solidFill>
            <a:prstDash val="solid"/>
          </a:ln>
        </p:spPr>
      </p:sp>
      <p:sp>
        <p:nvSpPr>
          <p:cNvPr id="27" name="Text 25"/>
          <p:cNvSpPr txBox="1"/>
          <p:nvPr/>
        </p:nvSpPr>
        <p:spPr>
          <a:xfrm>
            <a:off x="7086600" y="4187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28" name="Text 26"/>
          <p:cNvSpPr txBox="1"/>
          <p:nvPr/>
        </p:nvSpPr>
        <p:spPr>
          <a:xfrm>
            <a:off x="7607808" y="4087368"/>
            <a:ext cx="1280160" cy="292608"/>
          </a:xfrm>
          <a:prstGeom prst="rect">
            <a:avLst/>
          </a:prstGeom>
          <a:noFill/>
          <a:ln/>
        </p:spPr>
        <p:txBody>
          <a:bodyPr wrap="square" lIns="0" tIns="0" rIns="0" bIns="0" rtlCol="0" anchor="t"/>
          <a:lstStyle/>
          <a:p>
            <a:pPr indent="0" marL="0">
              <a:buNone/>
            </a:pPr>
            <a:r>
              <a:rPr lang="en-US" sz="1400" b="1" dirty="0">
                <a:solidFill>
                  <a:srgbClr val="15181D"/>
                </a:solidFill>
                <a:latin typeface="Segoe UI Semibold" pitchFamily="34" charset="0"/>
                <a:ea typeface="Segoe UI Semibold" pitchFamily="34" charset="-122"/>
                <a:cs typeface="Segoe UI Semibold" pitchFamily="34" charset="-120"/>
              </a:rPr>
              <a:t>Copy out</a:t>
            </a:r>
            <a:endParaRPr lang="en-US" sz="1400" dirty="0"/>
          </a:p>
        </p:txBody>
      </p:sp>
      <p:sp>
        <p:nvSpPr>
          <p:cNvPr id="29" name="Text 27"/>
          <p:cNvSpPr txBox="1"/>
          <p:nvPr/>
        </p:nvSpPr>
        <p:spPr>
          <a:xfrm>
            <a:off x="8869680" y="4105656"/>
            <a:ext cx="2697480" cy="274320"/>
          </a:xfrm>
          <a:prstGeom prst="rect">
            <a:avLst/>
          </a:prstGeom>
          <a:noFill/>
          <a:ln/>
        </p:spPr>
        <p:txBody>
          <a:bodyPr wrap="square" lIns="0" tIns="0" rIns="0" bIns="0" rtlCol="0" anchor="t"/>
          <a:lstStyle/>
          <a:p>
            <a:pPr indent="0" marL="0">
              <a:buNone/>
            </a:pPr>
            <a:r>
              <a:rPr lang="en-US" sz="1150" dirty="0">
                <a:solidFill>
                  <a:srgbClr val="2D333B"/>
                </a:solidFill>
                <a:latin typeface="Consolas" pitchFamily="34" charset="0"/>
                <a:ea typeface="Consolas" pitchFamily="34" charset="-122"/>
                <a:cs typeface="Consolas" pitchFamily="34" charset="-120"/>
              </a:rPr>
              <a:t>cudaMemcpy(…, DeviceToHost)</a:t>
            </a:r>
            <a:endParaRPr lang="en-US" sz="1150" dirty="0"/>
          </a:p>
        </p:txBody>
      </p:sp>
      <p:sp>
        <p:nvSpPr>
          <p:cNvPr id="30" name="Text 28"/>
          <p:cNvSpPr txBox="1"/>
          <p:nvPr/>
        </p:nvSpPr>
        <p:spPr>
          <a:xfrm>
            <a:off x="7607808" y="4398264"/>
            <a:ext cx="393192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Bring C back over PCIe</a:t>
            </a:r>
            <a:endParaRPr lang="en-US" sz="1200" dirty="0"/>
          </a:p>
        </p:txBody>
      </p:sp>
      <p:sp>
        <p:nvSpPr>
          <p:cNvPr id="31" name="Shape 29"/>
          <p:cNvSpPr/>
          <p:nvPr/>
        </p:nvSpPr>
        <p:spPr>
          <a:xfrm>
            <a:off x="6949440" y="4864608"/>
            <a:ext cx="4690872" cy="731520"/>
          </a:xfrm>
          <a:prstGeom prst="roundRect">
            <a:avLst>
              <a:gd name="adj" fmla="val 10000"/>
            </a:avLst>
          </a:prstGeom>
          <a:solidFill>
            <a:srgbClr val="F3F5F7"/>
          </a:solidFill>
          <a:ln w="6350">
            <a:solidFill>
              <a:srgbClr val="F3F5F7"/>
            </a:solidFill>
            <a:prstDash val="solid"/>
          </a:ln>
        </p:spPr>
      </p:sp>
      <p:sp>
        <p:nvSpPr>
          <p:cNvPr id="32" name="Shape 30"/>
          <p:cNvSpPr/>
          <p:nvPr/>
        </p:nvSpPr>
        <p:spPr>
          <a:xfrm>
            <a:off x="7086600" y="5038344"/>
            <a:ext cx="384048" cy="384048"/>
          </a:xfrm>
          <a:prstGeom prst="ellipse">
            <a:avLst/>
          </a:prstGeom>
          <a:solidFill>
            <a:srgbClr val="64748B"/>
          </a:solidFill>
          <a:ln w="6350">
            <a:solidFill>
              <a:srgbClr val="64748B"/>
            </a:solidFill>
            <a:prstDash val="solid"/>
          </a:ln>
        </p:spPr>
      </p:sp>
      <p:sp>
        <p:nvSpPr>
          <p:cNvPr id="33" name="Text 31"/>
          <p:cNvSpPr txBox="1"/>
          <p:nvPr/>
        </p:nvSpPr>
        <p:spPr>
          <a:xfrm>
            <a:off x="708660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5</a:t>
            </a:r>
            <a:endParaRPr lang="en-US" sz="1300" dirty="0"/>
          </a:p>
        </p:txBody>
      </p:sp>
      <p:sp>
        <p:nvSpPr>
          <p:cNvPr id="34" name="Text 32"/>
          <p:cNvSpPr txBox="1"/>
          <p:nvPr/>
        </p:nvSpPr>
        <p:spPr>
          <a:xfrm>
            <a:off x="7607808" y="4937760"/>
            <a:ext cx="1280160" cy="292608"/>
          </a:xfrm>
          <a:prstGeom prst="rect">
            <a:avLst/>
          </a:prstGeom>
          <a:noFill/>
          <a:ln/>
        </p:spPr>
        <p:txBody>
          <a:bodyPr wrap="square" lIns="0" tIns="0" rIns="0" bIns="0" rtlCol="0" anchor="t"/>
          <a:lstStyle/>
          <a:p>
            <a:pPr indent="0" marL="0">
              <a:buNone/>
            </a:pPr>
            <a:r>
              <a:rPr lang="en-US" sz="1400" b="1" dirty="0">
                <a:solidFill>
                  <a:srgbClr val="15181D"/>
                </a:solidFill>
                <a:latin typeface="Segoe UI Semibold" pitchFamily="34" charset="0"/>
                <a:ea typeface="Segoe UI Semibold" pitchFamily="34" charset="-122"/>
                <a:cs typeface="Segoe UI Semibold" pitchFamily="34" charset="-120"/>
              </a:rPr>
              <a:t>Free</a:t>
            </a:r>
            <a:endParaRPr lang="en-US" sz="1400" dirty="0"/>
          </a:p>
        </p:txBody>
      </p:sp>
      <p:sp>
        <p:nvSpPr>
          <p:cNvPr id="35" name="Text 33"/>
          <p:cNvSpPr txBox="1"/>
          <p:nvPr/>
        </p:nvSpPr>
        <p:spPr>
          <a:xfrm>
            <a:off x="8869680" y="4956048"/>
            <a:ext cx="2697480" cy="274320"/>
          </a:xfrm>
          <a:prstGeom prst="rect">
            <a:avLst/>
          </a:prstGeom>
          <a:noFill/>
          <a:ln/>
        </p:spPr>
        <p:txBody>
          <a:bodyPr wrap="square" lIns="0" tIns="0" rIns="0" bIns="0" rtlCol="0" anchor="t"/>
          <a:lstStyle/>
          <a:p>
            <a:pPr indent="0" marL="0">
              <a:buNone/>
            </a:pPr>
            <a:r>
              <a:rPr lang="en-US" sz="1150" dirty="0">
                <a:solidFill>
                  <a:srgbClr val="2D333B"/>
                </a:solidFill>
                <a:latin typeface="Consolas" pitchFamily="34" charset="0"/>
                <a:ea typeface="Consolas" pitchFamily="34" charset="-122"/>
                <a:cs typeface="Consolas" pitchFamily="34" charset="-120"/>
              </a:rPr>
              <a:t>cudaFree, free, cudaEventDestroy</a:t>
            </a:r>
            <a:endParaRPr lang="en-US" sz="1150" dirty="0"/>
          </a:p>
        </p:txBody>
      </p:sp>
      <p:sp>
        <p:nvSpPr>
          <p:cNvPr id="36" name="Text 34"/>
          <p:cNvSpPr txBox="1"/>
          <p:nvPr/>
        </p:nvSpPr>
        <p:spPr>
          <a:xfrm>
            <a:off x="7607808" y="5248656"/>
            <a:ext cx="393192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Release memory and timers</a:t>
            </a:r>
            <a:endParaRPr lang="en-US" sz="1200" dirty="0"/>
          </a:p>
        </p:txBody>
      </p:sp>
      <p:sp>
        <p:nvSpPr>
          <p:cNvPr id="37" name="Text 35"/>
          <p:cNvSpPr txBox="1"/>
          <p:nvPr/>
        </p:nvSpPr>
        <p:spPr>
          <a:xfrm>
            <a:off x="6949440" y="5779008"/>
            <a:ext cx="4690872" cy="457200"/>
          </a:xfrm>
          <a:prstGeom prst="rect">
            <a:avLst/>
          </a:prstGeom>
          <a:noFill/>
          <a:ln/>
        </p:spPr>
        <p:txBody>
          <a:bodyPr wrap="square" lIns="0" tIns="0" rIns="0" bIns="0" rtlCol="0" anchor="t"/>
          <a:lstStyle/>
          <a:p>
            <a:pPr indent="0" marL="0">
              <a:buNone/>
            </a:pPr>
            <a:r>
              <a:rPr lang="en-US" sz="1250" b="1" dirty="0">
                <a:solidFill>
                  <a:srgbClr val="15181D"/>
                </a:solidFill>
                <a:latin typeface="Segoe UI" pitchFamily="34" charset="0"/>
                <a:ea typeface="Segoe UI" pitchFamily="34" charset="-122"/>
                <a:cs typeface="Segoe UI" pitchFamily="34" charset="-120"/>
              </a:rPr>
              <a:t>d_C is reused for both operations, </a:t>
            </a:r>
            <a:pPr indent="0" marL="0">
              <a:buNone/>
            </a:pPr>
            <a:r>
              <a:rPr lang="en-US" sz="1250" dirty="0">
                <a:solidFill>
                  <a:srgbClr val="15181D"/>
                </a:solidFill>
                <a:latin typeface="Segoe UI" pitchFamily="34" charset="0"/>
                <a:ea typeface="Segoe UI" pitchFamily="34" charset="-122"/>
                <a:cs typeface="Segoe UI" pitchFamily="34" charset="-120"/>
              </a:rPr>
              <a:t>so the GPU holds 3 × 4N bytes: 286 MiB at N = 25 M.</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Timing the GPU itself: CUDA events and a warm-up</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2  ·  ACCURATE GPU TIMING</a:t>
            </a:r>
            <a:endParaRPr lang="en-US" sz="1100" dirty="0"/>
          </a:p>
        </p:txBody>
      </p:sp>
      <p:sp>
        <p:nvSpPr>
          <p:cNvPr id="4" name="Shape 2"/>
          <p:cNvSpPr/>
          <p:nvPr/>
        </p:nvSpPr>
        <p:spPr>
          <a:xfrm>
            <a:off x="1005840" y="2011680"/>
            <a:ext cx="2834640" cy="566928"/>
          </a:xfrm>
          <a:prstGeom prst="rect">
            <a:avLst/>
          </a:prstGeom>
          <a:solidFill>
            <a:srgbClr val="E8710A"/>
          </a:solidFill>
          <a:ln w="19050">
            <a:solidFill>
              <a:srgbClr val="FFFFFF"/>
            </a:solidFill>
            <a:prstDash val="solid"/>
          </a:ln>
        </p:spPr>
      </p:sp>
      <p:sp>
        <p:nvSpPr>
          <p:cNvPr id="5" name="Text 3"/>
          <p:cNvSpPr txBox="1"/>
          <p:nvPr/>
        </p:nvSpPr>
        <p:spPr>
          <a:xfrm>
            <a:off x="1005840" y="2011680"/>
            <a:ext cx="28346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copy A in</a:t>
            </a:r>
            <a:endParaRPr lang="en-US" sz="1300" dirty="0"/>
          </a:p>
        </p:txBody>
      </p:sp>
      <p:sp>
        <p:nvSpPr>
          <p:cNvPr id="6" name="Shape 4"/>
          <p:cNvSpPr/>
          <p:nvPr/>
        </p:nvSpPr>
        <p:spPr>
          <a:xfrm>
            <a:off x="3840480" y="2011680"/>
            <a:ext cx="2834640" cy="566928"/>
          </a:xfrm>
          <a:prstGeom prst="rect">
            <a:avLst/>
          </a:prstGeom>
          <a:solidFill>
            <a:srgbClr val="E8710A"/>
          </a:solidFill>
          <a:ln w="19050">
            <a:solidFill>
              <a:srgbClr val="FFFFFF"/>
            </a:solidFill>
            <a:prstDash val="solid"/>
          </a:ln>
        </p:spPr>
      </p:sp>
      <p:sp>
        <p:nvSpPr>
          <p:cNvPr id="7" name="Text 5"/>
          <p:cNvSpPr txBox="1"/>
          <p:nvPr/>
        </p:nvSpPr>
        <p:spPr>
          <a:xfrm>
            <a:off x="3840480" y="2011680"/>
            <a:ext cx="28346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copy B in</a:t>
            </a:r>
            <a:endParaRPr lang="en-US" sz="1300" dirty="0"/>
          </a:p>
        </p:txBody>
      </p:sp>
      <p:sp>
        <p:nvSpPr>
          <p:cNvPr id="8" name="Shape 6"/>
          <p:cNvSpPr/>
          <p:nvPr/>
        </p:nvSpPr>
        <p:spPr>
          <a:xfrm>
            <a:off x="6675120" y="2011680"/>
            <a:ext cx="1371600" cy="566928"/>
          </a:xfrm>
          <a:prstGeom prst="rect">
            <a:avLst/>
          </a:prstGeom>
          <a:solidFill>
            <a:srgbClr val="3F7A00"/>
          </a:solidFill>
          <a:ln w="19050">
            <a:solidFill>
              <a:srgbClr val="FFFFFF"/>
            </a:solidFill>
            <a:prstDash val="solid"/>
          </a:ln>
        </p:spPr>
      </p:sp>
      <p:sp>
        <p:nvSpPr>
          <p:cNvPr id="9" name="Text 7"/>
          <p:cNvSpPr txBox="1"/>
          <p:nvPr/>
        </p:nvSpPr>
        <p:spPr>
          <a:xfrm>
            <a:off x="6675120" y="2011680"/>
            <a:ext cx="13716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KERNEL</a:t>
            </a:r>
            <a:endParaRPr lang="en-US" sz="1300" dirty="0"/>
          </a:p>
        </p:txBody>
      </p:sp>
      <p:sp>
        <p:nvSpPr>
          <p:cNvPr id="10" name="Shape 8"/>
          <p:cNvSpPr/>
          <p:nvPr/>
        </p:nvSpPr>
        <p:spPr>
          <a:xfrm>
            <a:off x="8046720" y="2011680"/>
            <a:ext cx="2834640" cy="566928"/>
          </a:xfrm>
          <a:prstGeom prst="rect">
            <a:avLst/>
          </a:prstGeom>
          <a:solidFill>
            <a:srgbClr val="E8710A"/>
          </a:solidFill>
          <a:ln w="19050">
            <a:solidFill>
              <a:srgbClr val="FFFFFF"/>
            </a:solidFill>
            <a:prstDash val="solid"/>
          </a:ln>
        </p:spPr>
      </p:sp>
      <p:sp>
        <p:nvSpPr>
          <p:cNvPr id="11" name="Text 9"/>
          <p:cNvSpPr txBox="1"/>
          <p:nvPr/>
        </p:nvSpPr>
        <p:spPr>
          <a:xfrm>
            <a:off x="8046720" y="2011680"/>
            <a:ext cx="28346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copy C out</a:t>
            </a:r>
            <a:endParaRPr lang="en-US" sz="1300" dirty="0"/>
          </a:p>
        </p:txBody>
      </p:sp>
      <p:sp>
        <p:nvSpPr>
          <p:cNvPr id="12" name="Shape 10"/>
          <p:cNvSpPr/>
          <p:nvPr/>
        </p:nvSpPr>
        <p:spPr>
          <a:xfrm>
            <a:off x="1005840" y="1737360"/>
            <a:ext cx="0" cy="841248"/>
          </a:xfrm>
          <a:prstGeom prst="line">
            <a:avLst/>
          </a:prstGeom>
          <a:noFill/>
          <a:ln w="19050">
            <a:solidFill>
              <a:srgbClr val="15181D"/>
            </a:solidFill>
            <a:prstDash val="solid"/>
          </a:ln>
        </p:spPr>
      </p:sp>
      <p:sp>
        <p:nvSpPr>
          <p:cNvPr id="13" name="Text 11"/>
          <p:cNvSpPr txBox="1"/>
          <p:nvPr/>
        </p:nvSpPr>
        <p:spPr>
          <a:xfrm>
            <a:off x="274320" y="1444752"/>
            <a:ext cx="1463040" cy="274320"/>
          </a:xfrm>
          <a:prstGeom prst="rect">
            <a:avLst/>
          </a:prstGeom>
          <a:noFill/>
          <a:ln/>
        </p:spPr>
        <p:txBody>
          <a:bodyPr wrap="square" lIns="0" tIns="0" rIns="0" bIns="0" rtlCol="0" anchor="t"/>
          <a:lstStyle/>
          <a:p>
            <a:pPr algn="ctr" indent="0" marL="0">
              <a:buNone/>
            </a:pPr>
            <a:r>
              <a:rPr lang="en-US" sz="1150" dirty="0">
                <a:solidFill>
                  <a:srgbClr val="15181D"/>
                </a:solidFill>
                <a:latin typeface="Consolas" pitchFamily="34" charset="0"/>
                <a:ea typeface="Consolas" pitchFamily="34" charset="-122"/>
                <a:cs typeface="Consolas" pitchFamily="34" charset="-120"/>
              </a:rPr>
              <a:t>totalStart</a:t>
            </a:r>
            <a:endParaRPr lang="en-US" sz="1150" dirty="0"/>
          </a:p>
        </p:txBody>
      </p:sp>
      <p:sp>
        <p:nvSpPr>
          <p:cNvPr id="14" name="Shape 12"/>
          <p:cNvSpPr/>
          <p:nvPr/>
        </p:nvSpPr>
        <p:spPr>
          <a:xfrm>
            <a:off x="6675120" y="1737360"/>
            <a:ext cx="0" cy="841248"/>
          </a:xfrm>
          <a:prstGeom prst="line">
            <a:avLst/>
          </a:prstGeom>
          <a:noFill/>
          <a:ln w="19050">
            <a:solidFill>
              <a:srgbClr val="15181D"/>
            </a:solidFill>
            <a:prstDash val="solid"/>
          </a:ln>
        </p:spPr>
      </p:sp>
      <p:sp>
        <p:nvSpPr>
          <p:cNvPr id="15" name="Text 13"/>
          <p:cNvSpPr txBox="1"/>
          <p:nvPr/>
        </p:nvSpPr>
        <p:spPr>
          <a:xfrm>
            <a:off x="5943600" y="1444752"/>
            <a:ext cx="1463040" cy="274320"/>
          </a:xfrm>
          <a:prstGeom prst="rect">
            <a:avLst/>
          </a:prstGeom>
          <a:noFill/>
          <a:ln/>
        </p:spPr>
        <p:txBody>
          <a:bodyPr wrap="square" lIns="0" tIns="0" rIns="0" bIns="0" rtlCol="0" anchor="t"/>
          <a:lstStyle/>
          <a:p>
            <a:pPr algn="ctr" indent="0" marL="0">
              <a:buNone/>
            </a:pPr>
            <a:r>
              <a:rPr lang="en-US" sz="1150" dirty="0">
                <a:solidFill>
                  <a:srgbClr val="15181D"/>
                </a:solidFill>
                <a:latin typeface="Consolas" pitchFamily="34" charset="0"/>
                <a:ea typeface="Consolas" pitchFamily="34" charset="-122"/>
                <a:cs typeface="Consolas" pitchFamily="34" charset="-120"/>
              </a:rPr>
              <a:t>kernelStart</a:t>
            </a:r>
            <a:endParaRPr lang="en-US" sz="1150" dirty="0"/>
          </a:p>
        </p:txBody>
      </p:sp>
      <p:sp>
        <p:nvSpPr>
          <p:cNvPr id="16" name="Shape 14"/>
          <p:cNvSpPr/>
          <p:nvPr/>
        </p:nvSpPr>
        <p:spPr>
          <a:xfrm>
            <a:off x="8046720" y="1737360"/>
            <a:ext cx="0" cy="841248"/>
          </a:xfrm>
          <a:prstGeom prst="line">
            <a:avLst/>
          </a:prstGeom>
          <a:noFill/>
          <a:ln w="19050">
            <a:solidFill>
              <a:srgbClr val="15181D"/>
            </a:solidFill>
            <a:prstDash val="solid"/>
          </a:ln>
        </p:spPr>
      </p:sp>
      <p:sp>
        <p:nvSpPr>
          <p:cNvPr id="17" name="Text 15"/>
          <p:cNvSpPr txBox="1"/>
          <p:nvPr/>
        </p:nvSpPr>
        <p:spPr>
          <a:xfrm>
            <a:off x="7315200" y="1444752"/>
            <a:ext cx="1463040" cy="274320"/>
          </a:xfrm>
          <a:prstGeom prst="rect">
            <a:avLst/>
          </a:prstGeom>
          <a:noFill/>
          <a:ln/>
        </p:spPr>
        <p:txBody>
          <a:bodyPr wrap="square" lIns="0" tIns="0" rIns="0" bIns="0" rtlCol="0" anchor="t"/>
          <a:lstStyle/>
          <a:p>
            <a:pPr algn="ctr" indent="0" marL="0">
              <a:buNone/>
            </a:pPr>
            <a:r>
              <a:rPr lang="en-US" sz="1150" dirty="0">
                <a:solidFill>
                  <a:srgbClr val="15181D"/>
                </a:solidFill>
                <a:latin typeface="Consolas" pitchFamily="34" charset="0"/>
                <a:ea typeface="Consolas" pitchFamily="34" charset="-122"/>
                <a:cs typeface="Consolas" pitchFamily="34" charset="-120"/>
              </a:rPr>
              <a:t>kernelStop</a:t>
            </a:r>
            <a:endParaRPr lang="en-US" sz="1150" dirty="0"/>
          </a:p>
        </p:txBody>
      </p:sp>
      <p:sp>
        <p:nvSpPr>
          <p:cNvPr id="18" name="Shape 16"/>
          <p:cNvSpPr/>
          <p:nvPr/>
        </p:nvSpPr>
        <p:spPr>
          <a:xfrm>
            <a:off x="10881360" y="1737360"/>
            <a:ext cx="0" cy="841248"/>
          </a:xfrm>
          <a:prstGeom prst="line">
            <a:avLst/>
          </a:prstGeom>
          <a:noFill/>
          <a:ln w="19050">
            <a:solidFill>
              <a:srgbClr val="15181D"/>
            </a:solidFill>
            <a:prstDash val="solid"/>
          </a:ln>
        </p:spPr>
      </p:sp>
      <p:sp>
        <p:nvSpPr>
          <p:cNvPr id="19" name="Text 17"/>
          <p:cNvSpPr txBox="1"/>
          <p:nvPr/>
        </p:nvSpPr>
        <p:spPr>
          <a:xfrm>
            <a:off x="10149840" y="1444752"/>
            <a:ext cx="1463040" cy="274320"/>
          </a:xfrm>
          <a:prstGeom prst="rect">
            <a:avLst/>
          </a:prstGeom>
          <a:noFill/>
          <a:ln/>
        </p:spPr>
        <p:txBody>
          <a:bodyPr wrap="square" lIns="0" tIns="0" rIns="0" bIns="0" rtlCol="0" anchor="t"/>
          <a:lstStyle/>
          <a:p>
            <a:pPr algn="ctr" indent="0" marL="0">
              <a:buNone/>
            </a:pPr>
            <a:r>
              <a:rPr lang="en-US" sz="1150" dirty="0">
                <a:solidFill>
                  <a:srgbClr val="15181D"/>
                </a:solidFill>
                <a:latin typeface="Consolas" pitchFamily="34" charset="0"/>
                <a:ea typeface="Consolas" pitchFamily="34" charset="-122"/>
                <a:cs typeface="Consolas" pitchFamily="34" charset="-120"/>
              </a:rPr>
              <a:t>totalStop</a:t>
            </a:r>
            <a:endParaRPr lang="en-US" sz="1150" dirty="0"/>
          </a:p>
        </p:txBody>
      </p:sp>
      <p:sp>
        <p:nvSpPr>
          <p:cNvPr id="20" name="Shape 18"/>
          <p:cNvSpPr/>
          <p:nvPr/>
        </p:nvSpPr>
        <p:spPr>
          <a:xfrm>
            <a:off x="6675120" y="2761488"/>
            <a:ext cx="1371600" cy="0"/>
          </a:xfrm>
          <a:prstGeom prst="line">
            <a:avLst/>
          </a:prstGeom>
          <a:noFill/>
          <a:ln w="31750">
            <a:solidFill>
              <a:srgbClr val="3F7A00"/>
            </a:solidFill>
            <a:prstDash val="solid"/>
          </a:ln>
        </p:spPr>
      </p:sp>
      <p:sp>
        <p:nvSpPr>
          <p:cNvPr id="21" name="Text 19"/>
          <p:cNvSpPr txBox="1"/>
          <p:nvPr/>
        </p:nvSpPr>
        <p:spPr>
          <a:xfrm>
            <a:off x="5303520" y="2825496"/>
            <a:ext cx="4114800" cy="274320"/>
          </a:xfrm>
          <a:prstGeom prst="rect">
            <a:avLst/>
          </a:prstGeom>
          <a:noFill/>
          <a:ln/>
        </p:spPr>
        <p:txBody>
          <a:bodyPr wrap="square" lIns="0" tIns="0" rIns="0" bIns="0" rtlCol="0" anchor="t"/>
          <a:lstStyle/>
          <a:p>
            <a:pPr algn="ctr" indent="0" marL="0">
              <a:buNone/>
            </a:pPr>
            <a:r>
              <a:rPr lang="en-US" sz="1250" b="1" dirty="0">
                <a:solidFill>
                  <a:srgbClr val="3F7A00"/>
                </a:solidFill>
                <a:latin typeface="Segoe UI" pitchFamily="34" charset="0"/>
                <a:ea typeface="Segoe UI" pitchFamily="34" charset="-122"/>
                <a:cs typeface="Segoe UI" pitchFamily="34" charset="-120"/>
              </a:rPr>
              <a:t>pure kernel time — 0.456 ms at N = 10⁷</a:t>
            </a:r>
            <a:endParaRPr lang="en-US" sz="1250" dirty="0"/>
          </a:p>
        </p:txBody>
      </p:sp>
      <p:sp>
        <p:nvSpPr>
          <p:cNvPr id="22" name="Shape 20"/>
          <p:cNvSpPr/>
          <p:nvPr/>
        </p:nvSpPr>
        <p:spPr>
          <a:xfrm>
            <a:off x="1005840" y="3236976"/>
            <a:ext cx="9875520" cy="0"/>
          </a:xfrm>
          <a:prstGeom prst="line">
            <a:avLst/>
          </a:prstGeom>
          <a:noFill/>
          <a:ln w="31750">
            <a:solidFill>
              <a:srgbClr val="1F6FB2"/>
            </a:solidFill>
            <a:prstDash val="solid"/>
          </a:ln>
        </p:spPr>
      </p:sp>
      <p:sp>
        <p:nvSpPr>
          <p:cNvPr id="23" name="Text 21"/>
          <p:cNvSpPr txBox="1"/>
          <p:nvPr/>
        </p:nvSpPr>
        <p:spPr>
          <a:xfrm>
            <a:off x="1005840" y="3300984"/>
            <a:ext cx="9875520" cy="274320"/>
          </a:xfrm>
          <a:prstGeom prst="rect">
            <a:avLst/>
          </a:prstGeom>
          <a:noFill/>
          <a:ln/>
        </p:spPr>
        <p:txBody>
          <a:bodyPr wrap="square" lIns="0" tIns="0" rIns="0" bIns="0" rtlCol="0" anchor="t"/>
          <a:lstStyle/>
          <a:p>
            <a:pPr algn="ctr" indent="0" marL="0">
              <a:buNone/>
            </a:pPr>
            <a:r>
              <a:rPr lang="en-US" sz="1250" b="1" dirty="0">
                <a:solidFill>
                  <a:srgbClr val="1F6FB2"/>
                </a:solidFill>
                <a:latin typeface="Segoe UI" pitchFamily="34" charset="0"/>
                <a:ea typeface="Segoe UI" pitchFamily="34" charset="-122"/>
                <a:cs typeface="Segoe UI" pitchFamily="34" charset="-120"/>
              </a:rPr>
              <a:t>end-to-end phase time — 45.390 ms at N = 10⁷ (add phase)</a:t>
            </a:r>
            <a:endParaRPr lang="en-US" sz="1250" dirty="0"/>
          </a:p>
        </p:txBody>
      </p:sp>
      <p:sp>
        <p:nvSpPr>
          <p:cNvPr id="24" name="Text 22"/>
          <p:cNvSpPr txBox="1"/>
          <p:nvPr/>
        </p:nvSpPr>
        <p:spPr>
          <a:xfrm>
            <a:off x="1005840" y="3611880"/>
            <a:ext cx="9875520" cy="274320"/>
          </a:xfrm>
          <a:prstGeom prst="rect">
            <a:avLst/>
          </a:prstGeom>
          <a:noFill/>
          <a:ln/>
        </p:spPr>
        <p:txBody>
          <a:bodyPr wrap="square" lIns="0" tIns="0" rIns="0" bIns="0" rtlCol="0" anchor="t"/>
          <a:lstStyle/>
          <a:p>
            <a:pPr indent="0" marL="0">
              <a:buNone/>
            </a:pPr>
            <a:r>
              <a:rPr lang="en-US" sz="1100" i="1" dirty="0">
                <a:solidFill>
                  <a:srgbClr val="8A94A0"/>
                </a:solidFill>
                <a:latin typeface="Segoe UI" pitchFamily="34" charset="0"/>
                <a:ea typeface="Segoe UI" pitchFamily="34" charset="-122"/>
                <a:cs typeface="Segoe UI" pitchFamily="34" charset="-120"/>
              </a:rPr>
              <a:t>Segment widths are not to scale: in the real run the kernel is about 1 % of the phase.</a:t>
            </a:r>
            <a:endParaRPr lang="en-US" sz="1100" dirty="0"/>
          </a:p>
        </p:txBody>
      </p:sp>
      <p:sp>
        <p:nvSpPr>
          <p:cNvPr id="25" name="Shape 23"/>
          <p:cNvSpPr/>
          <p:nvPr/>
        </p:nvSpPr>
        <p:spPr>
          <a:xfrm>
            <a:off x="548640" y="4069080"/>
            <a:ext cx="5440680" cy="2194560"/>
          </a:xfrm>
          <a:prstGeom prst="roundRect">
            <a:avLst>
              <a:gd name="adj" fmla="val 3333"/>
            </a:avLst>
          </a:prstGeom>
          <a:solidFill>
            <a:srgbClr val="E4EEF8"/>
          </a:solidFill>
          <a:ln w="6350">
            <a:solidFill>
              <a:srgbClr val="E4EEF8"/>
            </a:solidFill>
            <a:prstDash val="solid"/>
          </a:ln>
        </p:spPr>
      </p:sp>
      <p:sp>
        <p:nvSpPr>
          <p:cNvPr id="26" name="Text 24"/>
          <p:cNvSpPr txBox="1"/>
          <p:nvPr/>
        </p:nvSpPr>
        <p:spPr>
          <a:xfrm>
            <a:off x="777240" y="4178808"/>
            <a:ext cx="5029200" cy="320040"/>
          </a:xfrm>
          <a:prstGeom prst="rect">
            <a:avLst/>
          </a:prstGeom>
          <a:noFill/>
          <a:ln/>
        </p:spPr>
        <p:txBody>
          <a:bodyPr wrap="square" lIns="0" tIns="0" rIns="0" bIns="0" rtlCol="0" anchor="t"/>
          <a:lstStyle/>
          <a:p>
            <a:pPr indent="0" marL="0">
              <a:buNone/>
            </a:pPr>
            <a:r>
              <a:rPr lang="en-US" sz="1500" b="1" dirty="0">
                <a:solidFill>
                  <a:srgbClr val="15181D"/>
                </a:solidFill>
                <a:latin typeface="Segoe UI Semibold" pitchFamily="34" charset="0"/>
                <a:ea typeface="Segoe UI Semibold" pitchFamily="34" charset="-122"/>
                <a:cs typeface="Segoe UI Semibold" pitchFamily="34" charset="-120"/>
              </a:rPr>
              <a:t>Why CUDA events, not a CPU timer</a:t>
            </a:r>
            <a:endParaRPr lang="en-US" sz="1500" dirty="0"/>
          </a:p>
        </p:txBody>
      </p:sp>
      <p:sp>
        <p:nvSpPr>
          <p:cNvPr id="27" name="Text 25"/>
          <p:cNvSpPr txBox="1"/>
          <p:nvPr/>
        </p:nvSpPr>
        <p:spPr>
          <a:xfrm>
            <a:off x="777240" y="4553712"/>
            <a:ext cx="5074920" cy="164592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D333B"/>
                </a:solidFill>
                <a:latin typeface="Segoe UI" pitchFamily="34" charset="0"/>
                <a:ea typeface="Segoe UI" pitchFamily="34" charset="-122"/>
                <a:cs typeface="Segoe UI" pitchFamily="34" charset="-120"/>
              </a:rPr>
              <a:t>Kernel launches are asynchronous: a CPU timer would only measure the few microseconds needed to queue the launch.</a:t>
            </a:r>
            <a:endParaRPr lang="en-US" sz="1350" dirty="0"/>
          </a:p>
          <a:p>
            <a:pPr marL="342900" indent="-342900">
              <a:spcAft>
                <a:spcPts val="400"/>
              </a:spcAft>
              <a:buSzPct val="100000"/>
              <a:buChar char="•"/>
            </a:pPr>
            <a:r>
              <a:rPr lang="en-US" sz="1350" dirty="0">
                <a:solidFill>
                  <a:srgbClr val="2D333B"/>
                </a:solidFill>
                <a:latin typeface="Segoe UI" pitchFamily="34" charset="0"/>
                <a:ea typeface="Segoe UI" pitchFamily="34" charset="-122"/>
                <a:cs typeface="Segoe UI" pitchFamily="34" charset="-120"/>
              </a:rPr>
              <a:t>Events are timestamped by the GPU itself when it reaches them.</a:t>
            </a:r>
            <a:endParaRPr lang="en-US" sz="1350" dirty="0"/>
          </a:p>
          <a:p>
            <a:pPr marL="342900" indent="-342900">
              <a:spcAft>
                <a:spcPts val="400"/>
              </a:spcAft>
              <a:buSzPct val="100000"/>
              <a:buChar char="•"/>
            </a:pPr>
            <a:r>
              <a:rPr lang="en-US" sz="1350" dirty="0">
                <a:solidFill>
                  <a:srgbClr val="2D333B"/>
                </a:solidFill>
                <a:latin typeface="Segoe UI" pitchFamily="34" charset="0"/>
                <a:ea typeface="Segoe UI" pitchFamily="34" charset="-122"/>
                <a:cs typeface="Segoe UI" pitchFamily="34" charset="-120"/>
              </a:rPr>
              <a:t>cudaEventSynchronize(stop) waits for the GPU before the time is read.</a:t>
            </a:r>
            <a:endParaRPr lang="en-US" sz="1350" dirty="0"/>
          </a:p>
        </p:txBody>
      </p:sp>
      <p:sp>
        <p:nvSpPr>
          <p:cNvPr id="28" name="Shape 26"/>
          <p:cNvSpPr/>
          <p:nvPr/>
        </p:nvSpPr>
        <p:spPr>
          <a:xfrm>
            <a:off x="6199632" y="4069080"/>
            <a:ext cx="5440680" cy="2194560"/>
          </a:xfrm>
          <a:prstGeom prst="roundRect">
            <a:avLst>
              <a:gd name="adj" fmla="val 3333"/>
            </a:avLst>
          </a:prstGeom>
          <a:solidFill>
            <a:srgbClr val="EEF6E0"/>
          </a:solidFill>
          <a:ln w="6350">
            <a:solidFill>
              <a:srgbClr val="EEF6E0"/>
            </a:solidFill>
            <a:prstDash val="solid"/>
          </a:ln>
        </p:spPr>
      </p:sp>
      <p:sp>
        <p:nvSpPr>
          <p:cNvPr id="29" name="Text 27"/>
          <p:cNvSpPr txBox="1"/>
          <p:nvPr/>
        </p:nvSpPr>
        <p:spPr>
          <a:xfrm>
            <a:off x="6428232" y="4178808"/>
            <a:ext cx="5029200" cy="320040"/>
          </a:xfrm>
          <a:prstGeom prst="rect">
            <a:avLst/>
          </a:prstGeom>
          <a:noFill/>
          <a:ln/>
        </p:spPr>
        <p:txBody>
          <a:bodyPr wrap="square" lIns="0" tIns="0" rIns="0" bIns="0" rtlCol="0" anchor="t"/>
          <a:lstStyle/>
          <a:p>
            <a:pPr indent="0" marL="0">
              <a:buNone/>
            </a:pPr>
            <a:r>
              <a:rPr lang="en-US" sz="1500" b="1" dirty="0">
                <a:solidFill>
                  <a:srgbClr val="15181D"/>
                </a:solidFill>
                <a:latin typeface="Segoe UI Semibold" pitchFamily="34" charset="0"/>
                <a:ea typeface="Segoe UI Semibold" pitchFamily="34" charset="-122"/>
                <a:cs typeface="Segoe UI Semibold" pitchFamily="34" charset="-120"/>
              </a:rPr>
              <a:t>Untimed warm-up launch</a:t>
            </a:r>
            <a:endParaRPr lang="en-US" sz="1500" dirty="0"/>
          </a:p>
        </p:txBody>
      </p:sp>
      <p:sp>
        <p:nvSpPr>
          <p:cNvPr id="30" name="Text 28"/>
          <p:cNvSpPr txBox="1"/>
          <p:nvPr/>
        </p:nvSpPr>
        <p:spPr>
          <a:xfrm>
            <a:off x="6428232" y="4553712"/>
            <a:ext cx="5074920" cy="164592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D333B"/>
                </a:solidFill>
                <a:latin typeface="Segoe UI" pitchFamily="34" charset="0"/>
                <a:ea typeface="Segoe UI" pitchFamily="34" charset="-122"/>
                <a:cs typeface="Segoe UI" pitchFamily="34" charset="-120"/>
              </a:rPr>
              <a:t>The first CUDA work pays one-time costs: creating the context, loading the kernel, raising the clocks from idle (P8, 10 W).</a:t>
            </a:r>
            <a:endParaRPr lang="en-US" sz="1350" dirty="0"/>
          </a:p>
          <a:p>
            <a:pPr marL="342900" indent="-342900">
              <a:spcAft>
                <a:spcPts val="400"/>
              </a:spcAft>
              <a:buSzPct val="100000"/>
              <a:buChar char="•"/>
            </a:pPr>
            <a:r>
              <a:rPr lang="en-US" sz="1350" dirty="0">
                <a:solidFill>
                  <a:srgbClr val="2D333B"/>
                </a:solidFill>
                <a:latin typeface="Segoe UI" pitchFamily="34" charset="0"/>
                <a:ea typeface="Segoe UI" pitchFamily="34" charset="-122"/>
                <a:cs typeface="Segoe UI" pitchFamily="34" charset="-120"/>
              </a:rPr>
              <a:t>These are far larger than our 16 µs – 1.2 ms kernels.</a:t>
            </a:r>
            <a:endParaRPr lang="en-US" sz="1350" dirty="0"/>
          </a:p>
          <a:p>
            <a:pPr marL="342900" indent="-342900">
              <a:spcAft>
                <a:spcPts val="400"/>
              </a:spcAft>
              <a:buSzPct val="100000"/>
              <a:buChar char="•"/>
            </a:pPr>
            <a:r>
              <a:rPr lang="en-US" sz="1350" dirty="0">
                <a:solidFill>
                  <a:srgbClr val="2D333B"/>
                </a:solidFill>
                <a:latin typeface="Segoe UI" pitchFamily="34" charset="0"/>
                <a:ea typeface="Segoe UI" pitchFamily="34" charset="-122"/>
                <a:cs typeface="Segoe UI" pitchFamily="34" charset="-120"/>
              </a:rPr>
              <a:t>One untimed launch + cudaDeviceSynchronize() absorbs them, so we record steady-state speed.</a:t>
            </a:r>
            <a:endParaRPr lang="en-US" sz="13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Correct at N = 10⁷: 3.00 and 2.00 on CPU and GPU</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2  ·  BUILD AND CORRECTNESS</a:t>
            </a:r>
            <a:endParaRPr lang="en-US" sz="1100" dirty="0"/>
          </a:p>
        </p:txBody>
      </p:sp>
      <p:sp>
        <p:nvSpPr>
          <p:cNvPr id="4" name="Shape 2"/>
          <p:cNvSpPr/>
          <p:nvPr/>
        </p:nvSpPr>
        <p:spPr>
          <a:xfrm>
            <a:off x="548640" y="1463040"/>
            <a:ext cx="4937760" cy="4774669"/>
          </a:xfrm>
          <a:prstGeom prst="roundRect">
            <a:avLst>
              <a:gd name="adj" fmla="val 1532"/>
            </a:avLst>
          </a:prstGeom>
          <a:solidFill>
            <a:srgbClr val="1E2227"/>
          </a:solidFill>
          <a:ln w="6350">
            <a:solidFill>
              <a:srgbClr val="1E2227"/>
            </a:solidFill>
            <a:prstDash val="solid"/>
          </a:ln>
          <a:effectLst>
            <a:outerShdw sx="100000" sy="100000" kx="0" ky="0" algn="bl" rotWithShape="0" blurRad="88900" dist="25400" dir="5400000">
              <a:srgbClr val="000000">
                <a:alpha val="12000"/>
              </a:srgbClr>
            </a:outerShdw>
          </a:effectLst>
        </p:spPr>
      </p:sp>
      <p:sp>
        <p:nvSpPr>
          <p:cNvPr id="5" name="Shape 3"/>
          <p:cNvSpPr/>
          <p:nvPr/>
        </p:nvSpPr>
        <p:spPr>
          <a:xfrm>
            <a:off x="694944" y="1572768"/>
            <a:ext cx="109728" cy="109728"/>
          </a:xfrm>
          <a:prstGeom prst="ellipse">
            <a:avLst/>
          </a:prstGeom>
          <a:solidFill>
            <a:srgbClr val="FF5F57"/>
          </a:solidFill>
          <a:ln w="6350">
            <a:solidFill>
              <a:srgbClr val="FF5F57"/>
            </a:solidFill>
            <a:prstDash val="solid"/>
          </a:ln>
        </p:spPr>
      </p:sp>
      <p:sp>
        <p:nvSpPr>
          <p:cNvPr id="6" name="Shape 4"/>
          <p:cNvSpPr/>
          <p:nvPr/>
        </p:nvSpPr>
        <p:spPr>
          <a:xfrm>
            <a:off x="877824" y="1572768"/>
            <a:ext cx="109728" cy="109728"/>
          </a:xfrm>
          <a:prstGeom prst="ellipse">
            <a:avLst/>
          </a:prstGeom>
          <a:solidFill>
            <a:srgbClr val="FEBC2E"/>
          </a:solidFill>
          <a:ln w="6350">
            <a:solidFill>
              <a:srgbClr val="FEBC2E"/>
            </a:solidFill>
            <a:prstDash val="solid"/>
          </a:ln>
        </p:spPr>
      </p:sp>
      <p:sp>
        <p:nvSpPr>
          <p:cNvPr id="7" name="Shape 5"/>
          <p:cNvSpPr/>
          <p:nvPr/>
        </p:nvSpPr>
        <p:spPr>
          <a:xfrm>
            <a:off x="1060704" y="1572768"/>
            <a:ext cx="109728" cy="109728"/>
          </a:xfrm>
          <a:prstGeom prst="ellipse">
            <a:avLst/>
          </a:prstGeom>
          <a:solidFill>
            <a:srgbClr val="28C840"/>
          </a:solidFill>
          <a:ln w="6350">
            <a:solidFill>
              <a:srgbClr val="28C840"/>
            </a:solidFill>
            <a:prstDash val="solid"/>
          </a:ln>
        </p:spPr>
      </p:sp>
      <p:sp>
        <p:nvSpPr>
          <p:cNvPr id="8" name="Text 6"/>
          <p:cNvSpPr txBox="1"/>
          <p:nvPr/>
        </p:nvSpPr>
        <p:spPr>
          <a:xfrm>
            <a:off x="1325880" y="1499616"/>
            <a:ext cx="4023360" cy="274320"/>
          </a:xfrm>
          <a:prstGeom prst="rect">
            <a:avLst/>
          </a:prstGeom>
          <a:noFill/>
          <a:ln/>
        </p:spPr>
        <p:txBody>
          <a:bodyPr wrap="square" lIns="0" tIns="0" rIns="0" bIns="0" rtlCol="0" anchor="ctr"/>
          <a:lstStyle/>
          <a:p>
            <a:pPr indent="0" marL="0">
              <a:buNone/>
            </a:pPr>
            <a:r>
              <a:rPr lang="en-US" sz="1050" dirty="0">
                <a:solidFill>
                  <a:srgbClr val="A7AFB8"/>
                </a:solidFill>
                <a:latin typeface="Consolas" pitchFamily="34" charset="0"/>
                <a:ea typeface="Consolas" pitchFamily="34" charset="-122"/>
                <a:cs typeface="Consolas" pitchFamily="34" charset="-120"/>
              </a:rPr>
              <a:t>Colab · Cell 5 · compile and verify (screenshot 02)</a:t>
            </a:r>
            <a:endParaRPr lang="en-US" sz="1050" dirty="0"/>
          </a:p>
        </p:txBody>
      </p:sp>
      <p:pic>
        <p:nvPicPr>
          <p:cNvPr id="9" name="Image 0" descr="Colab · Cell 5 · compile and verify (screenshot 02)">    </p:cNvPr>
          <p:cNvPicPr>
            <a:picLocks noChangeAspect="1"/>
          </p:cNvPicPr>
          <p:nvPr/>
        </p:nvPicPr>
        <p:blipFill>
          <a:blip r:embed="rId1"/>
          <a:stretch>
            <a:fillRect/>
          </a:stretch>
        </p:blipFill>
        <p:spPr>
          <a:xfrm>
            <a:off x="603504" y="1792224"/>
            <a:ext cx="4828032" cy="4390621"/>
          </a:xfrm>
          <a:prstGeom prst="rect">
            <a:avLst/>
          </a:prstGeom>
        </p:spPr>
      </p:pic>
      <p:sp>
        <p:nvSpPr>
          <p:cNvPr id="10" name="Shape 7"/>
          <p:cNvSpPr/>
          <p:nvPr/>
        </p:nvSpPr>
        <p:spPr>
          <a:xfrm>
            <a:off x="5897880" y="1463040"/>
            <a:ext cx="5742432" cy="1463040"/>
          </a:xfrm>
          <a:prstGeom prst="roundRect">
            <a:avLst>
              <a:gd name="adj" fmla="val 5000"/>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11" name="Text 8"/>
          <p:cNvSpPr txBox="1"/>
          <p:nvPr/>
        </p:nvSpPr>
        <p:spPr>
          <a:xfrm>
            <a:off x="6126480" y="1627632"/>
            <a:ext cx="5285232" cy="594360"/>
          </a:xfrm>
          <a:prstGeom prst="rect">
            <a:avLst/>
          </a:prstGeom>
          <a:noFill/>
          <a:ln/>
        </p:spPr>
        <p:txBody>
          <a:bodyPr wrap="square" lIns="0" tIns="0" rIns="0" bIns="0" rtlCol="0" anchor="ctr"/>
          <a:lstStyle/>
          <a:p>
            <a:pPr indent="0" marL="0">
              <a:buNone/>
            </a:pPr>
            <a:r>
              <a:rPr lang="en-US" sz="3000" b="1" dirty="0">
                <a:solidFill>
                  <a:srgbClr val="3F7A00"/>
                </a:solidFill>
                <a:latin typeface="Segoe UI Semibold" pitchFamily="34" charset="0"/>
                <a:ea typeface="Segoe UI Semibold" pitchFamily="34" charset="-122"/>
                <a:cs typeface="Segoe UI Semibold" pitchFamily="34" charset="-120"/>
              </a:rPr>
              <a:t>3.00  /  2.00   ✓</a:t>
            </a:r>
            <a:endParaRPr lang="en-US" sz="3000" dirty="0"/>
          </a:p>
        </p:txBody>
      </p:sp>
      <p:sp>
        <p:nvSpPr>
          <p:cNvPr id="12" name="Text 9"/>
          <p:cNvSpPr txBox="1"/>
          <p:nvPr/>
        </p:nvSpPr>
        <p:spPr>
          <a:xfrm>
            <a:off x="6126480" y="2240280"/>
            <a:ext cx="5285232" cy="59436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C_add[0] and C_mul[0] on both the CPU and the GPU — exactly the expected values for A = 1, B = 2.</a:t>
            </a:r>
            <a:endParaRPr lang="en-US" sz="1300" dirty="0"/>
          </a:p>
        </p:txBody>
      </p:sp>
      <p:sp>
        <p:nvSpPr>
          <p:cNvPr id="13" name="Shape 10"/>
          <p:cNvSpPr/>
          <p:nvPr/>
        </p:nvSpPr>
        <p:spPr>
          <a:xfrm>
            <a:off x="5897880" y="3154680"/>
            <a:ext cx="5742432" cy="1463040"/>
          </a:xfrm>
          <a:prstGeom prst="roundRect">
            <a:avLst>
              <a:gd name="adj" fmla="val 5000"/>
            </a:avLst>
          </a:prstGeom>
          <a:solidFill>
            <a:srgbClr val="FDEEDF"/>
          </a:solidFill>
          <a:ln w="6350">
            <a:solidFill>
              <a:srgbClr val="FDEEDF"/>
            </a:solidFill>
            <a:prstDash val="solid"/>
          </a:ln>
          <a:effectLst>
            <a:outerShdw sx="100000" sy="100000" kx="0" ky="0" algn="bl" rotWithShape="0" blurRad="88900" dist="25400" dir="5400000">
              <a:srgbClr val="000000">
                <a:alpha val="12000"/>
              </a:srgbClr>
            </a:outerShdw>
          </a:effectLst>
        </p:spPr>
      </p:sp>
      <p:sp>
        <p:nvSpPr>
          <p:cNvPr id="14" name="Text 11"/>
          <p:cNvSpPr txBox="1"/>
          <p:nvPr/>
        </p:nvSpPr>
        <p:spPr>
          <a:xfrm>
            <a:off x="6126480" y="3319272"/>
            <a:ext cx="5285232" cy="594360"/>
          </a:xfrm>
          <a:prstGeom prst="rect">
            <a:avLst/>
          </a:prstGeom>
          <a:noFill/>
          <a:ln/>
        </p:spPr>
        <p:txBody>
          <a:bodyPr wrap="square" lIns="0" tIns="0" rIns="0" bIns="0" rtlCol="0" anchor="ctr"/>
          <a:lstStyle/>
          <a:p>
            <a:pPr indent="0" marL="0">
              <a:buNone/>
            </a:pPr>
            <a:r>
              <a:rPr lang="en-US" sz="3000" b="1" dirty="0">
                <a:solidFill>
                  <a:srgbClr val="E8710A"/>
                </a:solidFill>
                <a:latin typeface="Segoe UI Semibold" pitchFamily="34" charset="0"/>
                <a:ea typeface="Segoe UI Semibold" pitchFamily="34" charset="-122"/>
                <a:cs typeface="Segoe UI Semibold" pitchFamily="34" charset="-120"/>
              </a:rPr>
              <a:t>0.456 ms  vs  45.390 ms</a:t>
            </a:r>
            <a:endParaRPr lang="en-US" sz="3000" dirty="0"/>
          </a:p>
        </p:txBody>
      </p:sp>
      <p:sp>
        <p:nvSpPr>
          <p:cNvPr id="15" name="Text 12"/>
          <p:cNvSpPr txBox="1"/>
          <p:nvPr/>
        </p:nvSpPr>
        <p:spPr>
          <a:xfrm>
            <a:off x="6126480" y="3931920"/>
            <a:ext cx="5285232" cy="59436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Add kernel vs add phase. About 99 % of the phase is copying — our main finding is already visible in this first run.</a:t>
            </a:r>
            <a:endParaRPr lang="en-US" sz="1300" dirty="0"/>
          </a:p>
        </p:txBody>
      </p:sp>
      <p:sp>
        <p:nvSpPr>
          <p:cNvPr id="16" name="Shape 13"/>
          <p:cNvSpPr/>
          <p:nvPr/>
        </p:nvSpPr>
        <p:spPr>
          <a:xfrm>
            <a:off x="5897880" y="4846320"/>
            <a:ext cx="5742432" cy="1371600"/>
          </a:xfrm>
          <a:prstGeom prst="roundRect">
            <a:avLst>
              <a:gd name="adj" fmla="val 5333"/>
            </a:avLst>
          </a:prstGeom>
          <a:solidFill>
            <a:srgbClr val="F3F5F7"/>
          </a:solidFill>
          <a:ln w="6350">
            <a:solidFill>
              <a:srgbClr val="F3F5F7"/>
            </a:solidFill>
            <a:prstDash val="solid"/>
          </a:ln>
          <a:effectLst>
            <a:outerShdw sx="100000" sy="100000" kx="0" ky="0" algn="bl" rotWithShape="0" blurRad="88900" dist="25400" dir="5400000">
              <a:srgbClr val="000000">
                <a:alpha val="12000"/>
              </a:srgbClr>
            </a:outerShdw>
          </a:effectLst>
        </p:spPr>
      </p:sp>
      <p:sp>
        <p:nvSpPr>
          <p:cNvPr id="17" name="Text 14"/>
          <p:cNvSpPr txBox="1"/>
          <p:nvPr/>
        </p:nvSpPr>
        <p:spPr>
          <a:xfrm>
            <a:off x="6126480" y="5010912"/>
            <a:ext cx="5285232" cy="502920"/>
          </a:xfrm>
          <a:prstGeom prst="rect">
            <a:avLst/>
          </a:prstGeom>
          <a:noFill/>
          <a:ln/>
        </p:spPr>
        <p:txBody>
          <a:bodyPr wrap="square" lIns="0" tIns="0" rIns="0" bIns="0" rtlCol="0" anchor="ctr"/>
          <a:lstStyle/>
          <a:p>
            <a:pPr indent="0" marL="0">
              <a:buNone/>
            </a:pPr>
            <a:r>
              <a:rPr lang="en-US" sz="2200" b="1" dirty="0">
                <a:solidFill>
                  <a:srgbClr val="64748B"/>
                </a:solidFill>
                <a:latin typeface="Segoe UI Semibold" pitchFamily="34" charset="0"/>
                <a:ea typeface="Segoe UI Semibold" pitchFamily="34" charset="-122"/>
                <a:cs typeface="Segoe UI Semibold" pitchFamily="34" charset="-120"/>
              </a:rPr>
              <a:t>No architecture warning</a:t>
            </a:r>
            <a:endParaRPr lang="en-US" sz="2200" dirty="0"/>
          </a:p>
        </p:txBody>
      </p:sp>
      <p:sp>
        <p:nvSpPr>
          <p:cNvPr id="18" name="Text 15"/>
          <p:cNvSpPr txBox="1"/>
          <p:nvPr/>
        </p:nvSpPr>
        <p:spPr>
          <a:xfrm>
            <a:off x="6126480" y="5532120"/>
            <a:ext cx="5285232" cy="59436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CUDA 13.0 compiles for sm_75 (Turing) by default, which matches the T4. CPU total at N = 10⁷: 48.742 ms.</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Five sizes, 250× apart, logged automatically to CSV</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3  ·  RUNS WITH DIFFERENT DATA SIZES</a:t>
            </a:r>
            <a:endParaRPr lang="en-US" sz="1100" dirty="0"/>
          </a:p>
        </p:txBody>
      </p:sp>
      <p:sp>
        <p:nvSpPr>
          <p:cNvPr id="4" name="Shape 2"/>
          <p:cNvSpPr/>
          <p:nvPr/>
        </p:nvSpPr>
        <p:spPr>
          <a:xfrm>
            <a:off x="548640" y="1463040"/>
            <a:ext cx="2011680" cy="822960"/>
          </a:xfrm>
          <a:prstGeom prst="roundRect">
            <a:avLst>
              <a:gd name="adj" fmla="val 8889"/>
            </a:avLst>
          </a:prstGeom>
          <a:solidFill>
            <a:srgbClr val="E4EEF8"/>
          </a:solidFill>
          <a:ln w="6350">
            <a:solidFill>
              <a:srgbClr val="E4EEF8"/>
            </a:solidFill>
            <a:prstDash val="solid"/>
          </a:ln>
        </p:spPr>
      </p:sp>
      <p:sp>
        <p:nvSpPr>
          <p:cNvPr id="5" name="Text 3"/>
          <p:cNvSpPr txBox="1"/>
          <p:nvPr/>
        </p:nvSpPr>
        <p:spPr>
          <a:xfrm>
            <a:off x="731520" y="1508760"/>
            <a:ext cx="1737360" cy="411480"/>
          </a:xfrm>
          <a:prstGeom prst="rect">
            <a:avLst/>
          </a:prstGeom>
          <a:noFill/>
          <a:ln/>
        </p:spPr>
        <p:txBody>
          <a:bodyPr wrap="square" lIns="0" tIns="0" rIns="0" bIns="0" rtlCol="0" anchor="ctr"/>
          <a:lstStyle/>
          <a:p>
            <a:pPr indent="0" marL="0">
              <a:buNone/>
            </a:pPr>
            <a:r>
              <a:rPr lang="en-US" sz="2000" b="1" dirty="0">
                <a:solidFill>
                  <a:srgbClr val="1F6FB2"/>
                </a:solidFill>
                <a:latin typeface="Segoe UI Semibold" pitchFamily="34" charset="0"/>
                <a:ea typeface="Segoe UI Semibold" pitchFamily="34" charset="-122"/>
                <a:cs typeface="Segoe UI Semibold" pitchFamily="34" charset="-120"/>
              </a:rPr>
              <a:t>N = 100 K</a:t>
            </a:r>
            <a:endParaRPr lang="en-US" sz="2000" dirty="0"/>
          </a:p>
        </p:txBody>
      </p:sp>
      <p:sp>
        <p:nvSpPr>
          <p:cNvPr id="6" name="Text 4"/>
          <p:cNvSpPr txBox="1"/>
          <p:nvPr/>
        </p:nvSpPr>
        <p:spPr>
          <a:xfrm>
            <a:off x="731520" y="1920240"/>
            <a:ext cx="173736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1.14 MiB on GPU</a:t>
            </a:r>
            <a:endParaRPr lang="en-US" sz="1200" dirty="0"/>
          </a:p>
        </p:txBody>
      </p:sp>
      <p:sp>
        <p:nvSpPr>
          <p:cNvPr id="7" name="Shape 5"/>
          <p:cNvSpPr/>
          <p:nvPr/>
        </p:nvSpPr>
        <p:spPr>
          <a:xfrm>
            <a:off x="2578608" y="1874520"/>
            <a:ext cx="210312" cy="0"/>
          </a:xfrm>
          <a:prstGeom prst="line">
            <a:avLst/>
          </a:prstGeom>
          <a:noFill/>
          <a:ln w="22225">
            <a:solidFill>
              <a:srgbClr val="B7C0CA"/>
            </a:solidFill>
            <a:prstDash val="solid"/>
            <a:tailEnd type="triangle"/>
          </a:ln>
        </p:spPr>
      </p:sp>
      <p:sp>
        <p:nvSpPr>
          <p:cNvPr id="8" name="Shape 6"/>
          <p:cNvSpPr/>
          <p:nvPr/>
        </p:nvSpPr>
        <p:spPr>
          <a:xfrm>
            <a:off x="2811780" y="1463040"/>
            <a:ext cx="2011680" cy="822960"/>
          </a:xfrm>
          <a:prstGeom prst="roundRect">
            <a:avLst>
              <a:gd name="adj" fmla="val 8889"/>
            </a:avLst>
          </a:prstGeom>
          <a:solidFill>
            <a:srgbClr val="E4EEF8"/>
          </a:solidFill>
          <a:ln w="6350">
            <a:solidFill>
              <a:srgbClr val="E4EEF8"/>
            </a:solidFill>
            <a:prstDash val="solid"/>
          </a:ln>
        </p:spPr>
      </p:sp>
      <p:sp>
        <p:nvSpPr>
          <p:cNvPr id="9" name="Text 7"/>
          <p:cNvSpPr txBox="1"/>
          <p:nvPr/>
        </p:nvSpPr>
        <p:spPr>
          <a:xfrm>
            <a:off x="2994660" y="1508760"/>
            <a:ext cx="1737360" cy="411480"/>
          </a:xfrm>
          <a:prstGeom prst="rect">
            <a:avLst/>
          </a:prstGeom>
          <a:noFill/>
          <a:ln/>
        </p:spPr>
        <p:txBody>
          <a:bodyPr wrap="square" lIns="0" tIns="0" rIns="0" bIns="0" rtlCol="0" anchor="ctr"/>
          <a:lstStyle/>
          <a:p>
            <a:pPr indent="0" marL="0">
              <a:buNone/>
            </a:pPr>
            <a:r>
              <a:rPr lang="en-US" sz="2000" b="1" dirty="0">
                <a:solidFill>
                  <a:srgbClr val="1F6FB2"/>
                </a:solidFill>
                <a:latin typeface="Segoe UI Semibold" pitchFamily="34" charset="0"/>
                <a:ea typeface="Segoe UI Semibold" pitchFamily="34" charset="-122"/>
                <a:cs typeface="Segoe UI Semibold" pitchFamily="34" charset="-120"/>
              </a:rPr>
              <a:t>N = 1 M</a:t>
            </a:r>
            <a:endParaRPr lang="en-US" sz="2000" dirty="0"/>
          </a:p>
        </p:txBody>
      </p:sp>
      <p:sp>
        <p:nvSpPr>
          <p:cNvPr id="10" name="Text 8"/>
          <p:cNvSpPr txBox="1"/>
          <p:nvPr/>
        </p:nvSpPr>
        <p:spPr>
          <a:xfrm>
            <a:off x="2994660" y="1920240"/>
            <a:ext cx="173736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11.44 MiB</a:t>
            </a:r>
            <a:endParaRPr lang="en-US" sz="1200" dirty="0"/>
          </a:p>
        </p:txBody>
      </p:sp>
      <p:sp>
        <p:nvSpPr>
          <p:cNvPr id="11" name="Shape 9"/>
          <p:cNvSpPr/>
          <p:nvPr/>
        </p:nvSpPr>
        <p:spPr>
          <a:xfrm>
            <a:off x="4841748" y="1874520"/>
            <a:ext cx="210312" cy="0"/>
          </a:xfrm>
          <a:prstGeom prst="line">
            <a:avLst/>
          </a:prstGeom>
          <a:noFill/>
          <a:ln w="22225">
            <a:solidFill>
              <a:srgbClr val="B7C0CA"/>
            </a:solidFill>
            <a:prstDash val="solid"/>
            <a:tailEnd type="triangle"/>
          </a:ln>
        </p:spPr>
      </p:sp>
      <p:sp>
        <p:nvSpPr>
          <p:cNvPr id="12" name="Shape 10"/>
          <p:cNvSpPr/>
          <p:nvPr/>
        </p:nvSpPr>
        <p:spPr>
          <a:xfrm>
            <a:off x="5074920" y="1463040"/>
            <a:ext cx="2011680" cy="822960"/>
          </a:xfrm>
          <a:prstGeom prst="roundRect">
            <a:avLst>
              <a:gd name="adj" fmla="val 8889"/>
            </a:avLst>
          </a:prstGeom>
          <a:solidFill>
            <a:srgbClr val="E4EEF8"/>
          </a:solidFill>
          <a:ln w="6350">
            <a:solidFill>
              <a:srgbClr val="E4EEF8"/>
            </a:solidFill>
            <a:prstDash val="solid"/>
          </a:ln>
        </p:spPr>
      </p:sp>
      <p:sp>
        <p:nvSpPr>
          <p:cNvPr id="13" name="Text 11"/>
          <p:cNvSpPr txBox="1"/>
          <p:nvPr/>
        </p:nvSpPr>
        <p:spPr>
          <a:xfrm>
            <a:off x="5257800" y="1508760"/>
            <a:ext cx="1737360" cy="411480"/>
          </a:xfrm>
          <a:prstGeom prst="rect">
            <a:avLst/>
          </a:prstGeom>
          <a:noFill/>
          <a:ln/>
        </p:spPr>
        <p:txBody>
          <a:bodyPr wrap="square" lIns="0" tIns="0" rIns="0" bIns="0" rtlCol="0" anchor="ctr"/>
          <a:lstStyle/>
          <a:p>
            <a:pPr indent="0" marL="0">
              <a:buNone/>
            </a:pPr>
            <a:r>
              <a:rPr lang="en-US" sz="2000" b="1" dirty="0">
                <a:solidFill>
                  <a:srgbClr val="1F6FB2"/>
                </a:solidFill>
                <a:latin typeface="Segoe UI Semibold" pitchFamily="34" charset="0"/>
                <a:ea typeface="Segoe UI Semibold" pitchFamily="34" charset="-122"/>
                <a:cs typeface="Segoe UI Semibold" pitchFamily="34" charset="-120"/>
              </a:rPr>
              <a:t>N = 5 M</a:t>
            </a:r>
            <a:endParaRPr lang="en-US" sz="2000" dirty="0"/>
          </a:p>
        </p:txBody>
      </p:sp>
      <p:sp>
        <p:nvSpPr>
          <p:cNvPr id="14" name="Text 12"/>
          <p:cNvSpPr txBox="1"/>
          <p:nvPr/>
        </p:nvSpPr>
        <p:spPr>
          <a:xfrm>
            <a:off x="5257800" y="1920240"/>
            <a:ext cx="173736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57.22 MiB</a:t>
            </a:r>
            <a:endParaRPr lang="en-US" sz="1200" dirty="0"/>
          </a:p>
        </p:txBody>
      </p:sp>
      <p:sp>
        <p:nvSpPr>
          <p:cNvPr id="15" name="Shape 13"/>
          <p:cNvSpPr/>
          <p:nvPr/>
        </p:nvSpPr>
        <p:spPr>
          <a:xfrm>
            <a:off x="7104888" y="1874520"/>
            <a:ext cx="210312" cy="0"/>
          </a:xfrm>
          <a:prstGeom prst="line">
            <a:avLst/>
          </a:prstGeom>
          <a:noFill/>
          <a:ln w="22225">
            <a:solidFill>
              <a:srgbClr val="B7C0CA"/>
            </a:solidFill>
            <a:prstDash val="solid"/>
            <a:tailEnd type="triangle"/>
          </a:ln>
        </p:spPr>
      </p:sp>
      <p:sp>
        <p:nvSpPr>
          <p:cNvPr id="16" name="Shape 14"/>
          <p:cNvSpPr/>
          <p:nvPr/>
        </p:nvSpPr>
        <p:spPr>
          <a:xfrm>
            <a:off x="7338060" y="1463040"/>
            <a:ext cx="2011680" cy="822960"/>
          </a:xfrm>
          <a:prstGeom prst="roundRect">
            <a:avLst>
              <a:gd name="adj" fmla="val 8889"/>
            </a:avLst>
          </a:prstGeom>
          <a:solidFill>
            <a:srgbClr val="E4EEF8"/>
          </a:solidFill>
          <a:ln w="6350">
            <a:solidFill>
              <a:srgbClr val="E4EEF8"/>
            </a:solidFill>
            <a:prstDash val="solid"/>
          </a:ln>
        </p:spPr>
      </p:sp>
      <p:sp>
        <p:nvSpPr>
          <p:cNvPr id="17" name="Text 15"/>
          <p:cNvSpPr txBox="1"/>
          <p:nvPr/>
        </p:nvSpPr>
        <p:spPr>
          <a:xfrm>
            <a:off x="7520940" y="1508760"/>
            <a:ext cx="1737360" cy="411480"/>
          </a:xfrm>
          <a:prstGeom prst="rect">
            <a:avLst/>
          </a:prstGeom>
          <a:noFill/>
          <a:ln/>
        </p:spPr>
        <p:txBody>
          <a:bodyPr wrap="square" lIns="0" tIns="0" rIns="0" bIns="0" rtlCol="0" anchor="ctr"/>
          <a:lstStyle/>
          <a:p>
            <a:pPr indent="0" marL="0">
              <a:buNone/>
            </a:pPr>
            <a:r>
              <a:rPr lang="en-US" sz="2000" b="1" dirty="0">
                <a:solidFill>
                  <a:srgbClr val="1F6FB2"/>
                </a:solidFill>
                <a:latin typeface="Segoe UI Semibold" pitchFamily="34" charset="0"/>
                <a:ea typeface="Segoe UI Semibold" pitchFamily="34" charset="-122"/>
                <a:cs typeface="Segoe UI Semibold" pitchFamily="34" charset="-120"/>
              </a:rPr>
              <a:t>N = 10 M</a:t>
            </a:r>
            <a:endParaRPr lang="en-US" sz="2000" dirty="0"/>
          </a:p>
        </p:txBody>
      </p:sp>
      <p:sp>
        <p:nvSpPr>
          <p:cNvPr id="18" name="Text 16"/>
          <p:cNvSpPr txBox="1"/>
          <p:nvPr/>
        </p:nvSpPr>
        <p:spPr>
          <a:xfrm>
            <a:off x="7520940" y="1920240"/>
            <a:ext cx="173736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114.44 MiB</a:t>
            </a:r>
            <a:endParaRPr lang="en-US" sz="1200" dirty="0"/>
          </a:p>
        </p:txBody>
      </p:sp>
      <p:sp>
        <p:nvSpPr>
          <p:cNvPr id="19" name="Shape 17"/>
          <p:cNvSpPr/>
          <p:nvPr/>
        </p:nvSpPr>
        <p:spPr>
          <a:xfrm>
            <a:off x="9368028" y="1874520"/>
            <a:ext cx="210312" cy="0"/>
          </a:xfrm>
          <a:prstGeom prst="line">
            <a:avLst/>
          </a:prstGeom>
          <a:noFill/>
          <a:ln w="22225">
            <a:solidFill>
              <a:srgbClr val="B7C0CA"/>
            </a:solidFill>
            <a:prstDash val="solid"/>
            <a:tailEnd type="triangle"/>
          </a:ln>
        </p:spPr>
      </p:sp>
      <p:sp>
        <p:nvSpPr>
          <p:cNvPr id="20" name="Shape 18"/>
          <p:cNvSpPr/>
          <p:nvPr/>
        </p:nvSpPr>
        <p:spPr>
          <a:xfrm>
            <a:off x="9601200" y="1463040"/>
            <a:ext cx="2011680" cy="822960"/>
          </a:xfrm>
          <a:prstGeom prst="roundRect">
            <a:avLst>
              <a:gd name="adj" fmla="val 8889"/>
            </a:avLst>
          </a:prstGeom>
          <a:solidFill>
            <a:srgbClr val="E4EEF8"/>
          </a:solidFill>
          <a:ln w="6350">
            <a:solidFill>
              <a:srgbClr val="E4EEF8"/>
            </a:solidFill>
            <a:prstDash val="solid"/>
          </a:ln>
        </p:spPr>
      </p:sp>
      <p:sp>
        <p:nvSpPr>
          <p:cNvPr id="21" name="Text 19"/>
          <p:cNvSpPr txBox="1"/>
          <p:nvPr/>
        </p:nvSpPr>
        <p:spPr>
          <a:xfrm>
            <a:off x="9784080" y="1508760"/>
            <a:ext cx="1737360" cy="411480"/>
          </a:xfrm>
          <a:prstGeom prst="rect">
            <a:avLst/>
          </a:prstGeom>
          <a:noFill/>
          <a:ln/>
        </p:spPr>
        <p:txBody>
          <a:bodyPr wrap="square" lIns="0" tIns="0" rIns="0" bIns="0" rtlCol="0" anchor="ctr"/>
          <a:lstStyle/>
          <a:p>
            <a:pPr indent="0" marL="0">
              <a:buNone/>
            </a:pPr>
            <a:r>
              <a:rPr lang="en-US" sz="2000" b="1" dirty="0">
                <a:solidFill>
                  <a:srgbClr val="1F6FB2"/>
                </a:solidFill>
                <a:latin typeface="Segoe UI Semibold" pitchFamily="34" charset="0"/>
                <a:ea typeface="Segoe UI Semibold" pitchFamily="34" charset="-122"/>
                <a:cs typeface="Segoe UI Semibold" pitchFamily="34" charset="-120"/>
              </a:rPr>
              <a:t>N = 25 M</a:t>
            </a:r>
            <a:endParaRPr lang="en-US" sz="2000" dirty="0"/>
          </a:p>
        </p:txBody>
      </p:sp>
      <p:sp>
        <p:nvSpPr>
          <p:cNvPr id="22" name="Text 20"/>
          <p:cNvSpPr txBox="1"/>
          <p:nvPr/>
        </p:nvSpPr>
        <p:spPr>
          <a:xfrm>
            <a:off x="9784080" y="1920240"/>
            <a:ext cx="1737360" cy="274320"/>
          </a:xfrm>
          <a:prstGeom prst="rect">
            <a:avLst/>
          </a:prstGeom>
          <a:noFill/>
          <a:ln/>
        </p:spPr>
        <p:txBody>
          <a:bodyPr wrap="square" lIns="0" tIns="0" rIns="0" bIns="0" rtlCol="0" anchor="t"/>
          <a:lstStyle/>
          <a:p>
            <a:pPr indent="0" marL="0">
              <a:buNone/>
            </a:pPr>
            <a:r>
              <a:rPr lang="en-US" sz="1200" dirty="0">
                <a:solidFill>
                  <a:srgbClr val="5B6470"/>
                </a:solidFill>
                <a:latin typeface="Segoe UI" pitchFamily="34" charset="0"/>
                <a:ea typeface="Segoe UI" pitchFamily="34" charset="-122"/>
                <a:cs typeface="Segoe UI" pitchFamily="34" charset="-120"/>
              </a:rPr>
              <a:t>286.10 MiB</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7406640" cy="914400"/>
        </p:xfrm>
        <a:graphic>
          <a:graphicData uri="http://schemas.openxmlformats.org/drawingml/2006/table">
            <a:tbl>
              <a:tblPr/>
              <a:tblGrid>
                <a:gridCol w="1188720"/>
                <a:gridCol w="1097280"/>
                <a:gridCol w="1325880"/>
                <a:gridCol w="1280160"/>
                <a:gridCol w="1325880"/>
                <a:gridCol w="1188720"/>
              </a:tblGrid>
              <a:tr h="365760">
                <a:tc>
                  <a:txBody>
                    <a:bodyP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N</a:t>
                      </a:r>
                      <a:endParaRPr lang="en-US" sz="12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CPU_Total</a:t>
                      </a:r>
                      <a:endParaRPr lang="en-US" sz="12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GPU_Add_Kernel</a:t>
                      </a:r>
                      <a:endParaRPr lang="en-US" sz="12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GPU_Add_Total</a:t>
                      </a:r>
                      <a:endParaRPr lang="en-US" sz="12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GPU_Mul_Kernel</a:t>
                      </a:r>
                      <a:endParaRPr lang="en-US" sz="12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GPU_Mul_Total</a:t>
                      </a:r>
                      <a:endParaRPr lang="en-US" sz="12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r>
              <a:tr h="365760">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100,000</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0.000517</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0.000017</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0.000629</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0.000016</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0.001775</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365760">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1,000,000</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0.004986</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0.000048</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0.004704</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0.000052</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0.004661</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5,000,000</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0.026466</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0.000239</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0.022191</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0.000235</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0.022584</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365760">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10,000,000</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0.048217</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0.000462</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0.044393</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0.000465</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0.044835</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25,000,000</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0.125050</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0.001147</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0.114269</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0.001179</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5181D"/>
                          </a:solidFill>
                          <a:latin typeface="Segoe UI" pitchFamily="34" charset="0"/>
                          <a:ea typeface="Segoe UI" pitchFamily="34" charset="-122"/>
                          <a:cs typeface="Segoe UI" pitchFamily="34" charset="-120"/>
                        </a:rPr>
                        <a:t>0.118446</a:t>
                      </a:r>
                      <a:endParaRPr lang="en-US" sz="12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bl>
          </a:graphicData>
        </a:graphic>
      </p:graphicFrame>
      <p:sp>
        <p:nvSpPr>
          <p:cNvPr id="24" name="Text 21"/>
          <p:cNvSpPr txBox="1"/>
          <p:nvPr/>
        </p:nvSpPr>
        <p:spPr>
          <a:xfrm>
            <a:off x="548640" y="4864608"/>
            <a:ext cx="7406640" cy="274320"/>
          </a:xfrm>
          <a:prstGeom prst="rect">
            <a:avLst/>
          </a:prstGeom>
          <a:noFill/>
          <a:ln/>
        </p:spPr>
        <p:txBody>
          <a:bodyPr wrap="square" lIns="0" tIns="0" rIns="0" bIns="0" rtlCol="0" anchor="t"/>
          <a:lstStyle/>
          <a:p>
            <a:pPr indent="0" marL="0">
              <a:buNone/>
            </a:pPr>
            <a:r>
              <a:rPr lang="en-US" sz="1100" i="1" dirty="0">
                <a:solidFill>
                  <a:srgbClr val="8A94A0"/>
                </a:solidFill>
                <a:latin typeface="Segoe UI" pitchFamily="34" charset="0"/>
                <a:ea typeface="Segoe UI" pitchFamily="34" charset="-122"/>
                <a:cs typeface="Segoe UI" pitchFamily="34" charset="-120"/>
              </a:rPr>
              <a:t>results/timing_data.csv — seconds, exactly as written by scripts/run_benchmarks.sh</a:t>
            </a:r>
            <a:endParaRPr lang="en-US" sz="1100" dirty="0"/>
          </a:p>
        </p:txBody>
      </p:sp>
      <p:sp>
        <p:nvSpPr>
          <p:cNvPr id="25" name="Text 22"/>
          <p:cNvSpPr txBox="1"/>
          <p:nvPr/>
        </p:nvSpPr>
        <p:spPr>
          <a:xfrm>
            <a:off x="548640" y="5303520"/>
            <a:ext cx="7406640" cy="731520"/>
          </a:xfrm>
          <a:prstGeom prst="rect">
            <a:avLst/>
          </a:prstGeom>
          <a:noFill/>
          <a:ln/>
        </p:spPr>
        <p:txBody>
          <a:bodyPr wrap="square" lIns="0" tIns="0" rIns="0" bIns="0" rtlCol="0" anchor="t"/>
          <a:lstStyle/>
          <a:p>
            <a:pPr indent="0" marL="0">
              <a:buNone/>
            </a:pPr>
            <a:r>
              <a:rPr lang="en-US" sz="1350" b="1" dirty="0">
                <a:solidFill>
                  <a:srgbClr val="15181D"/>
                </a:solidFill>
                <a:latin typeface="Segoe UI" pitchFamily="34" charset="0"/>
                <a:ea typeface="Segoe UI" pitchFamily="34" charset="-122"/>
                <a:cs typeface="Segoe UI" pitchFamily="34" charset="-120"/>
              </a:rPr>
              <a:t>Why these sizes: </a:t>
            </a:r>
            <a:pPr indent="0" marL="0">
              <a:buNone/>
            </a:pPr>
            <a:r>
              <a:rPr lang="en-US" sz="1350" dirty="0">
                <a:solidFill>
                  <a:srgbClr val="15181D"/>
                </a:solidFill>
                <a:latin typeface="Segoe UI" pitchFamily="34" charset="0"/>
                <a:ea typeface="Segoe UI" pitchFamily="34" charset="-122"/>
                <a:cs typeface="Segoe UI" pitchFamily="34" charset="-120"/>
              </a:rPr>
              <a:t>from 0.4 MB per vector (fits in cache, GPU barely filled) to 100 MB per vector (both processors fully streaming).</a:t>
            </a:r>
            <a:endParaRPr lang="en-US" sz="1350" dirty="0"/>
          </a:p>
        </p:txBody>
      </p:sp>
      <p:sp>
        <p:nvSpPr>
          <p:cNvPr id="26" name="Shape 23"/>
          <p:cNvSpPr/>
          <p:nvPr/>
        </p:nvSpPr>
        <p:spPr>
          <a:xfrm>
            <a:off x="8275320" y="2606040"/>
            <a:ext cx="3364992" cy="2103120"/>
          </a:xfrm>
          <a:prstGeom prst="roundRect">
            <a:avLst>
              <a:gd name="adj" fmla="val 3478"/>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sp>
        <p:nvSpPr>
          <p:cNvPr id="27" name="Text 24"/>
          <p:cNvSpPr txBox="1"/>
          <p:nvPr/>
        </p:nvSpPr>
        <p:spPr>
          <a:xfrm>
            <a:off x="8458200" y="2715768"/>
            <a:ext cx="3017520" cy="320040"/>
          </a:xfrm>
          <a:prstGeom prst="rect">
            <a:avLst/>
          </a:prstGeom>
          <a:noFill/>
          <a:ln/>
        </p:spPr>
        <p:txBody>
          <a:bodyPr wrap="square" lIns="0" tIns="0" rIns="0" bIns="0" rtlCol="0" anchor="t"/>
          <a:lstStyle/>
          <a:p>
            <a:pPr indent="0" marL="0">
              <a:buNone/>
            </a:pPr>
            <a:r>
              <a:rPr lang="en-US" sz="1400" b="1" dirty="0">
                <a:solidFill>
                  <a:srgbClr val="3F7A00"/>
                </a:solidFill>
                <a:latin typeface="Consolas" pitchFamily="34" charset="0"/>
                <a:ea typeface="Consolas" pitchFamily="34" charset="-122"/>
                <a:cs typeface="Consolas" pitchFamily="34" charset="-120"/>
              </a:rPr>
              <a:t>run_benchmarks.sh</a:t>
            </a:r>
            <a:endParaRPr lang="en-US" sz="1400" dirty="0"/>
          </a:p>
        </p:txBody>
      </p:sp>
      <p:sp>
        <p:nvSpPr>
          <p:cNvPr id="28" name="Text 25"/>
          <p:cNvSpPr txBox="1"/>
          <p:nvPr/>
        </p:nvSpPr>
        <p:spPr>
          <a:xfrm>
            <a:off x="8458200" y="3090672"/>
            <a:ext cx="3063240" cy="1554480"/>
          </a:xfrm>
          <a:prstGeom prst="rect">
            <a:avLst/>
          </a:prstGeom>
          <a:noFill/>
          <a:ln/>
        </p:spPr>
        <p:txBody>
          <a:bodyPr wrap="square" lIns="0" tIns="0" rIns="0" bIns="0" rtlCol="0" anchor="t"/>
          <a:lstStyle/>
          <a:p>
            <a:pPr indent="0" marL="0">
              <a:spcAft>
                <a:spcPts val="200"/>
              </a:spcAft>
              <a:buNone/>
            </a:pPr>
            <a:r>
              <a:rPr lang="en-US" sz="1250" dirty="0">
                <a:solidFill>
                  <a:srgbClr val="2D333B"/>
                </a:solidFill>
                <a:latin typeface="Segoe UI" pitchFamily="34" charset="0"/>
                <a:ea typeface="Segoe UI" pitchFamily="34" charset="-122"/>
                <a:cs typeface="Segoe UI" pitchFamily="34" charset="-120"/>
              </a:rPr>
              <a:t>for each N in the 5 sizes:</a:t>
            </a:r>
            <a:endParaRPr lang="en-US" sz="1250" dirty="0"/>
          </a:p>
          <a:p>
            <a:pPr marL="342900" indent="-342900">
              <a:spcAft>
                <a:spcPts val="200"/>
              </a:spcAft>
              <a:buSzPct val="100000"/>
              <a:buChar char="•"/>
            </a:pPr>
            <a:r>
              <a:rPr lang="en-US" sz="1250" dirty="0">
                <a:solidFill>
                  <a:srgbClr val="2D333B"/>
                </a:solidFill>
                <a:latin typeface="Segoe UI" pitchFamily="34" charset="0"/>
                <a:ea typeface="Segoe UI" pitchFamily="34" charset="-122"/>
                <a:cs typeface="Segoe UI" pitchFamily="34" charset="-120"/>
              </a:rPr>
              <a:t>run ./bin/vector_cpu N</a:t>
            </a:r>
            <a:endParaRPr lang="en-US" sz="1250" dirty="0"/>
          </a:p>
          <a:p>
            <a:pPr marL="342900" indent="-342900">
              <a:spcAft>
                <a:spcPts val="200"/>
              </a:spcAft>
              <a:buSzPct val="100000"/>
              <a:buChar char="•"/>
            </a:pPr>
            <a:r>
              <a:rPr lang="en-US" sz="1250" dirty="0">
                <a:solidFill>
                  <a:srgbClr val="2D333B"/>
                </a:solidFill>
                <a:latin typeface="Segoe UI" pitchFamily="34" charset="0"/>
                <a:ea typeface="Segoe UI" pitchFamily="34" charset="-122"/>
                <a:cs typeface="Segoe UI" pitchFamily="34" charset="-120"/>
              </a:rPr>
              <a:t>run ./bin/vector_cuda N</a:t>
            </a:r>
            <a:endParaRPr lang="en-US" sz="1250" dirty="0"/>
          </a:p>
          <a:p>
            <a:pPr marL="342900" indent="-342900">
              <a:spcAft>
                <a:spcPts val="200"/>
              </a:spcAft>
              <a:buSzPct val="100000"/>
              <a:buChar char="•"/>
            </a:pPr>
            <a:r>
              <a:rPr lang="en-US" sz="1250" dirty="0">
                <a:solidFill>
                  <a:srgbClr val="2D333B"/>
                </a:solidFill>
                <a:latin typeface="Segoe UI" pitchFamily="34" charset="0"/>
                <a:ea typeface="Segoe UI" pitchFamily="34" charset="-122"/>
                <a:cs typeface="Segoe UI" pitchFamily="34" charset="-120"/>
              </a:rPr>
              <a:t>grep + awk the timing lines</a:t>
            </a:r>
            <a:endParaRPr lang="en-US" sz="1250" dirty="0"/>
          </a:p>
          <a:p>
            <a:pPr marL="342900" indent="-342900">
              <a:spcAft>
                <a:spcPts val="200"/>
              </a:spcAft>
              <a:buSzPct val="100000"/>
              <a:buChar char="•"/>
            </a:pPr>
            <a:r>
              <a:rPr lang="en-US" sz="1250" dirty="0">
                <a:solidFill>
                  <a:srgbClr val="2D333B"/>
                </a:solidFill>
                <a:latin typeface="Segoe UI" pitchFamily="34" charset="0"/>
                <a:ea typeface="Segoe UI" pitchFamily="34" charset="-122"/>
                <a:cs typeface="Segoe UI" pitchFamily="34" charset="-120"/>
              </a:rPr>
              <a:t>append one row to the CSV</a:t>
            </a:r>
            <a:endParaRPr lang="en-US" sz="1250" dirty="0"/>
          </a:p>
        </p:txBody>
      </p:sp>
      <p:sp>
        <p:nvSpPr>
          <p:cNvPr id="29" name="Shape 26"/>
          <p:cNvSpPr/>
          <p:nvPr/>
        </p:nvSpPr>
        <p:spPr>
          <a:xfrm>
            <a:off x="8275320" y="4892040"/>
            <a:ext cx="3364992" cy="1371600"/>
          </a:xfrm>
          <a:prstGeom prst="roundRect">
            <a:avLst>
              <a:gd name="adj" fmla="val 5333"/>
            </a:avLst>
          </a:prstGeom>
          <a:solidFill>
            <a:srgbClr val="EEF6E0"/>
          </a:solidFill>
          <a:ln w="6350">
            <a:solidFill>
              <a:srgbClr val="EEF6E0"/>
            </a:solidFill>
            <a:prstDash val="solid"/>
          </a:ln>
        </p:spPr>
      </p:sp>
      <p:sp>
        <p:nvSpPr>
          <p:cNvPr id="30" name="Text 27"/>
          <p:cNvSpPr txBox="1"/>
          <p:nvPr/>
        </p:nvSpPr>
        <p:spPr>
          <a:xfrm>
            <a:off x="8458200" y="4983480"/>
            <a:ext cx="3063240" cy="292608"/>
          </a:xfrm>
          <a:prstGeom prst="rect">
            <a:avLst/>
          </a:prstGeom>
          <a:noFill/>
          <a:ln/>
        </p:spPr>
        <p:txBody>
          <a:bodyPr wrap="square" lIns="0" tIns="0" rIns="0" bIns="0" rtlCol="0" anchor="t"/>
          <a:lstStyle/>
          <a:p>
            <a:pPr indent="0" marL="0">
              <a:buNone/>
            </a:pPr>
            <a:r>
              <a:rPr lang="en-US" sz="1300" b="1" dirty="0">
                <a:solidFill>
                  <a:srgbClr val="15181D"/>
                </a:solidFill>
                <a:latin typeface="Segoe UI Semibold" pitchFamily="34" charset="0"/>
                <a:ea typeface="Segoe UI Semibold" pitchFamily="34" charset="-122"/>
                <a:cs typeface="Segoe UI Semibold" pitchFamily="34" charset="-120"/>
              </a:rPr>
              <a:t>Repeatability check, N = 10⁷</a:t>
            </a:r>
            <a:endParaRPr lang="en-US" sz="1300" dirty="0"/>
          </a:p>
        </p:txBody>
      </p:sp>
      <p:sp>
        <p:nvSpPr>
          <p:cNvPr id="31" name="Text 28"/>
          <p:cNvSpPr txBox="1"/>
          <p:nvPr/>
        </p:nvSpPr>
        <p:spPr>
          <a:xfrm>
            <a:off x="8458200" y="5303520"/>
            <a:ext cx="3108960" cy="914400"/>
          </a:xfrm>
          <a:prstGeom prst="rect">
            <a:avLst/>
          </a:prstGeom>
          <a:noFill/>
          <a:ln/>
        </p:spPr>
        <p:txBody>
          <a:bodyPr wrap="square" lIns="0" tIns="0" rIns="0" bIns="0" rtlCol="0" anchor="t"/>
          <a:lstStyle/>
          <a:p>
            <a:pPr indent="0" marL="0">
              <a:buNone/>
            </a:pPr>
            <a:r>
              <a:rPr lang="en-US" sz="1200" dirty="0">
                <a:solidFill>
                  <a:srgbClr val="2D333B"/>
                </a:solidFill>
                <a:latin typeface="Segoe UI" pitchFamily="34" charset="0"/>
                <a:ea typeface="Segoe UI" pitchFamily="34" charset="-122"/>
                <a:cs typeface="Segoe UI" pitchFamily="34" charset="-120"/>
              </a:rPr>
              <a:t>CPU 48.742 vs 48.217 ms (1.1 %)</a:t>
            </a:r>
            <a:endParaRPr lang="en-US" sz="1200" dirty="0"/>
          </a:p>
          <a:p>
            <a:pPr indent="0" marL="0">
              <a:buNone/>
            </a:pPr>
            <a:r>
              <a:rPr lang="en-US" sz="1200" dirty="0">
                <a:solidFill>
                  <a:srgbClr val="2D333B"/>
                </a:solidFill>
                <a:latin typeface="Segoe UI" pitchFamily="34" charset="0"/>
                <a:ea typeface="Segoe UI" pitchFamily="34" charset="-122"/>
                <a:cs typeface="Segoe UI" pitchFamily="34" charset="-120"/>
              </a:rPr>
              <a:t>Add kernel 0.456 vs 0.462 ms (1.3 %)</a:t>
            </a:r>
            <a:endParaRPr lang="en-US" sz="1200" dirty="0"/>
          </a:p>
          <a:p>
            <a:pPr indent="0" marL="0">
              <a:buNone/>
            </a:pPr>
            <a:r>
              <a:rPr lang="en-US" sz="1200" dirty="0">
                <a:solidFill>
                  <a:srgbClr val="2D333B"/>
                </a:solidFill>
                <a:latin typeface="Segoe UI" pitchFamily="34" charset="0"/>
                <a:ea typeface="Segoe UI" pitchFamily="34" charset="-122"/>
                <a:cs typeface="Segoe UI" pitchFamily="34" charset="-120"/>
              </a:rPr>
              <a:t>Screenshot 02 run vs benchmark run</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The kernel wins by ~54×; end to end, the GPU never wins</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CONSOLIDATED RESULTS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325880"/>
                <a:gridCol w="1097280"/>
                <a:gridCol w="1417320"/>
                <a:gridCol w="1691640"/>
                <a:gridCol w="1371600"/>
                <a:gridCol w="1554480"/>
                <a:gridCol w="1417320"/>
                <a:gridCol w="1216152"/>
              </a:tblGrid>
              <a:tr h="384048">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N</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CPU (ms)</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GPU kernel (ms)</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GPU end-to-end (ms)</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Kernel speedup</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End-to-end speedup</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Kernel BW (GB/s)</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PCIe share</a:t>
                      </a:r>
                      <a:endParaRPr lang="en-US" sz="125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r>
              <a:tr h="384048">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0.517</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0.033</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2.404</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b="1" dirty="0">
                          <a:solidFill>
                            <a:srgbClr val="3F7A00"/>
                          </a:solidFill>
                          <a:latin typeface="Segoe UI" pitchFamily="34" charset="0"/>
                          <a:ea typeface="Segoe UI" pitchFamily="34" charset="-122"/>
                          <a:cs typeface="Segoe UI" pitchFamily="34" charset="-120"/>
                        </a:rPr>
                        <a:t>15.67×</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b="1" dirty="0">
                          <a:solidFill>
                            <a:srgbClr val="B45309"/>
                          </a:solidFill>
                          <a:latin typeface="Segoe UI" pitchFamily="34" charset="0"/>
                          <a:ea typeface="Segoe UI" pitchFamily="34" charset="-122"/>
                          <a:cs typeface="Segoe UI" pitchFamily="34" charset="-120"/>
                        </a:rPr>
                        <a:t>0.215×</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72.7</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98.63 %</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384048">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4.986</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0.100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9.365</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3F7A00"/>
                          </a:solidFill>
                          <a:latin typeface="Segoe UI" pitchFamily="34" charset="0"/>
                          <a:ea typeface="Segoe UI" pitchFamily="34" charset="-122"/>
                          <a:cs typeface="Segoe UI" pitchFamily="34" charset="-120"/>
                        </a:rPr>
                        <a:t>49.86×</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45309"/>
                          </a:solidFill>
                          <a:latin typeface="Segoe UI" pitchFamily="34" charset="0"/>
                          <a:ea typeface="Segoe UI" pitchFamily="34" charset="-122"/>
                          <a:cs typeface="Segoe UI" pitchFamily="34" charset="-120"/>
                        </a:rPr>
                        <a:t>0.532×</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240.0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98.93 %</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5,000,000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26.466</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0.474</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44.775</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b="1" dirty="0">
                          <a:solidFill>
                            <a:srgbClr val="3F7A00"/>
                          </a:solidFill>
                          <a:latin typeface="Segoe UI" pitchFamily="34" charset="0"/>
                          <a:ea typeface="Segoe UI" pitchFamily="34" charset="-122"/>
                          <a:cs typeface="Segoe UI" pitchFamily="34" charset="-120"/>
                        </a:rPr>
                        <a:t>55.84×</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b="1" dirty="0">
                          <a:solidFill>
                            <a:srgbClr val="B45309"/>
                          </a:solidFill>
                          <a:latin typeface="Segoe UI" pitchFamily="34" charset="0"/>
                          <a:ea typeface="Segoe UI" pitchFamily="34" charset="-122"/>
                          <a:cs typeface="Segoe UI" pitchFamily="34" charset="-120"/>
                        </a:rPr>
                        <a:t>0.591×</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253.2</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98.94 %</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384048">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10,000,000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48.217</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0.927</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89.228</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3F7A00"/>
                          </a:solidFill>
                          <a:latin typeface="Segoe UI" pitchFamily="34" charset="0"/>
                          <a:ea typeface="Segoe UI" pitchFamily="34" charset="-122"/>
                          <a:cs typeface="Segoe UI" pitchFamily="34" charset="-120"/>
                        </a:rPr>
                        <a:t>52.01×</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45309"/>
                          </a:solidFill>
                          <a:latin typeface="Segoe UI" pitchFamily="34" charset="0"/>
                          <a:ea typeface="Segoe UI" pitchFamily="34" charset="-122"/>
                          <a:cs typeface="Segoe UI" pitchFamily="34" charset="-120"/>
                        </a:rPr>
                        <a:t>0.540×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258.9</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98.96 %</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25,000,000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125.050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2.326</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232.715</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b="1" dirty="0">
                          <a:solidFill>
                            <a:srgbClr val="3F7A00"/>
                          </a:solidFill>
                          <a:latin typeface="Segoe UI" pitchFamily="34" charset="0"/>
                          <a:ea typeface="Segoe UI" pitchFamily="34" charset="-122"/>
                          <a:cs typeface="Segoe UI" pitchFamily="34" charset="-120"/>
                        </a:rPr>
                        <a:t>53.76×</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b="1" dirty="0">
                          <a:solidFill>
                            <a:srgbClr val="B45309"/>
                          </a:solidFill>
                          <a:latin typeface="Segoe UI" pitchFamily="34" charset="0"/>
                          <a:ea typeface="Segoe UI" pitchFamily="34" charset="-122"/>
                          <a:cs typeface="Segoe UI" pitchFamily="34" charset="-120"/>
                        </a:rPr>
                        <a:t>0.537×</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258.0</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250" dirty="0">
                          <a:solidFill>
                            <a:srgbClr val="15181D"/>
                          </a:solidFill>
                          <a:latin typeface="Segoe UI" pitchFamily="34" charset="0"/>
                          <a:ea typeface="Segoe UI" pitchFamily="34" charset="-122"/>
                          <a:cs typeface="Segoe UI" pitchFamily="34" charset="-120"/>
                        </a:rPr>
                        <a:t>99.00 %</a:t>
                      </a:r>
                      <a:endParaRPr lang="en-US" sz="125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bl>
          </a:graphicData>
        </a:graphic>
      </p:graphicFrame>
      <p:sp>
        <p:nvSpPr>
          <p:cNvPr id="5" name="Text 2"/>
          <p:cNvSpPr txBox="1"/>
          <p:nvPr/>
        </p:nvSpPr>
        <p:spPr>
          <a:xfrm>
            <a:off x="548640" y="3840480"/>
            <a:ext cx="11064240" cy="274320"/>
          </a:xfrm>
          <a:prstGeom prst="rect">
            <a:avLst/>
          </a:prstGeom>
          <a:noFill/>
          <a:ln/>
        </p:spPr>
        <p:txBody>
          <a:bodyPr wrap="square" lIns="0" tIns="0" rIns="0" bIns="0" rtlCol="0" anchor="t"/>
          <a:lstStyle/>
          <a:p>
            <a:pPr indent="0" marL="0">
              <a:buNone/>
            </a:pPr>
            <a:r>
              <a:rPr lang="en-US" sz="1100" i="1" dirty="0">
                <a:solidFill>
                  <a:srgbClr val="8A94A0"/>
                </a:solidFill>
                <a:latin typeface="Segoe UI" pitchFamily="34" charset="0"/>
                <a:ea typeface="Segoe UI" pitchFamily="34" charset="-122"/>
                <a:cs typeface="Segoe UI" pitchFamily="34" charset="-120"/>
              </a:rPr>
              <a:t>GPU times are add phase + mul phase. Correctness: 3.00 / 2.00 in the verification run; the same binaries were used for every size.</a:t>
            </a:r>
            <a:endParaRPr lang="en-US" sz="1100" dirty="0"/>
          </a:p>
        </p:txBody>
      </p:sp>
      <p:sp>
        <p:nvSpPr>
          <p:cNvPr id="6" name="Shape 3"/>
          <p:cNvSpPr/>
          <p:nvPr/>
        </p:nvSpPr>
        <p:spPr>
          <a:xfrm>
            <a:off x="548640" y="4343400"/>
            <a:ext cx="2606040" cy="1874520"/>
          </a:xfrm>
          <a:prstGeom prst="roundRect">
            <a:avLst>
              <a:gd name="adj" fmla="val 3902"/>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7" name="Text 4"/>
          <p:cNvSpPr txBox="1"/>
          <p:nvPr/>
        </p:nvSpPr>
        <p:spPr>
          <a:xfrm>
            <a:off x="777240" y="4507992"/>
            <a:ext cx="2148840" cy="640080"/>
          </a:xfrm>
          <a:prstGeom prst="rect">
            <a:avLst/>
          </a:prstGeom>
          <a:noFill/>
          <a:ln/>
        </p:spPr>
        <p:txBody>
          <a:bodyPr wrap="square" lIns="0" tIns="0" rIns="0" bIns="0" rtlCol="0" anchor="ctr"/>
          <a:lstStyle/>
          <a:p>
            <a:pPr indent="0" marL="0">
              <a:buNone/>
            </a:pPr>
            <a:r>
              <a:rPr lang="en-US" sz="2800" b="1" dirty="0">
                <a:solidFill>
                  <a:srgbClr val="3F7A00"/>
                </a:solidFill>
                <a:latin typeface="Segoe UI Semibold" pitchFamily="34" charset="0"/>
                <a:ea typeface="Segoe UI Semibold" pitchFamily="34" charset="-122"/>
                <a:cs typeface="Segoe UI Semibold" pitchFamily="34" charset="-120"/>
              </a:rPr>
              <a:t>55.84×</a:t>
            </a:r>
            <a:endParaRPr lang="en-US" sz="2800" dirty="0"/>
          </a:p>
        </p:txBody>
      </p:sp>
      <p:sp>
        <p:nvSpPr>
          <p:cNvPr id="8" name="Text 5"/>
          <p:cNvSpPr txBox="1"/>
          <p:nvPr/>
        </p:nvSpPr>
        <p:spPr>
          <a:xfrm>
            <a:off x="777240" y="5166360"/>
            <a:ext cx="2148840" cy="96012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peak kernel speedup (N = 5 M); 49.9–55.8× for N ≥ 10⁶</a:t>
            </a:r>
            <a:endParaRPr lang="en-US" sz="1300" dirty="0"/>
          </a:p>
        </p:txBody>
      </p:sp>
      <p:sp>
        <p:nvSpPr>
          <p:cNvPr id="9" name="Shape 6"/>
          <p:cNvSpPr/>
          <p:nvPr/>
        </p:nvSpPr>
        <p:spPr>
          <a:xfrm>
            <a:off x="3383280" y="4343400"/>
            <a:ext cx="2606040" cy="1874520"/>
          </a:xfrm>
          <a:prstGeom prst="roundRect">
            <a:avLst>
              <a:gd name="adj" fmla="val 3902"/>
            </a:avLst>
          </a:prstGeom>
          <a:solidFill>
            <a:srgbClr val="FDEEDF"/>
          </a:solidFill>
          <a:ln w="6350">
            <a:solidFill>
              <a:srgbClr val="FDEEDF"/>
            </a:solidFill>
            <a:prstDash val="solid"/>
          </a:ln>
          <a:effectLst>
            <a:outerShdw sx="100000" sy="100000" kx="0" ky="0" algn="bl" rotWithShape="0" blurRad="88900" dist="25400" dir="5400000">
              <a:srgbClr val="000000">
                <a:alpha val="12000"/>
              </a:srgbClr>
            </a:outerShdw>
          </a:effectLst>
        </p:spPr>
      </p:sp>
      <p:sp>
        <p:nvSpPr>
          <p:cNvPr id="10" name="Text 7"/>
          <p:cNvSpPr txBox="1"/>
          <p:nvPr/>
        </p:nvSpPr>
        <p:spPr>
          <a:xfrm>
            <a:off x="3611880" y="4507992"/>
            <a:ext cx="2148840" cy="640080"/>
          </a:xfrm>
          <a:prstGeom prst="rect">
            <a:avLst/>
          </a:prstGeom>
          <a:noFill/>
          <a:ln/>
        </p:spPr>
        <p:txBody>
          <a:bodyPr wrap="square" lIns="0" tIns="0" rIns="0" bIns="0" rtlCol="0" anchor="ctr"/>
          <a:lstStyle/>
          <a:p>
            <a:pPr indent="0" marL="0">
              <a:buNone/>
            </a:pPr>
            <a:r>
              <a:rPr lang="en-US" sz="2800" b="1" dirty="0">
                <a:solidFill>
                  <a:srgbClr val="E8710A"/>
                </a:solidFill>
                <a:latin typeface="Segoe UI Semibold" pitchFamily="34" charset="0"/>
                <a:ea typeface="Segoe UI Semibold" pitchFamily="34" charset="-122"/>
                <a:cs typeface="Segoe UI Semibold" pitchFamily="34" charset="-120"/>
              </a:rPr>
              <a:t>0.215–0.591×</a:t>
            </a:r>
            <a:endParaRPr lang="en-US" sz="2800" dirty="0"/>
          </a:p>
        </p:txBody>
      </p:sp>
      <p:sp>
        <p:nvSpPr>
          <p:cNvPr id="11" name="Text 8"/>
          <p:cNvSpPr txBox="1"/>
          <p:nvPr/>
        </p:nvSpPr>
        <p:spPr>
          <a:xfrm>
            <a:off x="3611880" y="5166360"/>
            <a:ext cx="2148840" cy="96012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end-to-end speedup: the GPU is slower at every size</a:t>
            </a:r>
            <a:endParaRPr lang="en-US" sz="1300" dirty="0"/>
          </a:p>
        </p:txBody>
      </p:sp>
      <p:sp>
        <p:nvSpPr>
          <p:cNvPr id="12" name="Shape 9"/>
          <p:cNvSpPr/>
          <p:nvPr/>
        </p:nvSpPr>
        <p:spPr>
          <a:xfrm>
            <a:off x="6217920" y="4343400"/>
            <a:ext cx="2606040" cy="1874520"/>
          </a:xfrm>
          <a:prstGeom prst="roundRect">
            <a:avLst>
              <a:gd name="adj" fmla="val 3902"/>
            </a:avLst>
          </a:prstGeom>
          <a:solidFill>
            <a:srgbClr val="E4EEF8"/>
          </a:solidFill>
          <a:ln w="6350">
            <a:solidFill>
              <a:srgbClr val="E4EEF8"/>
            </a:solidFill>
            <a:prstDash val="solid"/>
          </a:ln>
          <a:effectLst>
            <a:outerShdw sx="100000" sy="100000" kx="0" ky="0" algn="bl" rotWithShape="0" blurRad="88900" dist="25400" dir="5400000">
              <a:srgbClr val="000000">
                <a:alpha val="12000"/>
              </a:srgbClr>
            </a:outerShdw>
          </a:effectLst>
        </p:spPr>
      </p:sp>
      <p:sp>
        <p:nvSpPr>
          <p:cNvPr id="13" name="Text 10"/>
          <p:cNvSpPr txBox="1"/>
          <p:nvPr/>
        </p:nvSpPr>
        <p:spPr>
          <a:xfrm>
            <a:off x="6446520" y="4507992"/>
            <a:ext cx="2148840" cy="640080"/>
          </a:xfrm>
          <a:prstGeom prst="rect">
            <a:avLst/>
          </a:prstGeom>
          <a:noFill/>
          <a:ln/>
        </p:spPr>
        <p:txBody>
          <a:bodyPr wrap="square" lIns="0" tIns="0" rIns="0" bIns="0" rtlCol="0" anchor="ctr"/>
          <a:lstStyle/>
          <a:p>
            <a:pPr indent="0" marL="0">
              <a:buNone/>
            </a:pPr>
            <a:r>
              <a:rPr lang="en-US" sz="2800" b="1" dirty="0">
                <a:solidFill>
                  <a:srgbClr val="1F6FB2"/>
                </a:solidFill>
                <a:latin typeface="Segoe UI Semibold" pitchFamily="34" charset="0"/>
                <a:ea typeface="Segoe UI Semibold" pitchFamily="34" charset="-122"/>
                <a:cs typeface="Segoe UI Semibold" pitchFamily="34" charset="-120"/>
              </a:rPr>
              <a:t>≈ 258 GB/s</a:t>
            </a:r>
            <a:endParaRPr lang="en-US" sz="2800" dirty="0"/>
          </a:p>
        </p:txBody>
      </p:sp>
      <p:sp>
        <p:nvSpPr>
          <p:cNvPr id="14" name="Text 11"/>
          <p:cNvSpPr txBox="1"/>
          <p:nvPr/>
        </p:nvSpPr>
        <p:spPr>
          <a:xfrm>
            <a:off x="6446520" y="5166360"/>
            <a:ext cx="2148840" cy="96012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kernel bandwidth at N ≥ 10⁷: 80.6 % of the T4's 320 GB/s</a:t>
            </a:r>
            <a:endParaRPr lang="en-US" sz="1300" dirty="0"/>
          </a:p>
        </p:txBody>
      </p:sp>
      <p:sp>
        <p:nvSpPr>
          <p:cNvPr id="15" name="Shape 12"/>
          <p:cNvSpPr/>
          <p:nvPr/>
        </p:nvSpPr>
        <p:spPr>
          <a:xfrm>
            <a:off x="9052560" y="4343400"/>
            <a:ext cx="2606040" cy="1874520"/>
          </a:xfrm>
          <a:prstGeom prst="roundRect">
            <a:avLst>
              <a:gd name="adj" fmla="val 3902"/>
            </a:avLst>
          </a:prstGeom>
          <a:solidFill>
            <a:srgbClr val="FBE6E3"/>
          </a:solidFill>
          <a:ln w="6350">
            <a:solidFill>
              <a:srgbClr val="FBE6E3"/>
            </a:solidFill>
            <a:prstDash val="solid"/>
          </a:ln>
          <a:effectLst>
            <a:outerShdw sx="100000" sy="100000" kx="0" ky="0" algn="bl" rotWithShape="0" blurRad="88900" dist="25400" dir="5400000">
              <a:srgbClr val="000000">
                <a:alpha val="12000"/>
              </a:srgbClr>
            </a:outerShdw>
          </a:effectLst>
        </p:spPr>
      </p:sp>
      <p:sp>
        <p:nvSpPr>
          <p:cNvPr id="16" name="Text 13"/>
          <p:cNvSpPr txBox="1"/>
          <p:nvPr/>
        </p:nvSpPr>
        <p:spPr>
          <a:xfrm>
            <a:off x="9281160" y="4507992"/>
            <a:ext cx="2148840" cy="640080"/>
          </a:xfrm>
          <a:prstGeom prst="rect">
            <a:avLst/>
          </a:prstGeom>
          <a:noFill/>
          <a:ln/>
        </p:spPr>
        <p:txBody>
          <a:bodyPr wrap="square" lIns="0" tIns="0" rIns="0" bIns="0" rtlCol="0" anchor="ctr"/>
          <a:lstStyle/>
          <a:p>
            <a:pPr indent="0" marL="0">
              <a:buNone/>
            </a:pPr>
            <a:r>
              <a:rPr lang="en-US" sz="2800" b="1" dirty="0">
                <a:solidFill>
                  <a:srgbClr val="D33A2C"/>
                </a:solidFill>
                <a:latin typeface="Segoe UI Semibold" pitchFamily="34" charset="0"/>
                <a:ea typeface="Segoe UI Semibold" pitchFamily="34" charset="-122"/>
                <a:cs typeface="Segoe UI Semibold" pitchFamily="34" charset="-120"/>
              </a:rPr>
              <a:t>98.6–99.0 %</a:t>
            </a:r>
            <a:endParaRPr lang="en-US" sz="2800" dirty="0"/>
          </a:p>
        </p:txBody>
      </p:sp>
      <p:sp>
        <p:nvSpPr>
          <p:cNvPr id="17" name="Text 14"/>
          <p:cNvSpPr txBox="1"/>
          <p:nvPr/>
        </p:nvSpPr>
        <p:spPr>
          <a:xfrm>
            <a:off x="9281160" y="5166360"/>
            <a:ext cx="2148840" cy="96012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share of GPU time spent copying over PCIe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Execution time: no crossover in the measured range</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4  ·  PERFORMANCE ANALYSIS</a:t>
            </a:r>
            <a:endParaRPr lang="en-US" sz="1100" dirty="0"/>
          </a:p>
        </p:txBody>
      </p:sp>
      <p:sp>
        <p:nvSpPr>
          <p:cNvPr id="4" name="Shape 2"/>
          <p:cNvSpPr/>
          <p:nvPr/>
        </p:nvSpPr>
        <p:spPr>
          <a:xfrm>
            <a:off x="548640" y="1417320"/>
            <a:ext cx="6766560" cy="4823812"/>
          </a:xfrm>
          <a:prstGeom prst="roundRect">
            <a:avLst>
              <a:gd name="adj" fmla="val 1516"/>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pic>
        <p:nvPicPr>
          <p:cNvPr id="5" name="Image 0" descr="Fig. 1 — Execution time vs vector size (log–log)">    </p:cNvPr>
          <p:cNvPicPr>
            <a:picLocks noChangeAspect="1"/>
          </p:cNvPicPr>
          <p:nvPr/>
        </p:nvPicPr>
        <p:blipFill>
          <a:blip r:embed="rId1"/>
          <a:stretch>
            <a:fillRect/>
          </a:stretch>
        </p:blipFill>
        <p:spPr>
          <a:xfrm>
            <a:off x="640080" y="1508760"/>
            <a:ext cx="6583680" cy="4330036"/>
          </a:xfrm>
          <a:prstGeom prst="rect">
            <a:avLst/>
          </a:prstGeom>
        </p:spPr>
      </p:pic>
      <p:sp>
        <p:nvSpPr>
          <p:cNvPr id="6" name="Text 3"/>
          <p:cNvSpPr txBox="1"/>
          <p:nvPr/>
        </p:nvSpPr>
        <p:spPr>
          <a:xfrm>
            <a:off x="685800" y="5857084"/>
            <a:ext cx="6492240" cy="274320"/>
          </a:xfrm>
          <a:prstGeom prst="rect">
            <a:avLst/>
          </a:prstGeom>
          <a:noFill/>
          <a:ln/>
        </p:spPr>
        <p:txBody>
          <a:bodyPr wrap="square" lIns="0" tIns="0" rIns="0" bIns="0" rtlCol="0" anchor="ctr"/>
          <a:lstStyle/>
          <a:p>
            <a:pPr indent="0" marL="0">
              <a:buNone/>
            </a:pPr>
            <a:r>
              <a:rPr lang="en-US" sz="1050" i="1" dirty="0">
                <a:solidFill>
                  <a:srgbClr val="5B6470"/>
                </a:solidFill>
                <a:latin typeface="Segoe UI" pitchFamily="34" charset="0"/>
                <a:ea typeface="Segoe UI" pitchFamily="34" charset="-122"/>
                <a:cs typeface="Segoe UI" pitchFamily="34" charset="-120"/>
              </a:rPr>
              <a:t>Fig. 1 — Execution time vs vector size (log–log)</a:t>
            </a:r>
            <a:endParaRPr lang="en-US" sz="1050" dirty="0"/>
          </a:p>
        </p:txBody>
      </p:sp>
      <p:sp>
        <p:nvSpPr>
          <p:cNvPr id="7" name="Shape 4"/>
          <p:cNvSpPr/>
          <p:nvPr/>
        </p:nvSpPr>
        <p:spPr>
          <a:xfrm>
            <a:off x="7635240" y="1572768"/>
            <a:ext cx="329184" cy="329184"/>
          </a:xfrm>
          <a:prstGeom prst="ellipse">
            <a:avLst/>
          </a:prstGeom>
          <a:solidFill>
            <a:srgbClr val="76B900"/>
          </a:solidFill>
          <a:ln w="6350">
            <a:solidFill>
              <a:srgbClr val="76B900"/>
            </a:solidFill>
            <a:prstDash val="solid"/>
          </a:ln>
        </p:spPr>
      </p:sp>
      <p:sp>
        <p:nvSpPr>
          <p:cNvPr id="8" name="Text 5"/>
          <p:cNvSpPr txBox="1"/>
          <p:nvPr/>
        </p:nvSpPr>
        <p:spPr>
          <a:xfrm>
            <a:off x="7635240" y="1572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9" name="Text 6"/>
          <p:cNvSpPr txBox="1"/>
          <p:nvPr/>
        </p:nvSpPr>
        <p:spPr>
          <a:xfrm>
            <a:off x="8110728" y="1554480"/>
            <a:ext cx="3529584" cy="1069848"/>
          </a:xfrm>
          <a:prstGeom prst="rect">
            <a:avLst/>
          </a:prstGeom>
          <a:noFill/>
          <a:ln/>
        </p:spPr>
        <p:txBody>
          <a:bodyPr wrap="square" lIns="0" tIns="0" rIns="0" bIns="0" rtlCol="0" anchor="t"/>
          <a:lstStyle/>
          <a:p>
            <a:pPr indent="0" marL="0">
              <a:buNone/>
            </a:pPr>
            <a:r>
              <a:rPr lang="en-US" sz="1350" b="1" dirty="0">
                <a:solidFill>
                  <a:srgbClr val="15181D"/>
                </a:solidFill>
                <a:latin typeface="Segoe UI" pitchFamily="34" charset="0"/>
                <a:ea typeface="Segoe UI" pitchFamily="34" charset="-122"/>
                <a:cs typeface="Segoe UI" pitchFamily="34" charset="-120"/>
              </a:rPr>
              <a:t>CPU (red) has slope 1: </a:t>
            </a:r>
            <a:pPr indent="0" marL="0">
              <a:buNone/>
            </a:pPr>
            <a:r>
              <a:rPr lang="en-US" sz="1350" dirty="0">
                <a:solidFill>
                  <a:srgbClr val="2D333B"/>
                </a:solidFill>
                <a:latin typeface="Segoe UI" pitchFamily="34" charset="0"/>
                <a:ea typeface="Segoe UI" pitchFamily="34" charset="-122"/>
                <a:cs typeface="Segoe UI" pitchFamily="34" charset="-120"/>
              </a:rPr>
              <a:t>250× more data took 241.9× more time — linear, as expected.</a:t>
            </a:r>
            <a:endParaRPr lang="en-US" sz="1350" dirty="0"/>
          </a:p>
        </p:txBody>
      </p:sp>
      <p:sp>
        <p:nvSpPr>
          <p:cNvPr id="10" name="Shape 7"/>
          <p:cNvSpPr/>
          <p:nvPr/>
        </p:nvSpPr>
        <p:spPr>
          <a:xfrm>
            <a:off x="7635240" y="2715768"/>
            <a:ext cx="329184" cy="329184"/>
          </a:xfrm>
          <a:prstGeom prst="ellipse">
            <a:avLst/>
          </a:prstGeom>
          <a:solidFill>
            <a:srgbClr val="76B900"/>
          </a:solidFill>
          <a:ln w="6350">
            <a:solidFill>
              <a:srgbClr val="76B900"/>
            </a:solidFill>
            <a:prstDash val="solid"/>
          </a:ln>
        </p:spPr>
      </p:sp>
      <p:sp>
        <p:nvSpPr>
          <p:cNvPr id="11" name="Text 8"/>
          <p:cNvSpPr txBox="1"/>
          <p:nvPr/>
        </p:nvSpPr>
        <p:spPr>
          <a:xfrm>
            <a:off x="7635240" y="2715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2" name="Text 9"/>
          <p:cNvSpPr txBox="1"/>
          <p:nvPr/>
        </p:nvSpPr>
        <p:spPr>
          <a:xfrm>
            <a:off x="8110728" y="2697480"/>
            <a:ext cx="3529584" cy="1069848"/>
          </a:xfrm>
          <a:prstGeom prst="rect">
            <a:avLst/>
          </a:prstGeom>
          <a:noFill/>
          <a:ln/>
        </p:spPr>
        <p:txBody>
          <a:bodyPr wrap="square" lIns="0" tIns="0" rIns="0" bIns="0" rtlCol="0" anchor="t"/>
          <a:lstStyle/>
          <a:p>
            <a:pPr indent="0" marL="0">
              <a:buNone/>
            </a:pPr>
            <a:r>
              <a:rPr lang="en-US" sz="1350" b="1" dirty="0">
                <a:solidFill>
                  <a:srgbClr val="15181D"/>
                </a:solidFill>
                <a:latin typeface="Segoe UI" pitchFamily="34" charset="0"/>
                <a:ea typeface="Segoe UI" pitchFamily="34" charset="-122"/>
                <a:cs typeface="Segoe UI" pitchFamily="34" charset="-120"/>
              </a:rPr>
              <a:t>GPU kernel (green) </a:t>
            </a:r>
            <a:pPr indent="0" marL="0">
              <a:buNone/>
            </a:pPr>
            <a:r>
              <a:rPr lang="en-US" sz="1350" dirty="0">
                <a:solidFill>
                  <a:srgbClr val="2D333B"/>
                </a:solidFill>
                <a:latin typeface="Segoe UI" pitchFamily="34" charset="0"/>
                <a:ea typeface="Segoe UI" pitchFamily="34" charset="-122"/>
                <a:cs typeface="Segoe UI" pitchFamily="34" charset="-120"/>
              </a:rPr>
              <a:t>sits 1.2–1.7 orders of magnitude below the CPU. Below 10⁶ it is flatter: 391 blocks do not fill the GPU.</a:t>
            </a:r>
            <a:endParaRPr lang="en-US" sz="1350" dirty="0"/>
          </a:p>
        </p:txBody>
      </p:sp>
      <p:sp>
        <p:nvSpPr>
          <p:cNvPr id="13" name="Shape 10"/>
          <p:cNvSpPr/>
          <p:nvPr/>
        </p:nvSpPr>
        <p:spPr>
          <a:xfrm>
            <a:off x="7635240" y="3858768"/>
            <a:ext cx="329184" cy="329184"/>
          </a:xfrm>
          <a:prstGeom prst="ellipse">
            <a:avLst/>
          </a:prstGeom>
          <a:solidFill>
            <a:srgbClr val="76B900"/>
          </a:solidFill>
          <a:ln w="6350">
            <a:solidFill>
              <a:srgbClr val="76B900"/>
            </a:solidFill>
            <a:prstDash val="solid"/>
          </a:ln>
        </p:spPr>
      </p:sp>
      <p:sp>
        <p:nvSpPr>
          <p:cNvPr id="14" name="Text 11"/>
          <p:cNvSpPr txBox="1"/>
          <p:nvPr/>
        </p:nvSpPr>
        <p:spPr>
          <a:xfrm>
            <a:off x="7635240" y="3858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15" name="Text 12"/>
          <p:cNvSpPr txBox="1"/>
          <p:nvPr/>
        </p:nvSpPr>
        <p:spPr>
          <a:xfrm>
            <a:off x="8110728" y="3840480"/>
            <a:ext cx="3529584" cy="1069848"/>
          </a:xfrm>
          <a:prstGeom prst="rect">
            <a:avLst/>
          </a:prstGeom>
          <a:noFill/>
          <a:ln/>
        </p:spPr>
        <p:txBody>
          <a:bodyPr wrap="square" lIns="0" tIns="0" rIns="0" bIns="0" rtlCol="0" anchor="t"/>
          <a:lstStyle/>
          <a:p>
            <a:pPr indent="0" marL="0">
              <a:buNone/>
            </a:pPr>
            <a:r>
              <a:rPr lang="en-US" sz="1350" b="1" dirty="0">
                <a:solidFill>
                  <a:srgbClr val="15181D"/>
                </a:solidFill>
                <a:latin typeface="Segoe UI" pitchFamily="34" charset="0"/>
                <a:ea typeface="Segoe UI" pitchFamily="34" charset="-122"/>
                <a:cs typeface="Segoe UI" pitchFamily="34" charset="-120"/>
              </a:rPr>
              <a:t>GPU end to end (blue) </a:t>
            </a:r>
            <a:pPr indent="0" marL="0">
              <a:buNone/>
            </a:pPr>
            <a:r>
              <a:rPr lang="en-US" sz="1350" dirty="0">
                <a:solidFill>
                  <a:srgbClr val="2D333B"/>
                </a:solidFill>
                <a:latin typeface="Segoe UI" pitchFamily="34" charset="0"/>
                <a:ea typeface="Segoe UI" pitchFamily="34" charset="-122"/>
                <a:cs typeface="Segoe UI" pitchFamily="34" charset="-120"/>
              </a:rPr>
              <a:t>is above the CPU at every size: 4.6× slower at 10⁵, then 1.7–1.9× slower.</a:t>
            </a:r>
            <a:endParaRPr lang="en-US" sz="1350" dirty="0"/>
          </a:p>
        </p:txBody>
      </p:sp>
      <p:sp>
        <p:nvSpPr>
          <p:cNvPr id="16" name="Shape 13"/>
          <p:cNvSpPr/>
          <p:nvPr/>
        </p:nvSpPr>
        <p:spPr>
          <a:xfrm>
            <a:off x="7635240" y="5001768"/>
            <a:ext cx="329184" cy="329184"/>
          </a:xfrm>
          <a:prstGeom prst="ellipse">
            <a:avLst/>
          </a:prstGeom>
          <a:solidFill>
            <a:srgbClr val="76B900"/>
          </a:solidFill>
          <a:ln w="6350">
            <a:solidFill>
              <a:srgbClr val="76B900"/>
            </a:solidFill>
            <a:prstDash val="solid"/>
          </a:ln>
        </p:spPr>
      </p:sp>
      <p:sp>
        <p:nvSpPr>
          <p:cNvPr id="17" name="Text 14"/>
          <p:cNvSpPr txBox="1"/>
          <p:nvPr/>
        </p:nvSpPr>
        <p:spPr>
          <a:xfrm>
            <a:off x="7635240" y="5001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18" name="Text 15"/>
          <p:cNvSpPr txBox="1"/>
          <p:nvPr/>
        </p:nvSpPr>
        <p:spPr>
          <a:xfrm>
            <a:off x="8110728" y="4983480"/>
            <a:ext cx="3529584" cy="1069848"/>
          </a:xfrm>
          <a:prstGeom prst="rect">
            <a:avLst/>
          </a:prstGeom>
          <a:noFill/>
          <a:ln/>
        </p:spPr>
        <p:txBody>
          <a:bodyPr wrap="square" lIns="0" tIns="0" rIns="0" bIns="0" rtlCol="0" anchor="t"/>
          <a:lstStyle/>
          <a:p>
            <a:pPr indent="0" marL="0">
              <a:buNone/>
            </a:pPr>
            <a:r>
              <a:rPr lang="en-US" sz="1350" b="1" dirty="0">
                <a:solidFill>
                  <a:srgbClr val="15181D"/>
                </a:solidFill>
                <a:latin typeface="Segoe UI" pitchFamily="34" charset="0"/>
                <a:ea typeface="Segoe UI" pitchFamily="34" charset="-122"/>
                <a:cs typeface="Segoe UI" pitchFamily="34" charset="-120"/>
              </a:rPr>
              <a:t>No crossover: </a:t>
            </a:r>
            <a:pPr indent="0" marL="0">
              <a:buNone/>
            </a:pPr>
            <a:r>
              <a:rPr lang="en-US" sz="1350" dirty="0">
                <a:solidFill>
                  <a:srgbClr val="2D333B"/>
                </a:solidFill>
                <a:latin typeface="Segoe UI" pitchFamily="34" charset="0"/>
                <a:ea typeface="Segoe UI" pitchFamily="34" charset="-122"/>
                <a:cs typeface="Segoe UI" pitchFamily="34" charset="-120"/>
              </a:rPr>
              <a:t>both lines have slope 1 beyond 10⁶, so a larger N would not help.</a:t>
            </a:r>
            <a:endParaRPr lang="en-US" sz="13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Speedup: 55.8× for the kernel, below 1× end to end</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4  ·  PERFORMANCE ANALYSIS</a:t>
            </a:r>
            <a:endParaRPr lang="en-US" sz="1100" dirty="0"/>
          </a:p>
        </p:txBody>
      </p:sp>
      <p:sp>
        <p:nvSpPr>
          <p:cNvPr id="4" name="Shape 2"/>
          <p:cNvSpPr/>
          <p:nvPr/>
        </p:nvSpPr>
        <p:spPr>
          <a:xfrm>
            <a:off x="4873752" y="1417320"/>
            <a:ext cx="6766560" cy="4898351"/>
          </a:xfrm>
          <a:prstGeom prst="roundRect">
            <a:avLst>
              <a:gd name="adj" fmla="val 1493"/>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pic>
        <p:nvPicPr>
          <p:cNvPr id="5" name="Image 0" descr="Fig. 2 — Kernel and end-to-end speedup vs vector size">    </p:cNvPr>
          <p:cNvPicPr>
            <a:picLocks noChangeAspect="1"/>
          </p:cNvPicPr>
          <p:nvPr/>
        </p:nvPicPr>
        <p:blipFill>
          <a:blip r:embed="rId1"/>
          <a:stretch>
            <a:fillRect/>
          </a:stretch>
        </p:blipFill>
        <p:spPr>
          <a:xfrm>
            <a:off x="4965192" y="1508760"/>
            <a:ext cx="6583680" cy="4404575"/>
          </a:xfrm>
          <a:prstGeom prst="rect">
            <a:avLst/>
          </a:prstGeom>
        </p:spPr>
      </p:pic>
      <p:sp>
        <p:nvSpPr>
          <p:cNvPr id="6" name="Text 3"/>
          <p:cNvSpPr txBox="1"/>
          <p:nvPr/>
        </p:nvSpPr>
        <p:spPr>
          <a:xfrm>
            <a:off x="5010912" y="5931623"/>
            <a:ext cx="6492240" cy="274320"/>
          </a:xfrm>
          <a:prstGeom prst="rect">
            <a:avLst/>
          </a:prstGeom>
          <a:noFill/>
          <a:ln/>
        </p:spPr>
        <p:txBody>
          <a:bodyPr wrap="square" lIns="0" tIns="0" rIns="0" bIns="0" rtlCol="0" anchor="ctr"/>
          <a:lstStyle/>
          <a:p>
            <a:pPr indent="0" marL="0">
              <a:buNone/>
            </a:pPr>
            <a:r>
              <a:rPr lang="en-US" sz="1050" i="1" dirty="0">
                <a:solidFill>
                  <a:srgbClr val="5B6470"/>
                </a:solidFill>
                <a:latin typeface="Segoe UI" pitchFamily="34" charset="0"/>
                <a:ea typeface="Segoe UI" pitchFamily="34" charset="-122"/>
                <a:cs typeface="Segoe UI" pitchFamily="34" charset="-120"/>
              </a:rPr>
              <a:t>Fig. 2 — Kernel and end-to-end speedup vs vector size</a:t>
            </a:r>
            <a:endParaRPr lang="en-US" sz="1050" dirty="0"/>
          </a:p>
        </p:txBody>
      </p:sp>
      <p:sp>
        <p:nvSpPr>
          <p:cNvPr id="7" name="Shape 4"/>
          <p:cNvSpPr/>
          <p:nvPr/>
        </p:nvSpPr>
        <p:spPr>
          <a:xfrm>
            <a:off x="548640" y="1572768"/>
            <a:ext cx="329184" cy="329184"/>
          </a:xfrm>
          <a:prstGeom prst="ellipse">
            <a:avLst/>
          </a:prstGeom>
          <a:solidFill>
            <a:srgbClr val="76B900"/>
          </a:solidFill>
          <a:ln w="6350">
            <a:solidFill>
              <a:srgbClr val="76B900"/>
            </a:solidFill>
            <a:prstDash val="solid"/>
          </a:ln>
        </p:spPr>
      </p:sp>
      <p:sp>
        <p:nvSpPr>
          <p:cNvPr id="8" name="Text 5"/>
          <p:cNvSpPr txBox="1"/>
          <p:nvPr/>
        </p:nvSpPr>
        <p:spPr>
          <a:xfrm>
            <a:off x="548640" y="1572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9" name="Text 6"/>
          <p:cNvSpPr txBox="1"/>
          <p:nvPr/>
        </p:nvSpPr>
        <p:spPr>
          <a:xfrm>
            <a:off x="1024128" y="1554480"/>
            <a:ext cx="3547872" cy="978408"/>
          </a:xfrm>
          <a:prstGeom prst="rect">
            <a:avLst/>
          </a:prstGeom>
          <a:noFill/>
          <a:ln/>
        </p:spPr>
        <p:txBody>
          <a:bodyPr wrap="square" lIns="0" tIns="0" rIns="0" bIns="0" rtlCol="0" anchor="t"/>
          <a:lstStyle/>
          <a:p>
            <a:pPr indent="0" marL="0">
              <a:buNone/>
            </a:pPr>
            <a:r>
              <a:rPr lang="en-US" sz="1350" b="1" dirty="0">
                <a:solidFill>
                  <a:srgbClr val="15181D"/>
                </a:solidFill>
                <a:latin typeface="Segoe UI" pitchFamily="34" charset="0"/>
                <a:ea typeface="Segoe UI" pitchFamily="34" charset="-122"/>
                <a:cs typeface="Segoe UI" pitchFamily="34" charset="-120"/>
              </a:rPr>
              <a:t>Kernel speedup </a:t>
            </a:r>
            <a:pPr indent="0" marL="0">
              <a:buNone/>
            </a:pPr>
            <a:r>
              <a:rPr lang="en-US" sz="1350" dirty="0">
                <a:solidFill>
                  <a:srgbClr val="2D333B"/>
                </a:solidFill>
                <a:latin typeface="Segoe UI" pitchFamily="34" charset="0"/>
                <a:ea typeface="Segoe UI" pitchFamily="34" charset="-122"/>
                <a:cs typeface="Segoe UI" pitchFamily="34" charset="-120"/>
              </a:rPr>
              <a:t>rises 15.7× → 49.9× → 55.8× (5 M), then holds at 52–54×.</a:t>
            </a:r>
            <a:endParaRPr lang="en-US" sz="1350" dirty="0"/>
          </a:p>
        </p:txBody>
      </p:sp>
      <p:sp>
        <p:nvSpPr>
          <p:cNvPr id="10" name="Shape 7"/>
          <p:cNvSpPr/>
          <p:nvPr/>
        </p:nvSpPr>
        <p:spPr>
          <a:xfrm>
            <a:off x="548640" y="2624328"/>
            <a:ext cx="329184" cy="329184"/>
          </a:xfrm>
          <a:prstGeom prst="ellipse">
            <a:avLst/>
          </a:prstGeom>
          <a:solidFill>
            <a:srgbClr val="76B900"/>
          </a:solidFill>
          <a:ln w="6350">
            <a:solidFill>
              <a:srgbClr val="76B900"/>
            </a:solidFill>
            <a:prstDash val="solid"/>
          </a:ln>
        </p:spPr>
      </p:sp>
      <p:sp>
        <p:nvSpPr>
          <p:cNvPr id="11" name="Text 8"/>
          <p:cNvSpPr txBox="1"/>
          <p:nvPr/>
        </p:nvSpPr>
        <p:spPr>
          <a:xfrm>
            <a:off x="548640" y="2624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2" name="Text 9"/>
          <p:cNvSpPr txBox="1"/>
          <p:nvPr/>
        </p:nvSpPr>
        <p:spPr>
          <a:xfrm>
            <a:off x="1024128" y="2606040"/>
            <a:ext cx="3547872" cy="978408"/>
          </a:xfrm>
          <a:prstGeom prst="rect">
            <a:avLst/>
          </a:prstGeom>
          <a:noFill/>
          <a:ln/>
        </p:spPr>
        <p:txBody>
          <a:bodyPr wrap="square" lIns="0" tIns="0" rIns="0" bIns="0" rtlCol="0" anchor="t"/>
          <a:lstStyle/>
          <a:p>
            <a:pPr indent="0" marL="0">
              <a:buNone/>
            </a:pPr>
            <a:r>
              <a:rPr lang="en-US" sz="1350" b="1" dirty="0">
                <a:solidFill>
                  <a:srgbClr val="15181D"/>
                </a:solidFill>
                <a:latin typeface="Segoe UI" pitchFamily="34" charset="0"/>
                <a:ea typeface="Segoe UI" pitchFamily="34" charset="-122"/>
                <a:cs typeface="Segoe UI" pitchFamily="34" charset="-120"/>
              </a:rPr>
              <a:t>End-to-end speedup </a:t>
            </a:r>
            <a:pPr indent="0" marL="0">
              <a:buNone/>
            </a:pPr>
            <a:r>
              <a:rPr lang="en-US" sz="1350" dirty="0">
                <a:solidFill>
                  <a:srgbClr val="2D333B"/>
                </a:solidFill>
                <a:latin typeface="Segoe UI" pitchFamily="34" charset="0"/>
                <a:ea typeface="Segoe UI" pitchFamily="34" charset="-122"/>
                <a:cs typeface="Segoe UI" pitchFamily="34" charset="-120"/>
              </a:rPr>
              <a:t>stays under the 1.0× line: 0.215× at 10⁵, then 0.53–0.59×.</a:t>
            </a:r>
            <a:endParaRPr lang="en-US" sz="1350" dirty="0"/>
          </a:p>
        </p:txBody>
      </p:sp>
      <p:sp>
        <p:nvSpPr>
          <p:cNvPr id="13" name="Shape 10"/>
          <p:cNvSpPr/>
          <p:nvPr/>
        </p:nvSpPr>
        <p:spPr>
          <a:xfrm>
            <a:off x="548640" y="3840480"/>
            <a:ext cx="4023360" cy="2331720"/>
          </a:xfrm>
          <a:prstGeom prst="roundRect">
            <a:avLst>
              <a:gd name="adj" fmla="val 3137"/>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14" name="Text 11"/>
          <p:cNvSpPr txBox="1"/>
          <p:nvPr/>
        </p:nvSpPr>
        <p:spPr>
          <a:xfrm>
            <a:off x="777240" y="4005072"/>
            <a:ext cx="3566160" cy="640080"/>
          </a:xfrm>
          <a:prstGeom prst="rect">
            <a:avLst/>
          </a:prstGeom>
          <a:noFill/>
          <a:ln/>
        </p:spPr>
        <p:txBody>
          <a:bodyPr wrap="square" lIns="0" tIns="0" rIns="0" bIns="0" rtlCol="0" anchor="ctr"/>
          <a:lstStyle/>
          <a:p>
            <a:pPr indent="0" marL="0">
              <a:buNone/>
            </a:pPr>
            <a:r>
              <a:rPr lang="en-US" sz="3000" b="1" dirty="0">
                <a:solidFill>
                  <a:srgbClr val="3F7A00"/>
                </a:solidFill>
                <a:latin typeface="Segoe UI Semibold" pitchFamily="34" charset="0"/>
                <a:ea typeface="Segoe UI Semibold" pitchFamily="34" charset="-122"/>
                <a:cs typeface="Segoe UI Semibold" pitchFamily="34" charset="-120"/>
              </a:rPr>
              <a:t>258 ÷ 4.8 ≈ 54</a:t>
            </a:r>
            <a:endParaRPr lang="en-US" sz="3000" dirty="0"/>
          </a:p>
        </p:txBody>
      </p:sp>
      <p:sp>
        <p:nvSpPr>
          <p:cNvPr id="15" name="Text 12"/>
          <p:cNvSpPr txBox="1"/>
          <p:nvPr/>
        </p:nvSpPr>
        <p:spPr>
          <a:xfrm>
            <a:off x="777240" y="4663440"/>
            <a:ext cx="3566160" cy="141732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The flat top is the signature of a memory-bound task: the kernel speedup equals the ratio of the two memory streaming rates — GPU ≈ 258 GB/s vs one CPU core ≈ 4.8 GB/s.</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Transfer time, not compute, fills the GPU timeline</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4  ·  PCIe TRANSFER OVERHEAD</a:t>
            </a:r>
            <a:endParaRPr lang="en-US" sz="1100" dirty="0"/>
          </a:p>
        </p:txBody>
      </p:sp>
      <p:sp>
        <p:nvSpPr>
          <p:cNvPr id="4" name="Shape 2"/>
          <p:cNvSpPr/>
          <p:nvPr/>
        </p:nvSpPr>
        <p:spPr>
          <a:xfrm>
            <a:off x="548640" y="1417320"/>
            <a:ext cx="5440680" cy="3980656"/>
          </a:xfrm>
          <a:prstGeom prst="roundRect">
            <a:avLst>
              <a:gd name="adj" fmla="val 1838"/>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pic>
        <p:nvPicPr>
          <p:cNvPr id="5" name="Image 0" descr="Fig. 4 — GPU time split: PCIe transfer vs kernel">    </p:cNvPr>
          <p:cNvPicPr>
            <a:picLocks noChangeAspect="1"/>
          </p:cNvPicPr>
          <p:nvPr/>
        </p:nvPicPr>
        <p:blipFill>
          <a:blip r:embed="rId1"/>
          <a:stretch>
            <a:fillRect/>
          </a:stretch>
        </p:blipFill>
        <p:spPr>
          <a:xfrm>
            <a:off x="640080" y="1508760"/>
            <a:ext cx="5257800" cy="3486880"/>
          </a:xfrm>
          <a:prstGeom prst="rect">
            <a:avLst/>
          </a:prstGeom>
        </p:spPr>
      </p:pic>
      <p:sp>
        <p:nvSpPr>
          <p:cNvPr id="6" name="Text 3"/>
          <p:cNvSpPr txBox="1"/>
          <p:nvPr/>
        </p:nvSpPr>
        <p:spPr>
          <a:xfrm>
            <a:off x="685800" y="5013928"/>
            <a:ext cx="5166360" cy="274320"/>
          </a:xfrm>
          <a:prstGeom prst="rect">
            <a:avLst/>
          </a:prstGeom>
          <a:noFill/>
          <a:ln/>
        </p:spPr>
        <p:txBody>
          <a:bodyPr wrap="square" lIns="0" tIns="0" rIns="0" bIns="0" rtlCol="0" anchor="ctr"/>
          <a:lstStyle/>
          <a:p>
            <a:pPr indent="0" marL="0">
              <a:buNone/>
            </a:pPr>
            <a:r>
              <a:rPr lang="en-US" sz="1050" i="1" dirty="0">
                <a:solidFill>
                  <a:srgbClr val="5B6470"/>
                </a:solidFill>
                <a:latin typeface="Segoe UI" pitchFamily="34" charset="0"/>
                <a:ea typeface="Segoe UI" pitchFamily="34" charset="-122"/>
                <a:cs typeface="Segoe UI" pitchFamily="34" charset="-120"/>
              </a:rPr>
              <a:t>Fig. 4 — GPU time split: PCIe transfer vs kernel</a:t>
            </a:r>
            <a:endParaRPr lang="en-US" sz="1050" dirty="0"/>
          </a:p>
        </p:txBody>
      </p:sp>
      <p:sp>
        <p:nvSpPr>
          <p:cNvPr id="7" name="Shape 4"/>
          <p:cNvSpPr/>
          <p:nvPr/>
        </p:nvSpPr>
        <p:spPr>
          <a:xfrm>
            <a:off x="6199632" y="1417320"/>
            <a:ext cx="5440680" cy="3974550"/>
          </a:xfrm>
          <a:prstGeom prst="roundRect">
            <a:avLst>
              <a:gd name="adj" fmla="val 1841"/>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pic>
        <p:nvPicPr>
          <p:cNvPr id="8" name="Image 1" descr="Fig. 5 — PCIe overhead as a share of GPU time">    </p:cNvPr>
          <p:cNvPicPr>
            <a:picLocks noChangeAspect="1"/>
          </p:cNvPicPr>
          <p:nvPr/>
        </p:nvPicPr>
        <p:blipFill>
          <a:blip r:embed="rId2"/>
          <a:stretch>
            <a:fillRect/>
          </a:stretch>
        </p:blipFill>
        <p:spPr>
          <a:xfrm>
            <a:off x="6291072" y="1508760"/>
            <a:ext cx="5257800" cy="3480774"/>
          </a:xfrm>
          <a:prstGeom prst="rect">
            <a:avLst/>
          </a:prstGeom>
        </p:spPr>
      </p:pic>
      <p:sp>
        <p:nvSpPr>
          <p:cNvPr id="9" name="Text 5"/>
          <p:cNvSpPr txBox="1"/>
          <p:nvPr/>
        </p:nvSpPr>
        <p:spPr>
          <a:xfrm>
            <a:off x="6336792" y="5007822"/>
            <a:ext cx="5166360" cy="274320"/>
          </a:xfrm>
          <a:prstGeom prst="rect">
            <a:avLst/>
          </a:prstGeom>
          <a:noFill/>
          <a:ln/>
        </p:spPr>
        <p:txBody>
          <a:bodyPr wrap="square" lIns="0" tIns="0" rIns="0" bIns="0" rtlCol="0" anchor="ctr"/>
          <a:lstStyle/>
          <a:p>
            <a:pPr indent="0" marL="0">
              <a:buNone/>
            </a:pPr>
            <a:r>
              <a:rPr lang="en-US" sz="1050" i="1" dirty="0">
                <a:solidFill>
                  <a:srgbClr val="5B6470"/>
                </a:solidFill>
                <a:latin typeface="Segoe UI" pitchFamily="34" charset="0"/>
                <a:ea typeface="Segoe UI" pitchFamily="34" charset="-122"/>
                <a:cs typeface="Segoe UI" pitchFamily="34" charset="-120"/>
              </a:rPr>
              <a:t>Fig. 5 — PCIe overhead as a share of GPU time</a:t>
            </a:r>
            <a:endParaRPr lang="en-US" sz="1050" dirty="0"/>
          </a:p>
        </p:txBody>
      </p:sp>
      <p:sp>
        <p:nvSpPr>
          <p:cNvPr id="10" name="Text 6"/>
          <p:cNvSpPr txBox="1"/>
          <p:nvPr/>
        </p:nvSpPr>
        <p:spPr>
          <a:xfrm>
            <a:off x="548640" y="5532120"/>
            <a:ext cx="5440680" cy="777240"/>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Orange is transfer, the thin green cap is the kernel: </a:t>
            </a:r>
            <a:pPr indent="0" marL="0">
              <a:buNone/>
            </a:pPr>
            <a:r>
              <a:rPr lang="en-US" sz="1300" dirty="0">
                <a:solidFill>
                  <a:srgbClr val="15181D"/>
                </a:solidFill>
                <a:latin typeface="Segoe UI" pitchFamily="34" charset="0"/>
                <a:ea typeface="Segoe UI" pitchFamily="34" charset="-122"/>
                <a:cs typeface="Segoe UI" pitchFamily="34" charset="-120"/>
              </a:rPr>
              <a:t>2.3 ms of compute on 230.4 ms of copying at 25 M. A zero-time kernel would shorten the bars by under 1.1 %.</a:t>
            </a:r>
            <a:endParaRPr lang="en-US" sz="1300" dirty="0"/>
          </a:p>
        </p:txBody>
      </p:sp>
      <p:sp>
        <p:nvSpPr>
          <p:cNvPr id="11" name="Text 7"/>
          <p:cNvSpPr txBox="1"/>
          <p:nvPr/>
        </p:nvSpPr>
        <p:spPr>
          <a:xfrm>
            <a:off x="6199632" y="5532120"/>
            <a:ext cx="5440680" cy="777240"/>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Flat at 98.6–99.0 %: </a:t>
            </a:r>
            <a:pPr indent="0" marL="0">
              <a:buNone/>
            </a:pPr>
            <a:r>
              <a:rPr lang="en-US" sz="1300" dirty="0">
                <a:solidFill>
                  <a:srgbClr val="15181D"/>
                </a:solidFill>
                <a:latin typeface="Segoe UI" pitchFamily="34" charset="0"/>
                <a:ea typeface="Segoe UI" pitchFamily="34" charset="-122"/>
                <a:cs typeface="Segoe UI" pitchFamily="34" charset="-120"/>
              </a:rPr>
              <a:t>transfer and kernel time both grow with N, so N cancels. The overhead is set by the two bandwidths, not the size.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At N = 25 M, 99 % of GPU time is spent moving data</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4  ·  TIME DISTRIBUTION</a:t>
            </a:r>
            <a:endParaRPr lang="en-US" sz="1100" dirty="0"/>
          </a:p>
        </p:txBody>
      </p:sp>
      <p:sp>
        <p:nvSpPr>
          <p:cNvPr id="4" name="Shape 2"/>
          <p:cNvSpPr/>
          <p:nvPr/>
        </p:nvSpPr>
        <p:spPr>
          <a:xfrm>
            <a:off x="548640" y="1417320"/>
            <a:ext cx="6309360" cy="4294304"/>
          </a:xfrm>
          <a:prstGeom prst="roundRect">
            <a:avLst>
              <a:gd name="adj" fmla="val 1703"/>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pic>
        <p:nvPicPr>
          <p:cNvPr id="5" name="Image 0" descr="Fig. 7 — Where the 232.7 ms of GPU time goes (N = 25 M, 286 MiB)">    </p:cNvPr>
          <p:cNvPicPr>
            <a:picLocks noChangeAspect="1"/>
          </p:cNvPicPr>
          <p:nvPr/>
        </p:nvPicPr>
        <p:blipFill>
          <a:blip r:embed="rId1"/>
          <a:stretch>
            <a:fillRect/>
          </a:stretch>
        </p:blipFill>
        <p:spPr>
          <a:xfrm>
            <a:off x="640080" y="1508760"/>
            <a:ext cx="6126480" cy="3800528"/>
          </a:xfrm>
          <a:prstGeom prst="rect">
            <a:avLst/>
          </a:prstGeom>
        </p:spPr>
      </p:pic>
      <p:sp>
        <p:nvSpPr>
          <p:cNvPr id="6" name="Text 3"/>
          <p:cNvSpPr txBox="1"/>
          <p:nvPr/>
        </p:nvSpPr>
        <p:spPr>
          <a:xfrm>
            <a:off x="685800" y="5327576"/>
            <a:ext cx="6035040" cy="274320"/>
          </a:xfrm>
          <a:prstGeom prst="rect">
            <a:avLst/>
          </a:prstGeom>
          <a:noFill/>
          <a:ln/>
        </p:spPr>
        <p:txBody>
          <a:bodyPr wrap="square" lIns="0" tIns="0" rIns="0" bIns="0" rtlCol="0" anchor="ctr"/>
          <a:lstStyle/>
          <a:p>
            <a:pPr indent="0" marL="0">
              <a:buNone/>
            </a:pPr>
            <a:r>
              <a:rPr lang="en-US" sz="1050" i="1" dirty="0">
                <a:solidFill>
                  <a:srgbClr val="5B6470"/>
                </a:solidFill>
                <a:latin typeface="Segoe UI" pitchFamily="34" charset="0"/>
                <a:ea typeface="Segoe UI" pitchFamily="34" charset="-122"/>
                <a:cs typeface="Segoe UI" pitchFamily="34" charset="-120"/>
              </a:rPr>
              <a:t>Fig. 7 — Where the 232.7 ms of GPU time goes (N = 25 M, 286 MiB)</a:t>
            </a:r>
            <a:endParaRPr lang="en-US" sz="1050" dirty="0"/>
          </a:p>
        </p:txBody>
      </p:sp>
      <p:sp>
        <p:nvSpPr>
          <p:cNvPr id="7" name="Shape 4"/>
          <p:cNvSpPr/>
          <p:nvPr/>
        </p:nvSpPr>
        <p:spPr>
          <a:xfrm>
            <a:off x="7223760" y="1417320"/>
            <a:ext cx="4416552" cy="1737360"/>
          </a:xfrm>
          <a:prstGeom prst="roundRect">
            <a:avLst>
              <a:gd name="adj" fmla="val 4211"/>
            </a:avLst>
          </a:prstGeom>
          <a:solidFill>
            <a:srgbClr val="FDEEDF"/>
          </a:solidFill>
          <a:ln w="6350">
            <a:solidFill>
              <a:srgbClr val="FDEEDF"/>
            </a:solidFill>
            <a:prstDash val="solid"/>
          </a:ln>
          <a:effectLst>
            <a:outerShdw sx="100000" sy="100000" kx="0" ky="0" algn="bl" rotWithShape="0" blurRad="88900" dist="25400" dir="5400000">
              <a:srgbClr val="000000">
                <a:alpha val="12000"/>
              </a:srgbClr>
            </a:outerShdw>
          </a:effectLst>
        </p:spPr>
      </p:sp>
      <p:sp>
        <p:nvSpPr>
          <p:cNvPr id="8" name="Text 5"/>
          <p:cNvSpPr txBox="1"/>
          <p:nvPr/>
        </p:nvSpPr>
        <p:spPr>
          <a:xfrm>
            <a:off x="7452360" y="1581912"/>
            <a:ext cx="3959352" cy="777240"/>
          </a:xfrm>
          <a:prstGeom prst="rect">
            <a:avLst/>
          </a:prstGeom>
          <a:noFill/>
          <a:ln/>
        </p:spPr>
        <p:txBody>
          <a:bodyPr wrap="square" lIns="0" tIns="0" rIns="0" bIns="0" rtlCol="0" anchor="ctr"/>
          <a:lstStyle/>
          <a:p>
            <a:pPr indent="0" marL="0">
              <a:buNone/>
            </a:pPr>
            <a:r>
              <a:rPr lang="en-US" sz="4400" b="1" dirty="0">
                <a:solidFill>
                  <a:srgbClr val="E8710A"/>
                </a:solidFill>
                <a:latin typeface="Segoe UI Semibold" pitchFamily="34" charset="0"/>
                <a:ea typeface="Segoe UI Semibold" pitchFamily="34" charset="-122"/>
                <a:cs typeface="Segoe UI Semibold" pitchFamily="34" charset="-120"/>
              </a:rPr>
              <a:t>99.0 %</a:t>
            </a:r>
            <a:endParaRPr lang="en-US" sz="4400" dirty="0"/>
          </a:p>
        </p:txBody>
      </p:sp>
      <p:sp>
        <p:nvSpPr>
          <p:cNvPr id="9" name="Text 6"/>
          <p:cNvSpPr txBox="1"/>
          <p:nvPr/>
        </p:nvSpPr>
        <p:spPr>
          <a:xfrm>
            <a:off x="7452360" y="2377440"/>
            <a:ext cx="3959352" cy="68580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of the GPU's time is PCIe transfer — in and out, both phases.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223760" y="3429000"/>
          <a:ext cx="4416552" cy="914400"/>
        </p:xfrm>
        <a:graphic>
          <a:graphicData uri="http://schemas.openxmlformats.org/drawingml/2006/table">
            <a:tbl>
              <a:tblPr/>
              <a:tblGrid>
                <a:gridCol w="2130552"/>
                <a:gridCol w="1188720"/>
                <a:gridCol w="1097280"/>
              </a:tblGrid>
              <a:tr h="411480">
                <a:tc>
                  <a:txBody>
                    <a:bodyP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Part</a:t>
                      </a:r>
                      <a:endParaRPr lang="en-US" sz="13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Time (ms)</a:t>
                      </a:r>
                      <a:endParaRPr lang="en-US" sz="13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c>
                  <a:txBody>
                    <a:bodyP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Share</a:t>
                      </a:r>
                      <a:endParaRPr lang="en-US" sz="1300" dirty="0">
                        <a:latin typeface="Segoe UI Semibold" charset="0"/>
                        <a:ea typeface="Segoe UI Semibold" charset="0"/>
                        <a:cs typeface="Segoe UI Semibold"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181D"/>
                    </a:solidFill>
                  </a:tcPr>
                </a:tc>
              </a:tr>
              <a:tr h="411480">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PCIe transfers</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230.389</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99.0 %</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r h="411480">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Addition kernel</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1.147</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0.5 %</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Multiplication kernel</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1.179</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c>
                  <a:txBody>
                    <a:bodyPr/>
                    <a:lstStyle/>
                    <a:p>
                      <a:pPr algn="ctr" indent="0" marL="0">
                        <a:buNone/>
                      </a:pPr>
                      <a:r>
                        <a:rPr lang="en-US" sz="1300" dirty="0">
                          <a:solidFill>
                            <a:srgbClr val="15181D"/>
                          </a:solidFill>
                          <a:latin typeface="Segoe UI" pitchFamily="34" charset="0"/>
                          <a:ea typeface="Segoe UI" pitchFamily="34" charset="-122"/>
                          <a:cs typeface="Segoe UI" pitchFamily="34" charset="-120"/>
                        </a:rPr>
                        <a:t>0.5 %</a:t>
                      </a:r>
                      <a:endParaRPr lang="en-US" sz="1300" dirty="0">
                        <a:latin typeface="Segoe UI" charset="0"/>
                        <a:ea typeface="Segoe UI" charset="0"/>
                        <a:cs typeface="Segoe UI" charset="0"/>
                      </a:endParaRPr>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7"/>
                    </a:solidFill>
                  </a:tcPr>
                </a:tc>
              </a:tr>
            </a:tbl>
          </a:graphicData>
        </a:graphic>
      </p:graphicFrame>
      <p:sp>
        <p:nvSpPr>
          <p:cNvPr id="11" name="Text 7"/>
          <p:cNvSpPr txBox="1"/>
          <p:nvPr/>
        </p:nvSpPr>
        <p:spPr>
          <a:xfrm>
            <a:off x="7223760" y="5257800"/>
            <a:ext cx="4416552" cy="868680"/>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Add and multiply cost the same: </a:t>
            </a:r>
            <a:pPr indent="0" marL="0">
              <a:buNone/>
            </a:pPr>
            <a:r>
              <a:rPr lang="en-US" sz="1300" dirty="0">
                <a:solidFill>
                  <a:srgbClr val="15181D"/>
                </a:solidFill>
                <a:latin typeface="Segoe UI" pitchFamily="34" charset="0"/>
                <a:ea typeface="Segoe UI" pitchFamily="34" charset="-122"/>
                <a:cs typeface="Segoe UI" pitchFamily="34" charset="-120"/>
              </a:rPr>
              <a:t>both move 12 bytes per element and are limited by memory, not by the arithmetic.</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The memory bus is saturated at ≈ 258 GB/s</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4  ·  THROUGHPUT AND BANDWIDTH</a:t>
            </a:r>
            <a:endParaRPr lang="en-US" sz="1100" dirty="0"/>
          </a:p>
        </p:txBody>
      </p:sp>
      <p:sp>
        <p:nvSpPr>
          <p:cNvPr id="4" name="Shape 2"/>
          <p:cNvSpPr/>
          <p:nvPr/>
        </p:nvSpPr>
        <p:spPr>
          <a:xfrm>
            <a:off x="548640" y="1417320"/>
            <a:ext cx="5440680" cy="3974550"/>
          </a:xfrm>
          <a:prstGeom prst="roundRect">
            <a:avLst>
              <a:gd name="adj" fmla="val 1841"/>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pic>
        <p:nvPicPr>
          <p:cNvPr id="5" name="Image 0" descr="Fig. 6 — Effective GPU memory bandwidth per operation">    </p:cNvPr>
          <p:cNvPicPr>
            <a:picLocks noChangeAspect="1"/>
          </p:cNvPicPr>
          <p:nvPr/>
        </p:nvPicPr>
        <p:blipFill>
          <a:blip r:embed="rId1"/>
          <a:stretch>
            <a:fillRect/>
          </a:stretch>
        </p:blipFill>
        <p:spPr>
          <a:xfrm>
            <a:off x="640080" y="1508760"/>
            <a:ext cx="5257800" cy="3480774"/>
          </a:xfrm>
          <a:prstGeom prst="rect">
            <a:avLst/>
          </a:prstGeom>
        </p:spPr>
      </p:pic>
      <p:sp>
        <p:nvSpPr>
          <p:cNvPr id="6" name="Text 3"/>
          <p:cNvSpPr txBox="1"/>
          <p:nvPr/>
        </p:nvSpPr>
        <p:spPr>
          <a:xfrm>
            <a:off x="685800" y="5007822"/>
            <a:ext cx="5166360" cy="274320"/>
          </a:xfrm>
          <a:prstGeom prst="rect">
            <a:avLst/>
          </a:prstGeom>
          <a:noFill/>
          <a:ln/>
        </p:spPr>
        <p:txBody>
          <a:bodyPr wrap="square" lIns="0" tIns="0" rIns="0" bIns="0" rtlCol="0" anchor="ctr"/>
          <a:lstStyle/>
          <a:p>
            <a:pPr indent="0" marL="0">
              <a:buNone/>
            </a:pPr>
            <a:r>
              <a:rPr lang="en-US" sz="1050" i="1" dirty="0">
                <a:solidFill>
                  <a:srgbClr val="5B6470"/>
                </a:solidFill>
                <a:latin typeface="Segoe UI" pitchFamily="34" charset="0"/>
                <a:ea typeface="Segoe UI" pitchFamily="34" charset="-122"/>
                <a:cs typeface="Segoe UI" pitchFamily="34" charset="-120"/>
              </a:rPr>
              <a:t>Fig. 6 — Effective GPU memory bandwidth per operation</a:t>
            </a:r>
            <a:endParaRPr lang="en-US" sz="1050" dirty="0"/>
          </a:p>
        </p:txBody>
      </p:sp>
      <p:sp>
        <p:nvSpPr>
          <p:cNvPr id="7" name="Shape 4"/>
          <p:cNvSpPr/>
          <p:nvPr/>
        </p:nvSpPr>
        <p:spPr>
          <a:xfrm>
            <a:off x="6199632" y="1417320"/>
            <a:ext cx="5440680" cy="4011318"/>
          </a:xfrm>
          <a:prstGeom prst="roundRect">
            <a:avLst>
              <a:gd name="adj" fmla="val 1824"/>
            </a:avLst>
          </a:prstGeom>
          <a:solidFill>
            <a:srgbClr val="FFFFFF"/>
          </a:solidFill>
          <a:ln w="9525">
            <a:solidFill>
              <a:srgbClr val="DDE2E7"/>
            </a:solidFill>
            <a:prstDash val="solid"/>
          </a:ln>
          <a:effectLst>
            <a:outerShdw sx="100000" sy="100000" kx="0" ky="0" algn="bl" rotWithShape="0" blurRad="88900" dist="25400" dir="5400000">
              <a:srgbClr val="000000">
                <a:alpha val="12000"/>
              </a:srgbClr>
            </a:outerShdw>
          </a:effectLst>
        </p:spPr>
      </p:sp>
      <p:pic>
        <p:nvPicPr>
          <p:cNvPr id="8" name="Image 1" descr="Fig. 3 — Computational throughput (GFLOPS)">    </p:cNvPr>
          <p:cNvPicPr>
            <a:picLocks noChangeAspect="1"/>
          </p:cNvPicPr>
          <p:nvPr/>
        </p:nvPicPr>
        <p:blipFill>
          <a:blip r:embed="rId2"/>
          <a:stretch>
            <a:fillRect/>
          </a:stretch>
        </p:blipFill>
        <p:spPr>
          <a:xfrm>
            <a:off x="6291072" y="1508760"/>
            <a:ext cx="5257800" cy="3517542"/>
          </a:xfrm>
          <a:prstGeom prst="rect">
            <a:avLst/>
          </a:prstGeom>
        </p:spPr>
      </p:pic>
      <p:sp>
        <p:nvSpPr>
          <p:cNvPr id="9" name="Text 5"/>
          <p:cNvSpPr txBox="1"/>
          <p:nvPr/>
        </p:nvSpPr>
        <p:spPr>
          <a:xfrm>
            <a:off x="6336792" y="5044590"/>
            <a:ext cx="5166360" cy="274320"/>
          </a:xfrm>
          <a:prstGeom prst="rect">
            <a:avLst/>
          </a:prstGeom>
          <a:noFill/>
          <a:ln/>
        </p:spPr>
        <p:txBody>
          <a:bodyPr wrap="square" lIns="0" tIns="0" rIns="0" bIns="0" rtlCol="0" anchor="ctr"/>
          <a:lstStyle/>
          <a:p>
            <a:pPr indent="0" marL="0">
              <a:buNone/>
            </a:pPr>
            <a:r>
              <a:rPr lang="en-US" sz="1050" i="1" dirty="0">
                <a:solidFill>
                  <a:srgbClr val="5B6470"/>
                </a:solidFill>
                <a:latin typeface="Segoe UI" pitchFamily="34" charset="0"/>
                <a:ea typeface="Segoe UI" pitchFamily="34" charset="-122"/>
                <a:cs typeface="Segoe UI" pitchFamily="34" charset="-120"/>
              </a:rPr>
              <a:t>Fig. 3 — Computational throughput (GFLOPS)</a:t>
            </a:r>
            <a:endParaRPr lang="en-US" sz="1050" dirty="0"/>
          </a:p>
        </p:txBody>
      </p:sp>
      <p:sp>
        <p:nvSpPr>
          <p:cNvPr id="10" name="Text 6"/>
          <p:cNvSpPr txBox="1"/>
          <p:nvPr/>
        </p:nvSpPr>
        <p:spPr>
          <a:xfrm>
            <a:off x="548640" y="5532120"/>
            <a:ext cx="5440680" cy="777240"/>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71–75 GB/s at 10⁵, then a plateau at 251–262 GB/s: </a:t>
            </a:r>
            <a:pPr indent="0" marL="0">
              <a:buNone/>
            </a:pPr>
            <a:r>
              <a:rPr lang="en-US" sz="1300" dirty="0">
                <a:solidFill>
                  <a:srgbClr val="15181D"/>
                </a:solidFill>
                <a:latin typeface="Segoe UI" pitchFamily="34" charset="0"/>
                <a:ea typeface="Segoe UI" pitchFamily="34" charset="-122"/>
                <a:cs typeface="Segoe UI" pitchFamily="34" charset="-120"/>
              </a:rPr>
              <a:t>≈ 80 % of 320 GB/s, the practical ceiling. More data cannot raise bytes per second.</a:t>
            </a:r>
            <a:endParaRPr lang="en-US" sz="1300" dirty="0"/>
          </a:p>
        </p:txBody>
      </p:sp>
      <p:sp>
        <p:nvSpPr>
          <p:cNvPr id="11" name="Text 7"/>
          <p:cNvSpPr txBox="1"/>
          <p:nvPr/>
        </p:nvSpPr>
        <p:spPr>
          <a:xfrm>
            <a:off x="6199632" y="5532120"/>
            <a:ext cx="5440680" cy="777240"/>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21.5 GFLOPS is only 0.27 % of 8.1 TFLOPS, </a:t>
            </a:r>
            <a:pPr indent="0" marL="0">
              <a:buNone/>
            </a:pPr>
            <a:r>
              <a:rPr lang="en-US" sz="1300" dirty="0">
                <a:solidFill>
                  <a:srgbClr val="15181D"/>
                </a:solidFill>
                <a:latin typeface="Segoe UI" pitchFamily="34" charset="0"/>
                <a:ea typeface="Segoe UI" pitchFamily="34" charset="-122"/>
                <a:cs typeface="Segoe UI" pitchFamily="34" charset="-120"/>
              </a:rPr>
              <a:t>but it is 80.6 % of what 1 FLOP per 12 bytes allows (26.7 GFLOPS).</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The right yardstick: the kernel is 80.6 % efficient</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CHECKPOINT 4  ·  EFFICIENCY AND THE ROOFLINE</a:t>
            </a:r>
            <a:endParaRPr lang="en-US" sz="1100" dirty="0"/>
          </a:p>
        </p:txBody>
      </p:sp>
      <p:sp>
        <p:nvSpPr>
          <p:cNvPr id="4" name="Shape 2"/>
          <p:cNvSpPr/>
          <p:nvPr/>
        </p:nvSpPr>
        <p:spPr>
          <a:xfrm>
            <a:off x="548640" y="1417320"/>
            <a:ext cx="3520440" cy="2011680"/>
          </a:xfrm>
          <a:prstGeom prst="roundRect">
            <a:avLst>
              <a:gd name="adj" fmla="val 3636"/>
            </a:avLst>
          </a:prstGeom>
          <a:solidFill>
            <a:srgbClr val="F3F5F7"/>
          </a:solidFill>
          <a:ln w="6350">
            <a:solidFill>
              <a:srgbClr val="F3F5F7"/>
            </a:solidFill>
            <a:prstDash val="solid"/>
          </a:ln>
          <a:effectLst>
            <a:outerShdw sx="100000" sy="100000" kx="0" ky="0" algn="bl" rotWithShape="0" blurRad="88900" dist="25400" dir="5400000">
              <a:srgbClr val="000000">
                <a:alpha val="12000"/>
              </a:srgbClr>
            </a:outerShdw>
          </a:effectLst>
        </p:spPr>
      </p:sp>
      <p:sp>
        <p:nvSpPr>
          <p:cNvPr id="5" name="Text 3"/>
          <p:cNvSpPr txBox="1"/>
          <p:nvPr/>
        </p:nvSpPr>
        <p:spPr>
          <a:xfrm>
            <a:off x="777240" y="1581912"/>
            <a:ext cx="3063240" cy="731520"/>
          </a:xfrm>
          <a:prstGeom prst="rect">
            <a:avLst/>
          </a:prstGeom>
          <a:noFill/>
          <a:ln/>
        </p:spPr>
        <p:txBody>
          <a:bodyPr wrap="square" lIns="0" tIns="0" rIns="0" bIns="0" rtlCol="0" anchor="ctr"/>
          <a:lstStyle/>
          <a:p>
            <a:pPr indent="0" marL="0">
              <a:buNone/>
            </a:pPr>
            <a:r>
              <a:rPr lang="en-US" sz="3800" b="1" dirty="0">
                <a:solidFill>
                  <a:srgbClr val="64748B"/>
                </a:solidFill>
                <a:latin typeface="Segoe UI Semibold" pitchFamily="34" charset="0"/>
                <a:ea typeface="Segoe UI Semibold" pitchFamily="34" charset="-122"/>
                <a:cs typeface="Segoe UI Semibold" pitchFamily="34" charset="-120"/>
              </a:rPr>
              <a:t>2.10 %</a:t>
            </a:r>
            <a:endParaRPr lang="en-US" sz="3800" dirty="0"/>
          </a:p>
        </p:txBody>
      </p:sp>
      <p:sp>
        <p:nvSpPr>
          <p:cNvPr id="6" name="Text 4"/>
          <p:cNvSpPr txBox="1"/>
          <p:nvPr/>
        </p:nvSpPr>
        <p:spPr>
          <a:xfrm>
            <a:off x="777240" y="2331720"/>
            <a:ext cx="3063240" cy="100584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Per-core efficiency: 53.76 ÷ 2,560 cores. Misleading here — the cores mostly wait for memory.</a:t>
            </a:r>
            <a:endParaRPr lang="en-US" sz="1300" dirty="0"/>
          </a:p>
        </p:txBody>
      </p:sp>
      <p:sp>
        <p:nvSpPr>
          <p:cNvPr id="7" name="Shape 5"/>
          <p:cNvSpPr/>
          <p:nvPr/>
        </p:nvSpPr>
        <p:spPr>
          <a:xfrm>
            <a:off x="4334256" y="1417320"/>
            <a:ext cx="3520440" cy="2011680"/>
          </a:xfrm>
          <a:prstGeom prst="roundRect">
            <a:avLst>
              <a:gd name="adj" fmla="val 3636"/>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8" name="Text 6"/>
          <p:cNvSpPr txBox="1"/>
          <p:nvPr/>
        </p:nvSpPr>
        <p:spPr>
          <a:xfrm>
            <a:off x="4562856" y="1581912"/>
            <a:ext cx="3063240" cy="731520"/>
          </a:xfrm>
          <a:prstGeom prst="rect">
            <a:avLst/>
          </a:prstGeom>
          <a:noFill/>
          <a:ln/>
        </p:spPr>
        <p:txBody>
          <a:bodyPr wrap="square" lIns="0" tIns="0" rIns="0" bIns="0" rtlCol="0" anchor="ctr"/>
          <a:lstStyle/>
          <a:p>
            <a:pPr indent="0" marL="0">
              <a:buNone/>
            </a:pPr>
            <a:r>
              <a:rPr lang="en-US" sz="3800" b="1" dirty="0">
                <a:solidFill>
                  <a:srgbClr val="3F7A00"/>
                </a:solidFill>
                <a:latin typeface="Segoe UI Semibold" pitchFamily="34" charset="0"/>
                <a:ea typeface="Segoe UI Semibold" pitchFamily="34" charset="-122"/>
                <a:cs typeface="Segoe UI Semibold" pitchFamily="34" charset="-120"/>
              </a:rPr>
              <a:t>80.6 %</a:t>
            </a:r>
            <a:endParaRPr lang="en-US" sz="3800" dirty="0"/>
          </a:p>
        </p:txBody>
      </p:sp>
      <p:sp>
        <p:nvSpPr>
          <p:cNvPr id="9" name="Text 7"/>
          <p:cNvSpPr txBox="1"/>
          <p:nvPr/>
        </p:nvSpPr>
        <p:spPr>
          <a:xfrm>
            <a:off x="4562856" y="2331720"/>
            <a:ext cx="3063240" cy="100584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Bandwidth efficiency: 258.0 ÷ 320 GB/s. Real streaming kernels reach 80–90 %.</a:t>
            </a:r>
            <a:endParaRPr lang="en-US" sz="1300" dirty="0"/>
          </a:p>
        </p:txBody>
      </p:sp>
      <p:sp>
        <p:nvSpPr>
          <p:cNvPr id="10" name="Shape 8"/>
          <p:cNvSpPr/>
          <p:nvPr/>
        </p:nvSpPr>
        <p:spPr>
          <a:xfrm>
            <a:off x="8119872" y="1417320"/>
            <a:ext cx="3520440" cy="2011680"/>
          </a:xfrm>
          <a:prstGeom prst="roundRect">
            <a:avLst>
              <a:gd name="adj" fmla="val 3636"/>
            </a:avLst>
          </a:prstGeom>
          <a:solidFill>
            <a:srgbClr val="EEF6E0"/>
          </a:solidFill>
          <a:ln w="6350">
            <a:solidFill>
              <a:srgbClr val="EEF6E0"/>
            </a:solidFill>
            <a:prstDash val="solid"/>
          </a:ln>
          <a:effectLst>
            <a:outerShdw sx="100000" sy="100000" kx="0" ky="0" algn="bl" rotWithShape="0" blurRad="88900" dist="25400" dir="5400000">
              <a:srgbClr val="000000">
                <a:alpha val="12000"/>
              </a:srgbClr>
            </a:outerShdw>
          </a:effectLst>
        </p:spPr>
      </p:sp>
      <p:sp>
        <p:nvSpPr>
          <p:cNvPr id="11" name="Text 9"/>
          <p:cNvSpPr txBox="1"/>
          <p:nvPr/>
        </p:nvSpPr>
        <p:spPr>
          <a:xfrm>
            <a:off x="8348472" y="1581912"/>
            <a:ext cx="3063240" cy="731520"/>
          </a:xfrm>
          <a:prstGeom prst="rect">
            <a:avLst/>
          </a:prstGeom>
          <a:noFill/>
          <a:ln/>
        </p:spPr>
        <p:txBody>
          <a:bodyPr wrap="square" lIns="0" tIns="0" rIns="0" bIns="0" rtlCol="0" anchor="ctr"/>
          <a:lstStyle/>
          <a:p>
            <a:pPr indent="0" marL="0">
              <a:buNone/>
            </a:pPr>
            <a:r>
              <a:rPr lang="en-US" sz="3800" b="1" dirty="0">
                <a:solidFill>
                  <a:srgbClr val="3F7A00"/>
                </a:solidFill>
                <a:latin typeface="Segoe UI Semibold" pitchFamily="34" charset="0"/>
                <a:ea typeface="Segoe UI Semibold" pitchFamily="34" charset="-122"/>
                <a:cs typeface="Segoe UI Semibold" pitchFamily="34" charset="-120"/>
              </a:rPr>
              <a:t>80.6 %</a:t>
            </a:r>
            <a:endParaRPr lang="en-US" sz="3800" dirty="0"/>
          </a:p>
        </p:txBody>
      </p:sp>
      <p:sp>
        <p:nvSpPr>
          <p:cNvPr id="12" name="Text 10"/>
          <p:cNvSpPr txBox="1"/>
          <p:nvPr/>
        </p:nvSpPr>
        <p:spPr>
          <a:xfrm>
            <a:off x="8348472" y="2331720"/>
            <a:ext cx="3063240" cy="100584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Roofline efficiency: 21.50 ÷ 26.67 GFLOPS, the best its memory traffic allows.</a:t>
            </a:r>
            <a:endParaRPr lang="en-US" sz="1300" dirty="0"/>
          </a:p>
        </p:txBody>
      </p:sp>
      <p:sp>
        <p:nvSpPr>
          <p:cNvPr id="13" name="Text 11"/>
          <p:cNvSpPr txBox="1"/>
          <p:nvPr/>
        </p:nvSpPr>
        <p:spPr>
          <a:xfrm>
            <a:off x="548640" y="3749040"/>
            <a:ext cx="5120640" cy="365760"/>
          </a:xfrm>
          <a:prstGeom prst="rect">
            <a:avLst/>
          </a:prstGeom>
          <a:noFill/>
          <a:ln/>
        </p:spPr>
        <p:txBody>
          <a:bodyPr wrap="square" lIns="0" tIns="0" rIns="0" bIns="0" rtlCol="0" anchor="t"/>
          <a:lstStyle/>
          <a:p>
            <a:pPr indent="0" marL="0">
              <a:buNone/>
            </a:pPr>
            <a:r>
              <a:rPr lang="en-US" sz="1600" b="1" dirty="0">
                <a:solidFill>
                  <a:srgbClr val="15181D"/>
                </a:solidFill>
                <a:latin typeface="Segoe UI Semibold" pitchFamily="34" charset="0"/>
                <a:ea typeface="Segoe UI Semibold" pitchFamily="34" charset="-122"/>
                <a:cs typeface="Segoe UI Semibold" pitchFamily="34" charset="-120"/>
              </a:rPr>
              <a:t>Why memory, not cores, sets the limit</a:t>
            </a:r>
            <a:endParaRPr lang="en-US" sz="1600" dirty="0"/>
          </a:p>
        </p:txBody>
      </p:sp>
      <p:sp>
        <p:nvSpPr>
          <p:cNvPr id="14" name="Shape 12"/>
          <p:cNvSpPr/>
          <p:nvPr/>
        </p:nvSpPr>
        <p:spPr>
          <a:xfrm>
            <a:off x="548640" y="4224528"/>
            <a:ext cx="329184" cy="329184"/>
          </a:xfrm>
          <a:prstGeom prst="ellipse">
            <a:avLst/>
          </a:prstGeom>
          <a:solidFill>
            <a:srgbClr val="76B900"/>
          </a:solidFill>
          <a:ln w="6350">
            <a:solidFill>
              <a:srgbClr val="76B900"/>
            </a:solidFill>
            <a:prstDash val="solid"/>
          </a:ln>
        </p:spPr>
      </p:sp>
      <p:sp>
        <p:nvSpPr>
          <p:cNvPr id="15" name="Text 13"/>
          <p:cNvSpPr txBox="1"/>
          <p:nvPr/>
        </p:nvSpPr>
        <p:spPr>
          <a:xfrm>
            <a:off x="548640" y="42245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16" name="Text 14"/>
          <p:cNvSpPr txBox="1"/>
          <p:nvPr/>
        </p:nvSpPr>
        <p:spPr>
          <a:xfrm>
            <a:off x="1024128" y="4206240"/>
            <a:ext cx="4736592" cy="621792"/>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Arithmetic intensity: </a:t>
            </a:r>
            <a:pPr indent="0" marL="0">
              <a:buNone/>
            </a:pPr>
            <a:r>
              <a:rPr lang="en-US" sz="1300" dirty="0">
                <a:solidFill>
                  <a:srgbClr val="2D333B"/>
                </a:solidFill>
                <a:latin typeface="Segoe UI" pitchFamily="34" charset="0"/>
                <a:ea typeface="Segoe UI" pitchFamily="34" charset="-122"/>
                <a:cs typeface="Segoe UI" pitchFamily="34" charset="-120"/>
              </a:rPr>
              <a:t>1 FLOP per 12 bytes (read A, read B, write C) = 0.083 FLOP/byte.</a:t>
            </a:r>
            <a:endParaRPr lang="en-US" sz="1300" dirty="0"/>
          </a:p>
        </p:txBody>
      </p:sp>
      <p:sp>
        <p:nvSpPr>
          <p:cNvPr id="17" name="Shape 15"/>
          <p:cNvSpPr/>
          <p:nvPr/>
        </p:nvSpPr>
        <p:spPr>
          <a:xfrm>
            <a:off x="548640" y="4919472"/>
            <a:ext cx="329184" cy="329184"/>
          </a:xfrm>
          <a:prstGeom prst="ellipse">
            <a:avLst/>
          </a:prstGeom>
          <a:solidFill>
            <a:srgbClr val="76B900"/>
          </a:solidFill>
          <a:ln w="6350">
            <a:solidFill>
              <a:srgbClr val="76B900"/>
            </a:solidFill>
            <a:prstDash val="solid"/>
          </a:ln>
        </p:spPr>
      </p:sp>
      <p:sp>
        <p:nvSpPr>
          <p:cNvPr id="18" name="Text 16"/>
          <p:cNvSpPr txBox="1"/>
          <p:nvPr/>
        </p:nvSpPr>
        <p:spPr>
          <a:xfrm>
            <a:off x="548640" y="4919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9" name="Text 17"/>
          <p:cNvSpPr txBox="1"/>
          <p:nvPr/>
        </p:nvSpPr>
        <p:spPr>
          <a:xfrm>
            <a:off x="1024128" y="4901184"/>
            <a:ext cx="4736592" cy="621792"/>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Ridge point of the T4: </a:t>
            </a:r>
            <a:pPr indent="0" marL="0">
              <a:buNone/>
            </a:pPr>
            <a:r>
              <a:rPr lang="en-US" sz="1300" dirty="0">
                <a:solidFill>
                  <a:srgbClr val="2D333B"/>
                </a:solidFill>
                <a:latin typeface="Segoe UI" pitchFamily="34" charset="0"/>
                <a:ea typeface="Segoe UI" pitchFamily="34" charset="-122"/>
                <a:cs typeface="Segoe UI" pitchFamily="34" charset="-120"/>
              </a:rPr>
              <a:t>8.1 TFLOPS ÷ 320 GB/s ≈ 25.3 FLOP/byte.</a:t>
            </a:r>
            <a:endParaRPr lang="en-US" sz="1300" dirty="0"/>
          </a:p>
        </p:txBody>
      </p:sp>
      <p:sp>
        <p:nvSpPr>
          <p:cNvPr id="20" name="Shape 18"/>
          <p:cNvSpPr/>
          <p:nvPr/>
        </p:nvSpPr>
        <p:spPr>
          <a:xfrm>
            <a:off x="548640" y="5614416"/>
            <a:ext cx="329184" cy="329184"/>
          </a:xfrm>
          <a:prstGeom prst="ellipse">
            <a:avLst/>
          </a:prstGeom>
          <a:solidFill>
            <a:srgbClr val="76B900"/>
          </a:solidFill>
          <a:ln w="6350">
            <a:solidFill>
              <a:srgbClr val="76B900"/>
            </a:solidFill>
            <a:prstDash val="solid"/>
          </a:ln>
        </p:spPr>
      </p:sp>
      <p:sp>
        <p:nvSpPr>
          <p:cNvPr id="21" name="Text 19"/>
          <p:cNvSpPr txBox="1"/>
          <p:nvPr/>
        </p:nvSpPr>
        <p:spPr>
          <a:xfrm>
            <a:off x="548640" y="5614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22" name="Text 20"/>
          <p:cNvSpPr txBox="1"/>
          <p:nvPr/>
        </p:nvSpPr>
        <p:spPr>
          <a:xfrm>
            <a:off x="1024128" y="5596128"/>
            <a:ext cx="4736592" cy="621792"/>
          </a:xfrm>
          <a:prstGeom prst="rect">
            <a:avLst/>
          </a:prstGeom>
          <a:noFill/>
          <a:ln/>
        </p:spPr>
        <p:txBody>
          <a:bodyPr wrap="square" lIns="0" tIns="0" rIns="0" bIns="0" rtlCol="0" anchor="t"/>
          <a:lstStyle/>
          <a:p>
            <a:pPr indent="0" marL="0">
              <a:buNone/>
            </a:pPr>
            <a:r>
              <a:rPr lang="en-US" sz="1300" b="1" dirty="0">
                <a:solidFill>
                  <a:srgbClr val="15181D"/>
                </a:solidFill>
                <a:latin typeface="Segoe UI" pitchFamily="34" charset="0"/>
                <a:ea typeface="Segoe UI" pitchFamily="34" charset="-122"/>
                <a:cs typeface="Segoe UI" pitchFamily="34" charset="-120"/>
              </a:rPr>
              <a:t>Our kernel is ≈ 304× below the ridge, </a:t>
            </a:r>
            <a:pPr indent="0" marL="0">
              <a:buNone/>
            </a:pPr>
            <a:r>
              <a:rPr lang="en-US" sz="1300" dirty="0">
                <a:solidFill>
                  <a:srgbClr val="2D333B"/>
                </a:solidFill>
                <a:latin typeface="Segoe UI" pitchFamily="34" charset="0"/>
                <a:ea typeface="Segoe UI" pitchFamily="34" charset="-122"/>
                <a:cs typeface="Segoe UI" pitchFamily="34" charset="-120"/>
              </a:rPr>
              <a:t>so only moving fewer bytes could make it faster.</a:t>
            </a:r>
            <a:endParaRPr lang="en-US" sz="1300" dirty="0"/>
          </a:p>
        </p:txBody>
      </p:sp>
      <p:sp>
        <p:nvSpPr>
          <p:cNvPr id="23" name="Shape 21"/>
          <p:cNvSpPr/>
          <p:nvPr/>
        </p:nvSpPr>
        <p:spPr>
          <a:xfrm>
            <a:off x="6172200" y="3657600"/>
            <a:ext cx="5468112" cy="2606040"/>
          </a:xfrm>
          <a:prstGeom prst="roundRect">
            <a:avLst>
              <a:gd name="adj" fmla="val 2807"/>
            </a:avLst>
          </a:prstGeom>
          <a:solidFill>
            <a:srgbClr val="FFFFFF"/>
          </a:solidFill>
          <a:ln w="9525">
            <a:solidFill>
              <a:srgbClr val="DDE2E7"/>
            </a:solidFill>
            <a:prstDash val="solid"/>
          </a:ln>
        </p:spPr>
      </p:sp>
      <p:sp>
        <p:nvSpPr>
          <p:cNvPr id="24" name="Shape 22"/>
          <p:cNvSpPr/>
          <p:nvPr/>
        </p:nvSpPr>
        <p:spPr>
          <a:xfrm>
            <a:off x="6720840" y="3840480"/>
            <a:ext cx="0" cy="2057400"/>
          </a:xfrm>
          <a:prstGeom prst="line">
            <a:avLst/>
          </a:prstGeom>
          <a:noFill/>
          <a:ln w="12700">
            <a:solidFill>
              <a:srgbClr val="9AA4AF"/>
            </a:solidFill>
            <a:prstDash val="solid"/>
          </a:ln>
        </p:spPr>
      </p:sp>
      <p:sp>
        <p:nvSpPr>
          <p:cNvPr id="25" name="Shape 23"/>
          <p:cNvSpPr/>
          <p:nvPr/>
        </p:nvSpPr>
        <p:spPr>
          <a:xfrm>
            <a:off x="6720840" y="5897880"/>
            <a:ext cx="4709160" cy="0"/>
          </a:xfrm>
          <a:prstGeom prst="line">
            <a:avLst/>
          </a:prstGeom>
          <a:noFill/>
          <a:ln w="12700">
            <a:solidFill>
              <a:srgbClr val="9AA4AF"/>
            </a:solidFill>
            <a:prstDash val="solid"/>
          </a:ln>
        </p:spPr>
      </p:sp>
      <p:sp>
        <p:nvSpPr>
          <p:cNvPr id="26" name="Shape 24"/>
          <p:cNvSpPr/>
          <p:nvPr/>
        </p:nvSpPr>
        <p:spPr>
          <a:xfrm flipV="1">
            <a:off x="6720840" y="3976899"/>
            <a:ext cx="3205168" cy="1672705"/>
          </a:xfrm>
          <a:prstGeom prst="line">
            <a:avLst/>
          </a:prstGeom>
          <a:noFill/>
          <a:ln w="31750">
            <a:solidFill>
              <a:srgbClr val="1F6FB2"/>
            </a:solidFill>
            <a:prstDash val="solid"/>
          </a:ln>
        </p:spPr>
      </p:sp>
      <p:sp>
        <p:nvSpPr>
          <p:cNvPr id="27" name="Shape 25"/>
          <p:cNvSpPr/>
          <p:nvPr/>
        </p:nvSpPr>
        <p:spPr>
          <a:xfrm>
            <a:off x="9926008" y="3976899"/>
            <a:ext cx="1503992" cy="0"/>
          </a:xfrm>
          <a:prstGeom prst="line">
            <a:avLst/>
          </a:prstGeom>
          <a:noFill/>
          <a:ln w="31750">
            <a:solidFill>
              <a:srgbClr val="D33A2C"/>
            </a:solidFill>
            <a:prstDash val="solid"/>
          </a:ln>
        </p:spPr>
      </p:sp>
      <p:sp>
        <p:nvSpPr>
          <p:cNvPr id="28" name="Shape 26"/>
          <p:cNvSpPr/>
          <p:nvPr/>
        </p:nvSpPr>
        <p:spPr>
          <a:xfrm>
            <a:off x="9926008" y="3976899"/>
            <a:ext cx="0" cy="1920981"/>
          </a:xfrm>
          <a:prstGeom prst="line">
            <a:avLst/>
          </a:prstGeom>
          <a:noFill/>
          <a:ln w="12700">
            <a:solidFill>
              <a:srgbClr val="9AA4AF"/>
            </a:solidFill>
            <a:prstDash val="dash"/>
          </a:ln>
        </p:spPr>
      </p:sp>
      <p:sp>
        <p:nvSpPr>
          <p:cNvPr id="29" name="Shape 27"/>
          <p:cNvSpPr/>
          <p:nvPr/>
        </p:nvSpPr>
        <p:spPr>
          <a:xfrm>
            <a:off x="7504161" y="5160704"/>
            <a:ext cx="164592" cy="164592"/>
          </a:xfrm>
          <a:prstGeom prst="ellipse">
            <a:avLst/>
          </a:prstGeom>
          <a:solidFill>
            <a:srgbClr val="76B900"/>
          </a:solidFill>
          <a:ln w="12700">
            <a:solidFill>
              <a:srgbClr val="3F7A00"/>
            </a:solidFill>
            <a:prstDash val="solid"/>
          </a:ln>
        </p:spPr>
      </p:sp>
      <p:sp>
        <p:nvSpPr>
          <p:cNvPr id="30" name="Text 28"/>
          <p:cNvSpPr txBox="1"/>
          <p:nvPr/>
        </p:nvSpPr>
        <p:spPr>
          <a:xfrm>
            <a:off x="9971728" y="3684291"/>
            <a:ext cx="1737360" cy="256032"/>
          </a:xfrm>
          <a:prstGeom prst="rect">
            <a:avLst/>
          </a:prstGeom>
          <a:noFill/>
          <a:ln/>
        </p:spPr>
        <p:txBody>
          <a:bodyPr wrap="square" lIns="0" tIns="0" rIns="0" bIns="0" rtlCol="0" anchor="t"/>
          <a:lstStyle/>
          <a:p>
            <a:pPr indent="0" marL="0">
              <a:buNone/>
            </a:pPr>
            <a:r>
              <a:rPr lang="en-US" sz="1050" b="1" dirty="0">
                <a:solidFill>
                  <a:srgbClr val="D33A2C"/>
                </a:solidFill>
                <a:latin typeface="Segoe UI" pitchFamily="34" charset="0"/>
                <a:ea typeface="Segoe UI" pitchFamily="34" charset="-122"/>
                <a:cs typeface="Segoe UI" pitchFamily="34" charset="-120"/>
              </a:rPr>
              <a:t>compute roof 8.1 TFLOPS</a:t>
            </a:r>
            <a:endParaRPr lang="en-US" sz="1050" dirty="0"/>
          </a:p>
        </p:txBody>
      </p:sp>
      <p:sp>
        <p:nvSpPr>
          <p:cNvPr id="31" name="Text 29"/>
          <p:cNvSpPr txBox="1"/>
          <p:nvPr/>
        </p:nvSpPr>
        <p:spPr>
          <a:xfrm>
            <a:off x="6858000" y="4114800"/>
            <a:ext cx="2011680" cy="256032"/>
          </a:xfrm>
          <a:prstGeom prst="rect">
            <a:avLst/>
          </a:prstGeom>
          <a:noFill/>
          <a:ln/>
        </p:spPr>
        <p:txBody>
          <a:bodyPr wrap="square" lIns="0" tIns="0" rIns="0" bIns="0" rtlCol="0" anchor="t"/>
          <a:lstStyle/>
          <a:p>
            <a:pPr indent="0" marL="0">
              <a:buNone/>
            </a:pPr>
            <a:r>
              <a:rPr lang="en-US" sz="1050" b="1" dirty="0">
                <a:solidFill>
                  <a:srgbClr val="1F6FB2"/>
                </a:solidFill>
                <a:latin typeface="Segoe UI" pitchFamily="34" charset="0"/>
                <a:ea typeface="Segoe UI" pitchFamily="34" charset="-122"/>
                <a:cs typeface="Segoe UI" pitchFamily="34" charset="-120"/>
              </a:rPr>
              <a:t>memory roof: AI × 320 GB/s</a:t>
            </a:r>
            <a:endParaRPr lang="en-US" sz="1050" dirty="0"/>
          </a:p>
        </p:txBody>
      </p:sp>
      <p:sp>
        <p:nvSpPr>
          <p:cNvPr id="32" name="Text 30"/>
          <p:cNvSpPr txBox="1"/>
          <p:nvPr/>
        </p:nvSpPr>
        <p:spPr>
          <a:xfrm>
            <a:off x="9980872" y="5623560"/>
            <a:ext cx="914400" cy="237744"/>
          </a:xfrm>
          <a:prstGeom prst="rect">
            <a:avLst/>
          </a:prstGeom>
          <a:noFill/>
          <a:ln/>
        </p:spPr>
        <p:txBody>
          <a:bodyPr wrap="square" lIns="0" tIns="0" rIns="0" bIns="0" rtlCol="0" anchor="t"/>
          <a:lstStyle/>
          <a:p>
            <a:pPr indent="0" marL="0">
              <a:buNone/>
            </a:pPr>
            <a:r>
              <a:rPr lang="en-US" sz="1050" dirty="0">
                <a:solidFill>
                  <a:srgbClr val="5B6470"/>
                </a:solidFill>
                <a:latin typeface="Segoe UI" pitchFamily="34" charset="0"/>
                <a:ea typeface="Segoe UI" pitchFamily="34" charset="-122"/>
                <a:cs typeface="Segoe UI" pitchFamily="34" charset="-120"/>
              </a:rPr>
              <a:t>ridge 25.3</a:t>
            </a:r>
            <a:endParaRPr lang="en-US" sz="1050" dirty="0"/>
          </a:p>
        </p:txBody>
      </p:sp>
      <p:sp>
        <p:nvSpPr>
          <p:cNvPr id="33" name="Text 31"/>
          <p:cNvSpPr txBox="1"/>
          <p:nvPr/>
        </p:nvSpPr>
        <p:spPr>
          <a:xfrm>
            <a:off x="7751049" y="5261288"/>
            <a:ext cx="2194560" cy="411480"/>
          </a:xfrm>
          <a:prstGeom prst="rect">
            <a:avLst/>
          </a:prstGeom>
          <a:noFill/>
          <a:ln/>
        </p:spPr>
        <p:txBody>
          <a:bodyPr wrap="square" lIns="0" tIns="0" rIns="0" bIns="0" rtlCol="0" anchor="t"/>
          <a:lstStyle/>
          <a:p>
            <a:pPr indent="0" marL="0">
              <a:buNone/>
            </a:pPr>
            <a:r>
              <a:rPr lang="en-US" sz="1050" b="1" dirty="0">
                <a:solidFill>
                  <a:srgbClr val="3F7A00"/>
                </a:solidFill>
                <a:latin typeface="Segoe UI" pitchFamily="34" charset="0"/>
                <a:ea typeface="Segoe UI" pitchFamily="34" charset="-122"/>
                <a:cs typeface="Segoe UI" pitchFamily="34" charset="-120"/>
              </a:rPr>
              <a:t>our kernel</a:t>
            </a:r>
            <a:endParaRPr lang="en-US" sz="1050" dirty="0"/>
          </a:p>
          <a:p>
            <a:pPr indent="0" marL="0">
              <a:buNone/>
            </a:pPr>
            <a:r>
              <a:rPr lang="en-US" sz="1050" b="1" dirty="0">
                <a:solidFill>
                  <a:srgbClr val="3F7A00"/>
                </a:solidFill>
                <a:latin typeface="Segoe UI" pitchFamily="34" charset="0"/>
                <a:ea typeface="Segoe UI" pitchFamily="34" charset="-122"/>
                <a:cs typeface="Segoe UI" pitchFamily="34" charset="-120"/>
              </a:rPr>
              <a:t>0.083 FLOP/B · 21.5 GFLOPS</a:t>
            </a:r>
            <a:endParaRPr lang="en-US" sz="1050" dirty="0"/>
          </a:p>
        </p:txBody>
      </p:sp>
      <p:sp>
        <p:nvSpPr>
          <p:cNvPr id="34" name="Text 32"/>
          <p:cNvSpPr txBox="1"/>
          <p:nvPr/>
        </p:nvSpPr>
        <p:spPr>
          <a:xfrm>
            <a:off x="6263640" y="3657600"/>
            <a:ext cx="1188720" cy="228600"/>
          </a:xfrm>
          <a:prstGeom prst="rect">
            <a:avLst/>
          </a:prstGeom>
          <a:noFill/>
          <a:ln/>
        </p:spPr>
        <p:txBody>
          <a:bodyPr wrap="square" lIns="0" tIns="0" rIns="0" bIns="0" rtlCol="0" anchor="t"/>
          <a:lstStyle/>
          <a:p>
            <a:pPr indent="0" marL="0">
              <a:buNone/>
            </a:pPr>
            <a:r>
              <a:rPr lang="en-US" sz="1000" dirty="0">
                <a:solidFill>
                  <a:srgbClr val="5B6470"/>
                </a:solidFill>
                <a:latin typeface="Segoe UI" pitchFamily="34" charset="0"/>
                <a:ea typeface="Segoe UI" pitchFamily="34" charset="-122"/>
                <a:cs typeface="Segoe UI" pitchFamily="34" charset="-120"/>
              </a:rPr>
              <a:t>GFLOPS (log)</a:t>
            </a:r>
            <a:endParaRPr lang="en-US" sz="1000" dirty="0"/>
          </a:p>
        </p:txBody>
      </p:sp>
      <p:sp>
        <p:nvSpPr>
          <p:cNvPr id="35" name="Text 33"/>
          <p:cNvSpPr txBox="1"/>
          <p:nvPr/>
        </p:nvSpPr>
        <p:spPr>
          <a:xfrm>
            <a:off x="6720840" y="5943600"/>
            <a:ext cx="4663440" cy="228600"/>
          </a:xfrm>
          <a:prstGeom prst="rect">
            <a:avLst/>
          </a:prstGeom>
          <a:noFill/>
          <a:ln/>
        </p:spPr>
        <p:txBody>
          <a:bodyPr wrap="square" lIns="0" tIns="0" rIns="0" bIns="0" rtlCol="0" anchor="t"/>
          <a:lstStyle/>
          <a:p>
            <a:pPr indent="0" marL="0">
              <a:buNone/>
            </a:pPr>
            <a:r>
              <a:rPr lang="en-US" sz="1000" dirty="0">
                <a:solidFill>
                  <a:srgbClr val="5B6470"/>
                </a:solidFill>
                <a:latin typeface="Segoe UI" pitchFamily="34" charset="0"/>
                <a:ea typeface="Segoe UI" pitchFamily="34" charset="-122"/>
                <a:cs typeface="Segoe UI" pitchFamily="34" charset="-120"/>
              </a:rPr>
              <a:t>arithmetic intensity, FLOP/byte (log) — schematic</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548640"/>
            <a:ext cx="9235440" cy="731520"/>
          </a:xfrm>
          <a:prstGeom prst="rect">
            <a:avLst/>
          </a:prstGeom>
          <a:noFill/>
          <a:ln/>
        </p:spPr>
        <p:txBody>
          <a:bodyPr wrap="square" lIns="0" tIns="0" rIns="0" bIns="0" rtlCol="0" anchor="ctr"/>
          <a:lstStyle/>
          <a:p>
            <a:pPr algn="l" indent="0" marL="0">
              <a:buNone/>
            </a:pPr>
            <a:r>
              <a:rPr lang="en-US" sz="2800" b="1" dirty="0">
                <a:solidFill>
                  <a:srgbClr val="15181D"/>
                </a:solidFill>
                <a:latin typeface="Segoe UI Semibold" pitchFamily="34" charset="0"/>
                <a:ea typeface="Segoe UI Semibold" pitchFamily="34" charset="-122"/>
                <a:cs typeface="Segoe UI Semibold" pitchFamily="34" charset="-120"/>
              </a:rPr>
              <a:t>Why the GPU loses end to end: PCIe and Amdahl's law</a:t>
            </a:r>
            <a:endParaRPr lang="en-US" sz="2800" dirty="0"/>
          </a:p>
        </p:txBody>
      </p:sp>
      <p:sp>
        <p:nvSpPr>
          <p:cNvPr id="3" name="Text 1"/>
          <p:cNvSpPr txBox="1"/>
          <p:nvPr/>
        </p:nvSpPr>
        <p:spPr>
          <a:xfrm>
            <a:off x="548640" y="274320"/>
            <a:ext cx="8686800" cy="274320"/>
          </a:xfrm>
          <a:prstGeom prst="rect">
            <a:avLst/>
          </a:prstGeom>
          <a:noFill/>
          <a:ln/>
        </p:spPr>
        <p:txBody>
          <a:bodyPr wrap="square" lIns="0" tIns="0" rIns="0" bIns="0" rtlCol="0" anchor="t"/>
          <a:lstStyle/>
          <a:p>
            <a:pPr indent="0" marL="0">
              <a:buNone/>
            </a:pPr>
            <a:r>
              <a:rPr lang="en-US" sz="1100" b="1" spc="150" kern="0" dirty="0">
                <a:solidFill>
                  <a:srgbClr val="3F7A00"/>
                </a:solidFill>
                <a:latin typeface="Segoe UI Semibold" pitchFamily="34" charset="0"/>
                <a:ea typeface="Segoe UI Semibold" pitchFamily="34" charset="-122"/>
                <a:cs typeface="Segoe UI Semibold" pitchFamily="34" charset="-120"/>
              </a:rPr>
              <a:t>DISCUSSION</a:t>
            </a:r>
            <a:endParaRPr lang="en-US" sz="1100" dirty="0"/>
          </a:p>
        </p:txBody>
      </p:sp>
      <p:graphicFrame>
        <p:nvGraphicFramePr>
          <p:cNvPr id="4" name="Chart 0" descr=""/>
          <p:cNvGraphicFramePr/>
          <p:nvPr/>
        </p:nvGraphicFramePr>
        <p:xfrm>
          <a:off x="548640" y="1417320"/>
          <a:ext cx="5760720" cy="3063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4663440"/>
            <a:ext cx="5760720" cy="1600200"/>
          </a:xfrm>
          <a:prstGeom prst="roundRect">
            <a:avLst>
              <a:gd name="adj" fmla="val 4571"/>
            </a:avLst>
          </a:prstGeom>
          <a:solidFill>
            <a:srgbClr val="F3F5F7"/>
          </a:solidFill>
          <a:ln w="6350">
            <a:solidFill>
              <a:srgbClr val="F3F5F7"/>
            </a:solidFill>
            <a:prstDash val="solid"/>
          </a:ln>
        </p:spPr>
      </p:sp>
      <p:sp>
        <p:nvSpPr>
          <p:cNvPr id="6" name="Text 3"/>
          <p:cNvSpPr txBox="1"/>
          <p:nvPr/>
        </p:nvSpPr>
        <p:spPr>
          <a:xfrm>
            <a:off x="749808" y="4754880"/>
            <a:ext cx="5394960" cy="292608"/>
          </a:xfrm>
          <a:prstGeom prst="rect">
            <a:avLst/>
          </a:prstGeom>
          <a:noFill/>
          <a:ln/>
        </p:spPr>
        <p:txBody>
          <a:bodyPr wrap="square" lIns="0" tIns="0" rIns="0" bIns="0" rtlCol="0" anchor="t"/>
          <a:lstStyle/>
          <a:p>
            <a:pPr indent="0" marL="0">
              <a:buNone/>
            </a:pPr>
            <a:r>
              <a:rPr lang="en-US" sz="1300" b="1" dirty="0">
                <a:solidFill>
                  <a:srgbClr val="15181D"/>
                </a:solidFill>
                <a:latin typeface="Segoe UI Semibold" pitchFamily="34" charset="0"/>
                <a:ea typeface="Segoe UI Semibold" pitchFamily="34" charset="-122"/>
                <a:cs typeface="Segoe UI Semibold" pitchFamily="34" charset="-120"/>
              </a:rPr>
              <a:t>Why PCIe reached only ≈ 2.6 GB/s (vs ≈ 12 GB/s possible)</a:t>
            </a:r>
            <a:endParaRPr lang="en-US" sz="1300" dirty="0"/>
          </a:p>
        </p:txBody>
      </p:sp>
      <p:sp>
        <p:nvSpPr>
          <p:cNvPr id="7" name="Text 4"/>
          <p:cNvSpPr txBox="1"/>
          <p:nvPr/>
        </p:nvSpPr>
        <p:spPr>
          <a:xfrm>
            <a:off x="749808" y="5074920"/>
            <a:ext cx="5440680" cy="114300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2D333B"/>
                </a:solidFill>
                <a:latin typeface="Segoe UI" pitchFamily="34" charset="0"/>
                <a:ea typeface="Segoe UI" pitchFamily="34" charset="-122"/>
                <a:cs typeface="Segoe UI" pitchFamily="34" charset="-120"/>
              </a:rPr>
              <a:t>Pageable malloc memory: the driver stages every copy through a hidden pinned buffer.</a:t>
            </a:r>
            <a:endParaRPr lang="en-US" sz="1200" dirty="0"/>
          </a:p>
          <a:p>
            <a:pPr marL="342900" indent="-342900">
              <a:spcAft>
                <a:spcPts val="200"/>
              </a:spcAft>
              <a:buSzPct val="100000"/>
              <a:buChar char="•"/>
            </a:pPr>
            <a:r>
              <a:rPr lang="en-US" sz="1200" dirty="0">
                <a:solidFill>
                  <a:srgbClr val="2D333B"/>
                </a:solidFill>
                <a:latin typeface="Segoe UI" pitchFamily="34" charset="0"/>
                <a:ea typeface="Segoe UI" pitchFamily="34" charset="-122"/>
                <a:cs typeface="Segoe UI" pitchFamily="34" charset="-120"/>
              </a:rPr>
              <a:t>First-touch page faults on the output buffers during the timed copy.</a:t>
            </a:r>
            <a:endParaRPr lang="en-US" sz="1200" dirty="0"/>
          </a:p>
          <a:p>
            <a:pPr marL="342900" indent="-342900">
              <a:spcAft>
                <a:spcPts val="200"/>
              </a:spcAft>
              <a:buSzPct val="100000"/>
              <a:buChar char="•"/>
            </a:pPr>
            <a:r>
              <a:rPr lang="en-US" sz="1200" dirty="0">
                <a:solidFill>
                  <a:srgbClr val="2D333B"/>
                </a:solidFill>
                <a:latin typeface="Segoe UI" pitchFamily="34" charset="0"/>
                <a:ea typeface="Segoe UI" pitchFamily="34" charset="-122"/>
                <a:cs typeface="Segoe UI" pitchFamily="34" charset="-120"/>
              </a:rPr>
              <a:t>Virtualised Colab host: extra address translation for DMA.</a:t>
            </a:r>
            <a:endParaRPr lang="en-US" sz="1200" dirty="0"/>
          </a:p>
        </p:txBody>
      </p:sp>
      <p:sp>
        <p:nvSpPr>
          <p:cNvPr id="8" name="Shape 5"/>
          <p:cNvSpPr/>
          <p:nvPr/>
        </p:nvSpPr>
        <p:spPr>
          <a:xfrm>
            <a:off x="6675120" y="1417320"/>
            <a:ext cx="4965192" cy="2240280"/>
          </a:xfrm>
          <a:prstGeom prst="roundRect">
            <a:avLst>
              <a:gd name="adj" fmla="val 3265"/>
            </a:avLst>
          </a:prstGeom>
          <a:solidFill>
            <a:srgbClr val="FDEEDF"/>
          </a:solidFill>
          <a:ln w="6350">
            <a:solidFill>
              <a:srgbClr val="FDEEDF"/>
            </a:solidFill>
            <a:prstDash val="solid"/>
          </a:ln>
        </p:spPr>
      </p:sp>
      <p:sp>
        <p:nvSpPr>
          <p:cNvPr id="9" name="Text 6"/>
          <p:cNvSpPr txBox="1"/>
          <p:nvPr/>
        </p:nvSpPr>
        <p:spPr>
          <a:xfrm>
            <a:off x="6903720" y="1527048"/>
            <a:ext cx="4572000" cy="320040"/>
          </a:xfrm>
          <a:prstGeom prst="rect">
            <a:avLst/>
          </a:prstGeom>
          <a:noFill/>
          <a:ln/>
        </p:spPr>
        <p:txBody>
          <a:bodyPr wrap="square" lIns="0" tIns="0" rIns="0" bIns="0" rtlCol="0" anchor="t"/>
          <a:lstStyle/>
          <a:p>
            <a:pPr indent="0" marL="0">
              <a:buNone/>
            </a:pPr>
            <a:r>
              <a:rPr lang="en-US" sz="1500" b="1" dirty="0">
                <a:solidFill>
                  <a:srgbClr val="15181D"/>
                </a:solidFill>
                <a:latin typeface="Segoe UI Semibold" pitchFamily="34" charset="0"/>
                <a:ea typeface="Segoe UI Semibold" pitchFamily="34" charset="-122"/>
                <a:cs typeface="Segoe UI Semibold" pitchFamily="34" charset="-120"/>
              </a:rPr>
              <a:t>Amdahl's law at N = 25 M</a:t>
            </a:r>
            <a:endParaRPr lang="en-US" sz="1500" dirty="0"/>
          </a:p>
        </p:txBody>
      </p:sp>
      <p:sp>
        <p:nvSpPr>
          <p:cNvPr id="10" name="Text 7"/>
          <p:cNvSpPr txBox="1"/>
          <p:nvPr/>
        </p:nvSpPr>
        <p:spPr>
          <a:xfrm>
            <a:off x="6903720" y="1920240"/>
            <a:ext cx="4572000" cy="365760"/>
          </a:xfrm>
          <a:prstGeom prst="rect">
            <a:avLst/>
          </a:prstGeom>
          <a:noFill/>
          <a:ln/>
        </p:spPr>
        <p:txBody>
          <a:bodyPr wrap="square" lIns="0" tIns="0" rIns="0" bIns="0" rtlCol="0" anchor="t"/>
          <a:lstStyle/>
          <a:p>
            <a:pPr indent="0" marL="0">
              <a:buNone/>
            </a:pPr>
            <a:r>
              <a:rPr lang="en-US" sz="1300" b="1" dirty="0">
                <a:solidFill>
                  <a:srgbClr val="9A4A00"/>
                </a:solidFill>
                <a:latin typeface="Consolas" pitchFamily="34" charset="0"/>
                <a:ea typeface="Consolas" pitchFamily="34" charset="-122"/>
                <a:cs typeface="Consolas" pitchFamily="34" charset="-120"/>
              </a:rPr>
              <a:t>S_max = T_CPU / T_X = 125.05 / 230.39 = 0.543×</a:t>
            </a:r>
            <a:endParaRPr lang="en-US" sz="1300" dirty="0"/>
          </a:p>
        </p:txBody>
      </p:sp>
      <p:sp>
        <p:nvSpPr>
          <p:cNvPr id="11" name="Text 8"/>
          <p:cNvSpPr txBox="1"/>
          <p:nvPr/>
        </p:nvSpPr>
        <p:spPr>
          <a:xfrm>
            <a:off x="6903720" y="2377440"/>
            <a:ext cx="4572000" cy="1188720"/>
          </a:xfrm>
          <a:prstGeom prst="rect">
            <a:avLst/>
          </a:prstGeom>
          <a:noFill/>
          <a:ln/>
        </p:spPr>
        <p:txBody>
          <a:bodyPr wrap="square" lIns="0" tIns="0" rIns="0" bIns="0" rtlCol="0" anchor="t"/>
          <a:lstStyle/>
          <a:p>
            <a:pPr indent="0" marL="0">
              <a:buNone/>
            </a:pPr>
            <a:r>
              <a:rPr lang="en-US" sz="1300" dirty="0">
                <a:solidFill>
                  <a:srgbClr val="2D333B"/>
                </a:solidFill>
                <a:latin typeface="Segoe UI" pitchFamily="34" charset="0"/>
                <a:ea typeface="Segoe UI" pitchFamily="34" charset="-122"/>
                <a:cs typeface="Segoe UI" pitchFamily="34" charset="-120"/>
              </a:rPr>
              <a:t>Even an infinitely fast kernel could not beat the CPU. We measured 0.537×, within 1.1 % of this limit: copying alone took 1.84× longer than the whole CPU computation.</a:t>
            </a:r>
            <a:endParaRPr lang="en-US" sz="1300" dirty="0"/>
          </a:p>
        </p:txBody>
      </p:sp>
      <p:sp>
        <p:nvSpPr>
          <p:cNvPr id="12" name="Shape 9"/>
          <p:cNvSpPr/>
          <p:nvPr/>
        </p:nvSpPr>
        <p:spPr>
          <a:xfrm>
            <a:off x="6675120" y="3840480"/>
            <a:ext cx="4965192" cy="2423160"/>
          </a:xfrm>
          <a:prstGeom prst="roundRect">
            <a:avLst>
              <a:gd name="adj" fmla="val 3019"/>
            </a:avLst>
          </a:prstGeom>
          <a:solidFill>
            <a:srgbClr val="EEF6E0"/>
          </a:solidFill>
          <a:ln w="6350">
            <a:solidFill>
              <a:srgbClr val="EEF6E0"/>
            </a:solidFill>
            <a:prstDash val="solid"/>
          </a:ln>
        </p:spPr>
      </p:sp>
      <p:sp>
        <p:nvSpPr>
          <p:cNvPr id="13" name="Text 10"/>
          <p:cNvSpPr txBox="1"/>
          <p:nvPr/>
        </p:nvSpPr>
        <p:spPr>
          <a:xfrm>
            <a:off x="6903720" y="3950208"/>
            <a:ext cx="4572000" cy="320040"/>
          </a:xfrm>
          <a:prstGeom prst="rect">
            <a:avLst/>
          </a:prstGeom>
          <a:noFill/>
          <a:ln/>
        </p:spPr>
        <p:txBody>
          <a:bodyPr wrap="square" lIns="0" tIns="0" rIns="0" bIns="0" rtlCol="0" anchor="t"/>
          <a:lstStyle/>
          <a:p>
            <a:pPr indent="0" marL="0">
              <a:buNone/>
            </a:pPr>
            <a:r>
              <a:rPr lang="en-US" sz="1500" b="1" dirty="0">
                <a:solidFill>
                  <a:srgbClr val="15181D"/>
                </a:solidFill>
                <a:latin typeface="Segoe UI Semibold" pitchFamily="34" charset="0"/>
                <a:ea typeface="Segoe UI Semibold" pitchFamily="34" charset="-122"/>
                <a:cs typeface="Segoe UI Semibold" pitchFamily="34" charset="-120"/>
              </a:rPr>
              <a:t>How the GPU could win end to end</a:t>
            </a:r>
            <a:endParaRPr lang="en-US" sz="1500" dirty="0"/>
          </a:p>
        </p:txBody>
      </p:sp>
      <p:sp>
        <p:nvSpPr>
          <p:cNvPr id="14" name="Shape 11"/>
          <p:cNvSpPr/>
          <p:nvPr/>
        </p:nvSpPr>
        <p:spPr>
          <a:xfrm>
            <a:off x="6903720" y="4389120"/>
            <a:ext cx="329184" cy="329184"/>
          </a:xfrm>
          <a:prstGeom prst="ellipse">
            <a:avLst/>
          </a:prstGeom>
          <a:solidFill>
            <a:srgbClr val="76B900"/>
          </a:solidFill>
          <a:ln w="6350">
            <a:solidFill>
              <a:srgbClr val="76B900"/>
            </a:solidFill>
            <a:prstDash val="solid"/>
          </a:ln>
        </p:spPr>
      </p:sp>
      <p:sp>
        <p:nvSpPr>
          <p:cNvPr id="15" name="Text 12"/>
          <p:cNvSpPr txBox="1"/>
          <p:nvPr/>
        </p:nvSpPr>
        <p:spPr>
          <a:xfrm>
            <a:off x="690372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16" name="Text 13"/>
          <p:cNvSpPr txBox="1"/>
          <p:nvPr/>
        </p:nvSpPr>
        <p:spPr>
          <a:xfrm>
            <a:off x="7379208" y="4370832"/>
            <a:ext cx="4096512" cy="548640"/>
          </a:xfrm>
          <a:prstGeom prst="rect">
            <a:avLst/>
          </a:prstGeom>
          <a:noFill/>
          <a:ln/>
        </p:spPr>
        <p:txBody>
          <a:bodyPr wrap="square" lIns="0" tIns="0" rIns="0" bIns="0" rtlCol="0" anchor="t"/>
          <a:lstStyle/>
          <a:p>
            <a:pPr indent="0" marL="0">
              <a:buNone/>
            </a:pPr>
            <a:r>
              <a:rPr lang="en-US" sz="1250" b="1" dirty="0">
                <a:solidFill>
                  <a:srgbClr val="15181D"/>
                </a:solidFill>
                <a:latin typeface="Segoe UI" pitchFamily="34" charset="0"/>
                <a:ea typeface="Segoe UI" pitchFamily="34" charset="-122"/>
                <a:cs typeface="Segoe UI" pitchFamily="34" charset="-120"/>
              </a:rPr>
              <a:t>Keep data on the GPU </a:t>
            </a:r>
            <a:pPr indent="0" marL="0">
              <a:buNone/>
            </a:pPr>
            <a:r>
              <a:rPr lang="en-US" sz="1250" dirty="0">
                <a:solidFill>
                  <a:srgbClr val="2D333B"/>
                </a:solidFill>
                <a:latin typeface="Segoe UI" pitchFamily="34" charset="0"/>
                <a:ea typeface="Segoe UI" pitchFamily="34" charset="-122"/>
                <a:cs typeface="Segoe UI" pitchFamily="34" charset="-120"/>
              </a:rPr>
              <a:t>and run many operations per transfer.</a:t>
            </a:r>
            <a:endParaRPr lang="en-US" sz="1250" dirty="0"/>
          </a:p>
        </p:txBody>
      </p:sp>
      <p:sp>
        <p:nvSpPr>
          <p:cNvPr id="17" name="Shape 14"/>
          <p:cNvSpPr/>
          <p:nvPr/>
        </p:nvSpPr>
        <p:spPr>
          <a:xfrm>
            <a:off x="6903720" y="5010912"/>
            <a:ext cx="329184" cy="329184"/>
          </a:xfrm>
          <a:prstGeom prst="ellipse">
            <a:avLst/>
          </a:prstGeom>
          <a:solidFill>
            <a:srgbClr val="76B900"/>
          </a:solidFill>
          <a:ln w="6350">
            <a:solidFill>
              <a:srgbClr val="76B900"/>
            </a:solidFill>
            <a:prstDash val="solid"/>
          </a:ln>
        </p:spPr>
      </p:sp>
      <p:sp>
        <p:nvSpPr>
          <p:cNvPr id="18" name="Text 15"/>
          <p:cNvSpPr txBox="1"/>
          <p:nvPr/>
        </p:nvSpPr>
        <p:spPr>
          <a:xfrm>
            <a:off x="6903720" y="50109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19" name="Text 16"/>
          <p:cNvSpPr txBox="1"/>
          <p:nvPr/>
        </p:nvSpPr>
        <p:spPr>
          <a:xfrm>
            <a:off x="7379208" y="4992624"/>
            <a:ext cx="4096512" cy="548640"/>
          </a:xfrm>
          <a:prstGeom prst="rect">
            <a:avLst/>
          </a:prstGeom>
          <a:noFill/>
          <a:ln/>
        </p:spPr>
        <p:txBody>
          <a:bodyPr wrap="square" lIns="0" tIns="0" rIns="0" bIns="0" rtlCol="0" anchor="t"/>
          <a:lstStyle/>
          <a:p>
            <a:pPr indent="0" marL="0">
              <a:buNone/>
            </a:pPr>
            <a:r>
              <a:rPr lang="en-US" sz="1250" b="1" dirty="0">
                <a:solidFill>
                  <a:srgbClr val="15181D"/>
                </a:solidFill>
                <a:latin typeface="Segoe UI" pitchFamily="34" charset="0"/>
                <a:ea typeface="Segoe UI" pitchFamily="34" charset="-122"/>
                <a:cs typeface="Segoe UI" pitchFamily="34" charset="-120"/>
              </a:rPr>
              <a:t>Pinned memory </a:t>
            </a:r>
            <a:pPr indent="0" marL="0">
              <a:buNone/>
            </a:pPr>
            <a:r>
              <a:rPr lang="en-US" sz="1250" dirty="0">
                <a:solidFill>
                  <a:srgbClr val="2D333B"/>
                </a:solidFill>
                <a:latin typeface="Segoe UI" pitchFamily="34" charset="0"/>
                <a:ea typeface="Segoe UI" pitchFamily="34" charset="-122"/>
                <a:cs typeface="Segoe UI" pitchFamily="34" charset="-120"/>
              </a:rPr>
              <a:t>(cudaMallocHost): estimated ≈ 2.4× end to end — not measured.</a:t>
            </a:r>
            <a:endParaRPr lang="en-US" sz="1250" dirty="0"/>
          </a:p>
        </p:txBody>
      </p:sp>
      <p:sp>
        <p:nvSpPr>
          <p:cNvPr id="20" name="Shape 17"/>
          <p:cNvSpPr/>
          <p:nvPr/>
        </p:nvSpPr>
        <p:spPr>
          <a:xfrm>
            <a:off x="6903720" y="5632704"/>
            <a:ext cx="329184" cy="329184"/>
          </a:xfrm>
          <a:prstGeom prst="ellipse">
            <a:avLst/>
          </a:prstGeom>
          <a:solidFill>
            <a:srgbClr val="76B900"/>
          </a:solidFill>
          <a:ln w="6350">
            <a:solidFill>
              <a:srgbClr val="76B900"/>
            </a:solidFill>
            <a:prstDash val="solid"/>
          </a:ln>
        </p:spPr>
      </p:sp>
      <p:sp>
        <p:nvSpPr>
          <p:cNvPr id="21" name="Text 18"/>
          <p:cNvSpPr txBox="1"/>
          <p:nvPr/>
        </p:nvSpPr>
        <p:spPr>
          <a:xfrm>
            <a:off x="6903720" y="56327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22" name="Text 19"/>
          <p:cNvSpPr txBox="1"/>
          <p:nvPr/>
        </p:nvSpPr>
        <p:spPr>
          <a:xfrm>
            <a:off x="7379208" y="5614416"/>
            <a:ext cx="4096512" cy="548640"/>
          </a:xfrm>
          <a:prstGeom prst="rect">
            <a:avLst/>
          </a:prstGeom>
          <a:noFill/>
          <a:ln/>
        </p:spPr>
        <p:txBody>
          <a:bodyPr wrap="square" lIns="0" tIns="0" rIns="0" bIns="0" rtlCol="0" anchor="t"/>
          <a:lstStyle/>
          <a:p>
            <a:pPr indent="0" marL="0">
              <a:buNone/>
            </a:pPr>
            <a:r>
              <a:rPr lang="en-US" sz="1250" b="1" dirty="0">
                <a:solidFill>
                  <a:srgbClr val="15181D"/>
                </a:solidFill>
                <a:latin typeface="Segoe UI" pitchFamily="34" charset="0"/>
                <a:ea typeface="Segoe UI" pitchFamily="34" charset="-122"/>
                <a:cs typeface="Segoe UI" pitchFamily="34" charset="-120"/>
              </a:rPr>
              <a:t>Fuse add + mul </a:t>
            </a:r>
            <a:pPr indent="0" marL="0">
              <a:buNone/>
            </a:pPr>
            <a:r>
              <a:rPr lang="en-US" sz="1250" dirty="0">
                <a:solidFill>
                  <a:srgbClr val="2D333B"/>
                </a:solidFill>
                <a:latin typeface="Segoe UI" pitchFamily="34" charset="0"/>
                <a:ea typeface="Segoe UI" pitchFamily="34" charset="-122"/>
                <a:cs typeface="Segoe UI" pitchFamily="34" charset="-120"/>
              </a:rPr>
              <a:t>into one kernel; overlap copies with streams.</a:t>
            </a:r>
            <a:endParaRPr lang="en-US" sz="125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548640"/>
            <a:ext cx="91440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Segoe UI Semibold" pitchFamily="34" charset="0"/>
                <a:ea typeface="Segoe UI Semibold" pitchFamily="34" charset="-122"/>
                <a:cs typeface="Segoe UI Semibold" pitchFamily="34" charset="-120"/>
              </a:rPr>
              <a:t>What we conclude</a:t>
            </a:r>
            <a:endParaRPr lang="en-US" sz="3000" dirty="0"/>
          </a:p>
        </p:txBody>
      </p:sp>
      <p:sp>
        <p:nvSpPr>
          <p:cNvPr id="3" name="Shape 1"/>
          <p:cNvSpPr/>
          <p:nvPr/>
        </p:nvSpPr>
        <p:spPr>
          <a:xfrm>
            <a:off x="548640" y="1508760"/>
            <a:ext cx="6675120" cy="932688"/>
          </a:xfrm>
          <a:prstGeom prst="roundRect">
            <a:avLst>
              <a:gd name="adj" fmla="val 7843"/>
            </a:avLst>
          </a:prstGeom>
          <a:solidFill>
            <a:srgbClr val="22262D"/>
          </a:solidFill>
          <a:ln w="6350">
            <a:solidFill>
              <a:srgbClr val="22262D"/>
            </a:solidFill>
            <a:prstDash val="solid"/>
          </a:ln>
        </p:spPr>
      </p:sp>
      <p:sp>
        <p:nvSpPr>
          <p:cNvPr id="4" name="Text 2"/>
          <p:cNvSpPr txBox="1"/>
          <p:nvPr/>
        </p:nvSpPr>
        <p:spPr>
          <a:xfrm>
            <a:off x="777240" y="1508760"/>
            <a:ext cx="1737360" cy="932688"/>
          </a:xfrm>
          <a:prstGeom prst="rect">
            <a:avLst/>
          </a:prstGeom>
          <a:noFill/>
          <a:ln/>
        </p:spPr>
        <p:txBody>
          <a:bodyPr wrap="square" lIns="0" tIns="0" rIns="0" bIns="0" rtlCol="0" anchor="ctr"/>
          <a:lstStyle/>
          <a:p>
            <a:pPr indent="0" marL="0">
              <a:buNone/>
            </a:pPr>
            <a:r>
              <a:rPr lang="en-US" sz="1600" b="1" dirty="0">
                <a:solidFill>
                  <a:srgbClr val="76B900"/>
                </a:solidFill>
                <a:latin typeface="Segoe UI Semibold" pitchFamily="34" charset="0"/>
                <a:ea typeface="Segoe UI Semibold" pitchFamily="34" charset="-122"/>
                <a:cs typeface="Segoe UI Semibold" pitchFamily="34" charset="-120"/>
              </a:rPr>
              <a:t>Correct</a:t>
            </a:r>
            <a:endParaRPr lang="en-US" sz="1600" dirty="0"/>
          </a:p>
        </p:txBody>
      </p:sp>
      <p:sp>
        <p:nvSpPr>
          <p:cNvPr id="5" name="Text 3"/>
          <p:cNvSpPr txBox="1"/>
          <p:nvPr/>
        </p:nvSpPr>
        <p:spPr>
          <a:xfrm>
            <a:off x="2560320" y="1508760"/>
            <a:ext cx="4526280" cy="932688"/>
          </a:xfrm>
          <a:prstGeom prst="rect">
            <a:avLst/>
          </a:prstGeom>
          <a:noFill/>
          <a:ln/>
        </p:spPr>
        <p:txBody>
          <a:bodyPr wrap="square" lIns="0" tIns="0" rIns="0" bIns="0" rtlCol="0" anchor="ctr"/>
          <a:lstStyle/>
          <a:p>
            <a:pPr indent="0" marL="0">
              <a:buNone/>
            </a:pPr>
            <a:r>
              <a:rPr lang="en-US" sz="1400" dirty="0">
                <a:solidFill>
                  <a:srgbClr val="E6EDF3"/>
                </a:solidFill>
                <a:latin typeface="Segoe UI" pitchFamily="34" charset="0"/>
                <a:ea typeface="Segoe UI" pitchFamily="34" charset="-122"/>
                <a:cs typeface="Segoe UI" pitchFamily="34" charset="-120"/>
              </a:rPr>
              <a:t>Both programs print 3.00 and 2.00; thread mapping, grid sizing and the boundary guard work.</a:t>
            </a:r>
            <a:endParaRPr lang="en-US" sz="1400" dirty="0"/>
          </a:p>
        </p:txBody>
      </p:sp>
      <p:sp>
        <p:nvSpPr>
          <p:cNvPr id="6" name="Shape 4"/>
          <p:cNvSpPr/>
          <p:nvPr/>
        </p:nvSpPr>
        <p:spPr>
          <a:xfrm>
            <a:off x="548640" y="2587752"/>
            <a:ext cx="6675120" cy="932688"/>
          </a:xfrm>
          <a:prstGeom prst="roundRect">
            <a:avLst>
              <a:gd name="adj" fmla="val 7843"/>
            </a:avLst>
          </a:prstGeom>
          <a:solidFill>
            <a:srgbClr val="22262D"/>
          </a:solidFill>
          <a:ln w="6350">
            <a:solidFill>
              <a:srgbClr val="22262D"/>
            </a:solidFill>
            <a:prstDash val="solid"/>
          </a:ln>
        </p:spPr>
      </p:sp>
      <p:sp>
        <p:nvSpPr>
          <p:cNvPr id="7" name="Text 5"/>
          <p:cNvSpPr txBox="1"/>
          <p:nvPr/>
        </p:nvSpPr>
        <p:spPr>
          <a:xfrm>
            <a:off x="777240" y="2587752"/>
            <a:ext cx="1737360" cy="932688"/>
          </a:xfrm>
          <a:prstGeom prst="rect">
            <a:avLst/>
          </a:prstGeom>
          <a:noFill/>
          <a:ln/>
        </p:spPr>
        <p:txBody>
          <a:bodyPr wrap="square" lIns="0" tIns="0" rIns="0" bIns="0" rtlCol="0" anchor="ctr"/>
          <a:lstStyle/>
          <a:p>
            <a:pPr indent="0" marL="0">
              <a:buNone/>
            </a:pPr>
            <a:r>
              <a:rPr lang="en-US" sz="1600" b="1" dirty="0">
                <a:solidFill>
                  <a:srgbClr val="76B900"/>
                </a:solidFill>
                <a:latin typeface="Segoe UI Semibold" pitchFamily="34" charset="0"/>
                <a:ea typeface="Segoe UI Semibold" pitchFamily="34" charset="-122"/>
                <a:cs typeface="Segoe UI Semibold" pitchFamily="34" charset="-120"/>
              </a:rPr>
              <a:t>Fast kernel</a:t>
            </a:r>
            <a:endParaRPr lang="en-US" sz="1600" dirty="0"/>
          </a:p>
        </p:txBody>
      </p:sp>
      <p:sp>
        <p:nvSpPr>
          <p:cNvPr id="8" name="Text 6"/>
          <p:cNvSpPr txBox="1"/>
          <p:nvPr/>
        </p:nvSpPr>
        <p:spPr>
          <a:xfrm>
            <a:off x="2560320" y="2587752"/>
            <a:ext cx="4526280" cy="932688"/>
          </a:xfrm>
          <a:prstGeom prst="rect">
            <a:avLst/>
          </a:prstGeom>
          <a:noFill/>
          <a:ln/>
        </p:spPr>
        <p:txBody>
          <a:bodyPr wrap="square" lIns="0" tIns="0" rIns="0" bIns="0" rtlCol="0" anchor="ctr"/>
          <a:lstStyle/>
          <a:p>
            <a:pPr indent="0" marL="0">
              <a:buNone/>
            </a:pPr>
            <a:r>
              <a:rPr lang="en-US" sz="1400" dirty="0">
                <a:solidFill>
                  <a:srgbClr val="E6EDF3"/>
                </a:solidFill>
                <a:latin typeface="Segoe UI" pitchFamily="34" charset="0"/>
                <a:ea typeface="Segoe UI" pitchFamily="34" charset="-122"/>
                <a:cs typeface="Segoe UI" pitchFamily="34" charset="-120"/>
              </a:rPr>
              <a:t>49.9–55.8× faster than one CPU core for N ≥ 10⁶, at 80.6 % of peak memory bandwidth.</a:t>
            </a:r>
            <a:endParaRPr lang="en-US" sz="1400" dirty="0"/>
          </a:p>
        </p:txBody>
      </p:sp>
      <p:sp>
        <p:nvSpPr>
          <p:cNvPr id="9" name="Shape 7"/>
          <p:cNvSpPr/>
          <p:nvPr/>
        </p:nvSpPr>
        <p:spPr>
          <a:xfrm>
            <a:off x="548640" y="3666744"/>
            <a:ext cx="6675120" cy="932688"/>
          </a:xfrm>
          <a:prstGeom prst="roundRect">
            <a:avLst>
              <a:gd name="adj" fmla="val 7843"/>
            </a:avLst>
          </a:prstGeom>
          <a:solidFill>
            <a:srgbClr val="22262D"/>
          </a:solidFill>
          <a:ln w="6350">
            <a:solidFill>
              <a:srgbClr val="22262D"/>
            </a:solidFill>
            <a:prstDash val="solid"/>
          </a:ln>
        </p:spPr>
      </p:sp>
      <p:sp>
        <p:nvSpPr>
          <p:cNvPr id="10" name="Text 8"/>
          <p:cNvSpPr txBox="1"/>
          <p:nvPr/>
        </p:nvSpPr>
        <p:spPr>
          <a:xfrm>
            <a:off x="777240" y="3666744"/>
            <a:ext cx="1737360" cy="932688"/>
          </a:xfrm>
          <a:prstGeom prst="rect">
            <a:avLst/>
          </a:prstGeom>
          <a:noFill/>
          <a:ln/>
        </p:spPr>
        <p:txBody>
          <a:bodyPr wrap="square" lIns="0" tIns="0" rIns="0" bIns="0" rtlCol="0" anchor="ctr"/>
          <a:lstStyle/>
          <a:p>
            <a:pPr indent="0" marL="0">
              <a:buNone/>
            </a:pPr>
            <a:r>
              <a:rPr lang="en-US" sz="1600" b="1" dirty="0">
                <a:solidFill>
                  <a:srgbClr val="E8710A"/>
                </a:solidFill>
                <a:latin typeface="Segoe UI Semibold" pitchFamily="34" charset="0"/>
                <a:ea typeface="Segoe UI Semibold" pitchFamily="34" charset="-122"/>
                <a:cs typeface="Segoe UI Semibold" pitchFamily="34" charset="-120"/>
              </a:rPr>
              <a:t>Slow end to end</a:t>
            </a:r>
            <a:endParaRPr lang="en-US" sz="1600" dirty="0"/>
          </a:p>
        </p:txBody>
      </p:sp>
      <p:sp>
        <p:nvSpPr>
          <p:cNvPr id="11" name="Text 9"/>
          <p:cNvSpPr txBox="1"/>
          <p:nvPr/>
        </p:nvSpPr>
        <p:spPr>
          <a:xfrm>
            <a:off x="2560320" y="3666744"/>
            <a:ext cx="4526280" cy="932688"/>
          </a:xfrm>
          <a:prstGeom prst="rect">
            <a:avLst/>
          </a:prstGeom>
          <a:noFill/>
          <a:ln/>
        </p:spPr>
        <p:txBody>
          <a:bodyPr wrap="square" lIns="0" tIns="0" rIns="0" bIns="0" rtlCol="0" anchor="ctr"/>
          <a:lstStyle/>
          <a:p>
            <a:pPr indent="0" marL="0">
              <a:buNone/>
            </a:pPr>
            <a:r>
              <a:rPr lang="en-US" sz="1400" dirty="0">
                <a:solidFill>
                  <a:srgbClr val="E6EDF3"/>
                </a:solidFill>
                <a:latin typeface="Segoe UI" pitchFamily="34" charset="0"/>
                <a:ea typeface="Segoe UI" pitchFamily="34" charset="-122"/>
                <a:cs typeface="Segoe UI" pitchFamily="34" charset="-120"/>
              </a:rPr>
              <a:t>0.22–0.59× once PCIe copies are counted: ≈ 99 % of GPU time is data transfer.</a:t>
            </a:r>
            <a:endParaRPr lang="en-US" sz="1400" dirty="0"/>
          </a:p>
        </p:txBody>
      </p:sp>
      <p:sp>
        <p:nvSpPr>
          <p:cNvPr id="12" name="Shape 10"/>
          <p:cNvSpPr/>
          <p:nvPr/>
        </p:nvSpPr>
        <p:spPr>
          <a:xfrm>
            <a:off x="548640" y="4745736"/>
            <a:ext cx="6675120" cy="932688"/>
          </a:xfrm>
          <a:prstGeom prst="roundRect">
            <a:avLst>
              <a:gd name="adj" fmla="val 7843"/>
            </a:avLst>
          </a:prstGeom>
          <a:solidFill>
            <a:srgbClr val="22262D"/>
          </a:solidFill>
          <a:ln w="6350">
            <a:solidFill>
              <a:srgbClr val="22262D"/>
            </a:solidFill>
            <a:prstDash val="solid"/>
          </a:ln>
        </p:spPr>
      </p:sp>
      <p:sp>
        <p:nvSpPr>
          <p:cNvPr id="13" name="Text 11"/>
          <p:cNvSpPr txBox="1"/>
          <p:nvPr/>
        </p:nvSpPr>
        <p:spPr>
          <a:xfrm>
            <a:off x="777240" y="4745736"/>
            <a:ext cx="1737360" cy="932688"/>
          </a:xfrm>
          <a:prstGeom prst="rect">
            <a:avLst/>
          </a:prstGeom>
          <a:noFill/>
          <a:ln/>
        </p:spPr>
        <p:txBody>
          <a:bodyPr wrap="square" lIns="0" tIns="0" rIns="0" bIns="0" rtlCol="0" anchor="ctr"/>
          <a:lstStyle/>
          <a:p>
            <a:pPr indent="0" marL="0">
              <a:buNone/>
            </a:pPr>
            <a:r>
              <a:rPr lang="en-US" sz="1600" b="1" dirty="0">
                <a:solidFill>
                  <a:srgbClr val="79C0FF"/>
                </a:solidFill>
                <a:latin typeface="Segoe UI Semibold" pitchFamily="34" charset="0"/>
                <a:ea typeface="Segoe UI Semibold" pitchFamily="34" charset="-122"/>
                <a:cs typeface="Segoe UI Semibold" pitchFamily="34" charset="-120"/>
              </a:rPr>
              <a:t>Lesson</a:t>
            </a:r>
            <a:endParaRPr lang="en-US" sz="1600" dirty="0"/>
          </a:p>
        </p:txBody>
      </p:sp>
      <p:sp>
        <p:nvSpPr>
          <p:cNvPr id="14" name="Text 12"/>
          <p:cNvSpPr txBox="1"/>
          <p:nvPr/>
        </p:nvSpPr>
        <p:spPr>
          <a:xfrm>
            <a:off x="2560320" y="4745736"/>
            <a:ext cx="4526280" cy="932688"/>
          </a:xfrm>
          <a:prstGeom prst="rect">
            <a:avLst/>
          </a:prstGeom>
          <a:noFill/>
          <a:ln/>
        </p:spPr>
        <p:txBody>
          <a:bodyPr wrap="square" lIns="0" tIns="0" rIns="0" bIns="0" rtlCol="0" anchor="ctr"/>
          <a:lstStyle/>
          <a:p>
            <a:pPr indent="0" marL="0">
              <a:buNone/>
            </a:pPr>
            <a:r>
              <a:rPr lang="en-US" sz="1400" dirty="0">
                <a:solidFill>
                  <a:srgbClr val="E6EDF3"/>
                </a:solidFill>
                <a:latin typeface="Segoe UI" pitchFamily="34" charset="0"/>
                <a:ea typeface="Segoe UI" pitchFamily="34" charset="-122"/>
                <a:cs typeface="Segoe UI" pitchFamily="34" charset="-120"/>
              </a:rPr>
              <a:t>A GPU pays off when there is much compute per byte, or when data stays on the GPU.</a:t>
            </a:r>
            <a:endParaRPr lang="en-US" sz="1400" dirty="0"/>
          </a:p>
        </p:txBody>
      </p:sp>
      <p:sp>
        <p:nvSpPr>
          <p:cNvPr id="15" name="Shape 13"/>
          <p:cNvSpPr/>
          <p:nvPr/>
        </p:nvSpPr>
        <p:spPr>
          <a:xfrm>
            <a:off x="7589520" y="1508760"/>
            <a:ext cx="4233672" cy="3296978"/>
          </a:xfrm>
          <a:prstGeom prst="roundRect">
            <a:avLst>
              <a:gd name="adj" fmla="val 2219"/>
            </a:avLst>
          </a:prstGeom>
          <a:solidFill>
            <a:srgbClr val="FFFFFF"/>
          </a:solidFill>
          <a:ln w="6350">
            <a:solidFill>
              <a:srgbClr val="FFFFFF"/>
            </a:solidFill>
            <a:prstDash val="solid"/>
          </a:ln>
        </p:spPr>
      </p:sp>
      <p:pic>
        <p:nvPicPr>
          <p:cNvPr id="16" name="Image 0" descr="Fig. 8 performance dashboard">    </p:cNvPr>
          <p:cNvPicPr>
            <a:picLocks noChangeAspect="1"/>
          </p:cNvPicPr>
          <p:nvPr/>
        </p:nvPicPr>
        <p:blipFill>
          <a:blip r:embed="rId1"/>
          <a:stretch>
            <a:fillRect/>
          </a:stretch>
        </p:blipFill>
        <p:spPr>
          <a:xfrm>
            <a:off x="7680960" y="1600200"/>
            <a:ext cx="4050792" cy="3114098"/>
          </a:xfrm>
          <a:prstGeom prst="rect">
            <a:avLst/>
          </a:prstGeom>
        </p:spPr>
      </p:pic>
      <p:sp>
        <p:nvSpPr>
          <p:cNvPr id="17" name="Text 14"/>
          <p:cNvSpPr txBox="1"/>
          <p:nvPr/>
        </p:nvSpPr>
        <p:spPr>
          <a:xfrm>
            <a:off x="7589520" y="4942898"/>
            <a:ext cx="4233672" cy="274320"/>
          </a:xfrm>
          <a:prstGeom prst="rect">
            <a:avLst/>
          </a:prstGeom>
          <a:noFill/>
          <a:ln/>
        </p:spPr>
        <p:txBody>
          <a:bodyPr wrap="square" lIns="0" tIns="0" rIns="0" bIns="0" rtlCol="0" anchor="t"/>
          <a:lstStyle/>
          <a:p>
            <a:pPr indent="0" marL="0">
              <a:buNone/>
            </a:pPr>
            <a:r>
              <a:rPr lang="en-US" sz="1100" i="1" dirty="0">
                <a:solidFill>
                  <a:srgbClr val="8B949E"/>
                </a:solidFill>
                <a:latin typeface="Segoe UI" pitchFamily="34" charset="0"/>
                <a:ea typeface="Segoe UI" pitchFamily="34" charset="-122"/>
                <a:cs typeface="Segoe UI" pitchFamily="34" charset="-120"/>
              </a:rPr>
              <a:t>Fig. 8 — the four views in one dashboard</a:t>
            </a:r>
            <a:endParaRPr lang="en-US" sz="1100" dirty="0"/>
          </a:p>
        </p:txBody>
      </p:sp>
      <p:sp>
        <p:nvSpPr>
          <p:cNvPr id="18" name="Text 15"/>
          <p:cNvSpPr txBox="1"/>
          <p:nvPr/>
        </p:nvSpPr>
        <p:spPr>
          <a:xfrm>
            <a:off x="7589520" y="5257800"/>
            <a:ext cx="4050792" cy="548640"/>
          </a:xfrm>
          <a:prstGeom prst="rect">
            <a:avLst/>
          </a:prstGeom>
          <a:noFill/>
          <a:ln/>
        </p:spPr>
        <p:txBody>
          <a:bodyPr wrap="square" lIns="0" tIns="0" rIns="0" bIns="0" rtlCol="0" anchor="t"/>
          <a:lstStyle/>
          <a:p>
            <a:pPr indent="0" marL="0">
              <a:buNone/>
            </a:pPr>
            <a:r>
              <a:rPr lang="en-US" sz="3000" b="1" dirty="0">
                <a:solidFill>
                  <a:srgbClr val="FFFFFF"/>
                </a:solidFill>
                <a:latin typeface="Segoe UI Semibold" pitchFamily="34" charset="0"/>
                <a:ea typeface="Segoe UI Semibold" pitchFamily="34" charset="-122"/>
                <a:cs typeface="Segoe UI Semibold" pitchFamily="34" charset="-120"/>
              </a:rPr>
              <a:t>Thank you</a:t>
            </a:r>
            <a:endParaRPr lang="en-US" sz="3000" dirty="0"/>
          </a:p>
        </p:txBody>
      </p:sp>
      <p:sp>
        <p:nvSpPr>
          <p:cNvPr id="19" name="Text 16"/>
          <p:cNvSpPr txBox="1"/>
          <p:nvPr/>
        </p:nvSpPr>
        <p:spPr>
          <a:xfrm>
            <a:off x="7589520" y="5779008"/>
            <a:ext cx="4050792" cy="365760"/>
          </a:xfrm>
          <a:prstGeom prst="rect">
            <a:avLst/>
          </a:prstGeom>
          <a:noFill/>
          <a:ln/>
        </p:spPr>
        <p:txBody>
          <a:bodyPr wrap="square" lIns="0" tIns="0" rIns="0" bIns="0" rtlCol="0" anchor="t"/>
          <a:lstStyle/>
          <a:p>
            <a:pPr indent="0" marL="0">
              <a:buNone/>
            </a:pPr>
            <a:r>
              <a:rPr lang="en-US" sz="1500" dirty="0">
                <a:solidFill>
                  <a:srgbClr val="76B900"/>
                </a:solidFill>
                <a:latin typeface="Segoe UI" pitchFamily="34" charset="0"/>
                <a:ea typeface="Segoe UI" pitchFamily="34" charset="-122"/>
                <a:cs typeface="Segoe UI" pitchFamily="34" charset="-120"/>
              </a:rPr>
              <a:t>Questions are welcome</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591"/>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UDA Vector Ops">
  <a:themeElements>
    <a:clrScheme name="CUDA Vector Ops">
      <a:dk1>
        <a:srgbClr val="15181D"/>
      </a:dk1>
      <a:lt1>
        <a:srgbClr val="FFFFFF"/>
      </a:lt1>
      <a:dk2>
        <a:srgbClr val="4B5563"/>
      </a:dk2>
      <a:lt2>
        <a:srgbClr val="F3F5F7"/>
      </a:lt2>
      <a:accent1>
        <a:srgbClr val="76B900"/>
      </a:accent1>
      <a:accent2>
        <a:srgbClr val="3F7A00"/>
      </a:accent2>
      <a:accent3>
        <a:srgbClr val="1F6FB2"/>
      </a:accent3>
      <a:accent4>
        <a:srgbClr val="E8710A"/>
      </a:accent4>
      <a:accent5>
        <a:srgbClr val="D33A2C"/>
      </a:accent5>
      <a:accent6>
        <a:srgbClr val="64748B"/>
      </a:accent6>
      <a:hlink>
        <a:srgbClr val="1F6FB2"/>
      </a:hlink>
      <a:folHlink>
        <a:srgbClr val="3F7A00"/>
      </a:folHlink>
    </a:clrScheme>
    <a:fontScheme name="CUDA Vector Ops">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GPU Vector Operations using CUDA — PGC Lab Evaluation</dc:title>
  <dc:subject>Theme 7: CPU vs GPU vector addition and multiplication on an NVIDIA Tesla T4</dc:subject>
  <dc:creator>PptxGenJS</dc:creator>
  <cp:lastModifiedBy>PptxGenJS</cp:lastModifiedBy>
  <cp:revision>1</cp:revision>
  <dcterms:created xsi:type="dcterms:W3CDTF">2026-10-07T18:13:46Z</dcterms:created>
  <dcterms:modified xsi:type="dcterms:W3CDTF">2026-10-07T18:13:46Z</dcterms:modified>
</cp:coreProperties>
</file>